
<file path=[Content_Types].xml><?xml version="1.0" encoding="utf-8"?>
<Types xmlns="http://schemas.openxmlformats.org/package/2006/content-types">
  <Default Extension="bmp" ContentType="image/bmp"/>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4230" r:id="rId1"/>
  </p:sldMasterIdLst>
  <p:notesMasterIdLst>
    <p:notesMasterId r:id="rId85"/>
  </p:notesMasterIdLst>
  <p:sldIdLst>
    <p:sldId id="256" r:id="rId2"/>
    <p:sldId id="257" r:id="rId3"/>
    <p:sldId id="258" r:id="rId4"/>
    <p:sldId id="290" r:id="rId5"/>
    <p:sldId id="289" r:id="rId6"/>
    <p:sldId id="259" r:id="rId7"/>
    <p:sldId id="261" r:id="rId8"/>
    <p:sldId id="423" r:id="rId9"/>
    <p:sldId id="426" r:id="rId10"/>
    <p:sldId id="497" r:id="rId11"/>
    <p:sldId id="265" r:id="rId12"/>
    <p:sldId id="496" r:id="rId13"/>
    <p:sldId id="264" r:id="rId14"/>
    <p:sldId id="477" r:id="rId15"/>
    <p:sldId id="478" r:id="rId16"/>
    <p:sldId id="476" r:id="rId17"/>
    <p:sldId id="504" r:id="rId18"/>
    <p:sldId id="262" r:id="rId19"/>
    <p:sldId id="292" r:id="rId20"/>
    <p:sldId id="403" r:id="rId21"/>
    <p:sldId id="404" r:id="rId22"/>
    <p:sldId id="405" r:id="rId23"/>
    <p:sldId id="406" r:id="rId24"/>
    <p:sldId id="407" r:id="rId25"/>
    <p:sldId id="408" r:id="rId26"/>
    <p:sldId id="409" r:id="rId27"/>
    <p:sldId id="410" r:id="rId28"/>
    <p:sldId id="411" r:id="rId29"/>
    <p:sldId id="412" r:id="rId30"/>
    <p:sldId id="413" r:id="rId31"/>
    <p:sldId id="414" r:id="rId32"/>
    <p:sldId id="415" r:id="rId33"/>
    <p:sldId id="263" r:id="rId34"/>
    <p:sldId id="436" r:id="rId35"/>
    <p:sldId id="473" r:id="rId36"/>
    <p:sldId id="474" r:id="rId37"/>
    <p:sldId id="475" r:id="rId38"/>
    <p:sldId id="505" r:id="rId39"/>
    <p:sldId id="266" r:id="rId40"/>
    <p:sldId id="441" r:id="rId41"/>
    <p:sldId id="480" r:id="rId42"/>
    <p:sldId id="510" r:id="rId43"/>
    <p:sldId id="293" r:id="rId44"/>
    <p:sldId id="481" r:id="rId45"/>
    <p:sldId id="315" r:id="rId46"/>
    <p:sldId id="442" r:id="rId47"/>
    <p:sldId id="511" r:id="rId48"/>
    <p:sldId id="512" r:id="rId49"/>
    <p:sldId id="295" r:id="rId50"/>
    <p:sldId id="443" r:id="rId51"/>
    <p:sldId id="444" r:id="rId52"/>
    <p:sldId id="513" r:id="rId53"/>
    <p:sldId id="297" r:id="rId54"/>
    <p:sldId id="508" r:id="rId55"/>
    <p:sldId id="509" r:id="rId56"/>
    <p:sldId id="447" r:id="rId57"/>
    <p:sldId id="448" r:id="rId58"/>
    <p:sldId id="482" r:id="rId59"/>
    <p:sldId id="483" r:id="rId60"/>
    <p:sldId id="485" r:id="rId61"/>
    <p:sldId id="486" r:id="rId62"/>
    <p:sldId id="490" r:id="rId63"/>
    <p:sldId id="491" r:id="rId64"/>
    <p:sldId id="492" r:id="rId65"/>
    <p:sldId id="493" r:id="rId66"/>
    <p:sldId id="494" r:id="rId67"/>
    <p:sldId id="495" r:id="rId68"/>
    <p:sldId id="416" r:id="rId69"/>
    <p:sldId id="418" r:id="rId70"/>
    <p:sldId id="419" r:id="rId71"/>
    <p:sldId id="506" r:id="rId72"/>
    <p:sldId id="502" r:id="rId73"/>
    <p:sldId id="507" r:id="rId74"/>
    <p:sldId id="488" r:id="rId75"/>
    <p:sldId id="503" r:id="rId76"/>
    <p:sldId id="421" r:id="rId77"/>
    <p:sldId id="489" r:id="rId78"/>
    <p:sldId id="389" r:id="rId79"/>
    <p:sldId id="514" r:id="rId80"/>
    <p:sldId id="390" r:id="rId81"/>
    <p:sldId id="471" r:id="rId82"/>
    <p:sldId id="515" r:id="rId83"/>
    <p:sldId id="272" r:id="rId84"/>
  </p:sldIdLst>
  <p:sldSz cx="9144000" cy="5143500" type="screen16x9"/>
  <p:notesSz cx="6858000" cy="9144000"/>
  <p:embeddedFontLst>
    <p:embeddedFont>
      <p:font typeface="Bebas Neue" panose="020B0606020202050201" pitchFamily="34" charset="0"/>
      <p:regular r:id="rId86"/>
    </p:embeddedFont>
    <p:embeddedFont>
      <p:font typeface="Century Gothic" panose="020B0502020202020204" pitchFamily="34" charset="0"/>
      <p:regular r:id="rId87"/>
      <p:bold r:id="rId88"/>
      <p:italic r:id="rId89"/>
      <p:boldItalic r:id="rId90"/>
    </p:embeddedFont>
    <p:embeddedFont>
      <p:font typeface="Poppins" panose="00000500000000000000" pitchFamily="2" charset="0"/>
      <p:regular r:id="rId91"/>
    </p:embeddedFont>
    <p:embeddedFont>
      <p:font typeface="Poppins Black" panose="00000A00000000000000" pitchFamily="2" charset="0"/>
      <p:bold r:id="rId92"/>
      <p:boldItalic r:id="rId9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11" userDrawn="1">
          <p15:clr>
            <a:srgbClr val="9AA0A6"/>
          </p15:clr>
        </p15:guide>
        <p15:guide id="2" pos="287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B7C5"/>
    <a:srgbClr val="445D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603" autoAdjust="0"/>
    <p:restoredTop sz="94343" autoAdjust="0"/>
  </p:normalViewPr>
  <p:slideViewPr>
    <p:cSldViewPr snapToGrid="0">
      <p:cViewPr varScale="1">
        <p:scale>
          <a:sx n="148" d="100"/>
          <a:sy n="148" d="100"/>
        </p:scale>
        <p:origin x="132" y="144"/>
      </p:cViewPr>
      <p:guideLst>
        <p:guide orient="horz" pos="711"/>
        <p:guide pos="287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font" Target="fonts/font4.fntdata"/><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font" Target="fonts/font2.fntdata"/><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font" Target="fonts/font5.fntdata"/><Relationship Id="rId95"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93" Type="http://schemas.openxmlformats.org/officeDocument/2006/relationships/font" Target="NUL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font" Target="fonts/font3.fntdata"/><Relationship Id="rId91" Type="http://schemas.openxmlformats.org/officeDocument/2006/relationships/font" Target="fonts/font6.fntdata"/><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font" Target="fonts/font1.fntdata"/><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1b28366aba4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1b28366aba4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1b28366aba4_0_6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1b28366aba4_0_6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1b28366aba4_0_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1b28366aba4_0_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1b28366aba4_0_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1b28366aba4_0_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1b28366aba4_0_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1b28366aba4_0_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1b28366aba4_0_12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4" name="Google Shape;664;g1b28366aba4_0_12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g1b28366aba4_0_13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7" name="Google Shape;687;g1b28366aba4_0_13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5833278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g1b290a72fa3_1_10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6" name="Google Shape;1156;g1b290a72fa3_1_10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55783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g1b290a72fa3_1_10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6" name="Google Shape;1156;g1b290a72fa3_1_10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g1b290a72fa3_1_10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6" name="Google Shape;1156;g1b290a72fa3_1_10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94126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943645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30719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40220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175700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1b28366aba4_0_15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3" name="Google Shape;863;g1b28366aba4_0_15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b290a72fa3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b290a72fa3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153197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3"/>
        <p:cNvGrpSpPr/>
        <p:nvPr/>
      </p:nvGrpSpPr>
      <p:grpSpPr>
        <a:xfrm>
          <a:off x="0" y="0"/>
          <a:ext cx="0" cy="0"/>
          <a:chOff x="0" y="0"/>
          <a:chExt cx="0" cy="0"/>
        </a:xfrm>
      </p:grpSpPr>
      <p:sp>
        <p:nvSpPr>
          <p:cNvPr id="1164" name="Google Shape;1164;g1b290a72fa3_1_10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5" name="Google Shape;1165;g1b290a72fa3_1_10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0519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110249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257024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92931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854701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67653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415595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1070909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8164477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12673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5"/>
        <p:cNvGrpSpPr/>
        <p:nvPr/>
      </p:nvGrpSpPr>
      <p:grpSpPr>
        <a:xfrm>
          <a:off x="0" y="0"/>
          <a:ext cx="0" cy="0"/>
          <a:chOff x="0" y="0"/>
          <a:chExt cx="0" cy="0"/>
        </a:xfrm>
      </p:grpSpPr>
      <p:sp>
        <p:nvSpPr>
          <p:cNvPr id="1576" name="Google Shape;1576;g1b5b0da4788_1_187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7" name="Google Shape;1577;g1b5b0da4788_1_187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ectangle 15"/>
          <p:cNvSpPr/>
          <p:nvPr/>
        </p:nvSpPr>
        <p:spPr>
          <a:xfrm>
            <a:off x="1" y="0"/>
            <a:ext cx="9144000" cy="5143500"/>
          </a:xfrm>
          <a:prstGeom prst="rect">
            <a:avLst/>
          </a:prstGeom>
          <a:blipFill dpi="0" rotWithShape="1">
            <a:blip r:embed="rId2">
              <a:alphaModFix amt="45000"/>
              <a:duotone>
                <a:schemeClr val="accent2">
                  <a:shade val="45000"/>
                  <a:satMod val="135000"/>
                </a:schemeClr>
                <a:prstClr val="white"/>
              </a:duotone>
            </a:blip>
            <a:srcRect/>
            <a:tile tx="-31750" ty="-120650" sx="100000" sy="100000" flip="xy" algn="tl"/>
          </a:blipFill>
          <a:ln w="19050" cmpd="sng">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80902" y="950797"/>
            <a:ext cx="7182197" cy="3230963"/>
          </a:xfrm>
          <a:prstGeom prst="rect">
            <a:avLst/>
          </a:prstGeom>
          <a:solidFill>
            <a:schemeClr val="tx1"/>
          </a:solidFill>
          <a:ln w="6350" cap="flat" cmpd="sng" algn="ctr">
            <a:solidFill>
              <a:schemeClr val="tx1">
                <a:lumMod val="65000"/>
                <a:lumOff val="35000"/>
              </a:schemeClr>
            </a:solidFill>
            <a:prstDash val="solid"/>
          </a:ln>
          <a:effectLst>
            <a:outerShdw blurRad="63500" algn="ctr" rotWithShape="0">
              <a:prstClr val="black">
                <a:alpha val="40000"/>
              </a:prstClr>
            </a:outerShdw>
            <a:softEdge rad="0"/>
          </a:effectLst>
        </p:spPr>
      </p:sp>
      <p:sp>
        <p:nvSpPr>
          <p:cNvPr id="11" name="Rectangle 10"/>
          <p:cNvSpPr/>
          <p:nvPr/>
        </p:nvSpPr>
        <p:spPr>
          <a:xfrm>
            <a:off x="1085851" y="1058711"/>
            <a:ext cx="6972300" cy="3026078"/>
          </a:xfrm>
          <a:prstGeom prst="rect">
            <a:avLst/>
          </a:prstGeom>
          <a:solidFill>
            <a:schemeClr val="bg2"/>
          </a:solidFill>
          <a:ln w="9525" cap="sq" cmpd="sng" algn="ctr">
            <a:noFill/>
            <a:prstDash val="solid"/>
            <a:miter lim="800000"/>
          </a:ln>
          <a:effectLst/>
        </p:spPr>
      </p:sp>
      <p:sp>
        <p:nvSpPr>
          <p:cNvPr id="15" name="Rectangle 14"/>
          <p:cNvSpPr/>
          <p:nvPr/>
        </p:nvSpPr>
        <p:spPr>
          <a:xfrm>
            <a:off x="3851910" y="950798"/>
            <a:ext cx="1440180" cy="548640"/>
          </a:xfrm>
          <a:prstGeom prst="rect">
            <a:avLst/>
          </a:prstGeom>
          <a:solidFill>
            <a:schemeClr val="accent1"/>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3937635" y="950798"/>
            <a:ext cx="1268730" cy="483971"/>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71281" y="1568447"/>
            <a:ext cx="6801440" cy="1943100"/>
          </a:xfrm>
        </p:spPr>
        <p:txBody>
          <a:bodyPr tIns="45720" bIns="45720" anchor="ctr">
            <a:noAutofit/>
          </a:bodyPr>
          <a:lstStyle>
            <a:lvl1pPr algn="ctr">
              <a:lnSpc>
                <a:spcPct val="83000"/>
              </a:lnSpc>
              <a:defRPr lang="en-US" sz="5400" b="0" kern="1200" cap="all" spc="-75" baseline="0" dirty="0">
                <a:solidFill>
                  <a:schemeClr val="tx1"/>
                </a:solidFill>
                <a:effectLst>
                  <a:outerShdw blurRad="38100" dist="12700" dir="2700000" algn="tl" rotWithShape="0">
                    <a:prstClr val="black">
                      <a:alpha val="40000"/>
                    </a:prstClr>
                  </a:outerShdw>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171575" y="3511547"/>
            <a:ext cx="6803136" cy="342901"/>
          </a:xfrm>
        </p:spPr>
        <p:txBody>
          <a:bodyPr>
            <a:normAutofit/>
          </a:bodyPr>
          <a:lstStyle>
            <a:lvl1pPr marL="0" indent="0" algn="ctr">
              <a:spcBef>
                <a:spcPts val="0"/>
              </a:spcBef>
              <a:buNone/>
              <a:defRPr sz="1200" spc="60" baseline="0">
                <a:solidFill>
                  <a:schemeClr val="tx2"/>
                </a:solidFill>
              </a:defRPr>
            </a:lvl1pPr>
            <a:lvl2pPr marL="342900" indent="0" algn="ctr">
              <a:buNone/>
              <a:defRPr sz="1200"/>
            </a:lvl2pPr>
            <a:lvl3pPr marL="685800" indent="0" algn="ctr">
              <a:buNone/>
              <a:defRPr sz="12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20" name="Date Placeholder 19"/>
          <p:cNvSpPr>
            <a:spLocks noGrp="1"/>
          </p:cNvSpPr>
          <p:nvPr>
            <p:ph type="dt" sz="half" idx="10"/>
          </p:nvPr>
        </p:nvSpPr>
        <p:spPr>
          <a:xfrm>
            <a:off x="3989070" y="1005942"/>
            <a:ext cx="1165860" cy="395410"/>
          </a:xfrm>
        </p:spPr>
        <p:txBody>
          <a:bodyPr/>
          <a:lstStyle>
            <a:lvl1pPr algn="ctr">
              <a:defRPr sz="975" spc="0" baseline="0">
                <a:solidFill>
                  <a:srgbClr val="FFFFFF"/>
                </a:solidFill>
                <a:latin typeface="+mn-lt"/>
              </a:defRPr>
            </a:lvl1pPr>
          </a:lstStyle>
          <a:p>
            <a:fld id="{B61BEF0D-F0BB-DE4B-95CE-6DB70DBA9567}" type="datetimeFigureOut">
              <a:rPr lang="en-US" smtClean="0"/>
              <a:pPr/>
              <a:t>11/18/2025</a:t>
            </a:fld>
            <a:endParaRPr lang="en-US" dirty="0"/>
          </a:p>
        </p:txBody>
      </p:sp>
      <p:sp>
        <p:nvSpPr>
          <p:cNvPr id="21" name="Footer Placeholder 20"/>
          <p:cNvSpPr>
            <a:spLocks noGrp="1"/>
          </p:cNvSpPr>
          <p:nvPr>
            <p:ph type="ftr" sz="quarter" idx="11"/>
          </p:nvPr>
        </p:nvSpPr>
        <p:spPr>
          <a:xfrm>
            <a:off x="1090422" y="3909060"/>
            <a:ext cx="4429125" cy="171450"/>
          </a:xfrm>
        </p:spPr>
        <p:txBody>
          <a:bodyPr/>
          <a:lstStyle>
            <a:lvl1pPr algn="l">
              <a:defRPr>
                <a:solidFill>
                  <a:schemeClr val="tx2"/>
                </a:solidFill>
              </a:defRPr>
            </a:lvl1pPr>
          </a:lstStyle>
          <a:p>
            <a:endParaRPr lang="en-US" dirty="0"/>
          </a:p>
        </p:txBody>
      </p:sp>
      <p:sp>
        <p:nvSpPr>
          <p:cNvPr id="22" name="Slide Number Placeholder 21"/>
          <p:cNvSpPr>
            <a:spLocks noGrp="1"/>
          </p:cNvSpPr>
          <p:nvPr>
            <p:ph type="sldNum" sz="quarter" idx="12"/>
          </p:nvPr>
        </p:nvSpPr>
        <p:spPr>
          <a:xfrm>
            <a:off x="6455190" y="3909060"/>
            <a:ext cx="1583911" cy="171450"/>
          </a:xfrm>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8336669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135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52647F38-B617-4D2F-AE0A-013F0C4D2C57}" type="datetimeFigureOut">
              <a:rPr lang="en-US" smtClean="0"/>
              <a:t>11/18/2025</a:t>
            </a:fld>
            <a:endParaRPr lang="en-US" dirty="0"/>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E97799C9-84D9-46D2-A11E-BCF8A720529D}" type="slidenum">
              <a:rPr lang="en-US" smtClean="0"/>
              <a:t>‹#›</a:t>
            </a:fld>
            <a:endParaRPr lang="en-US" dirty="0"/>
          </a:p>
        </p:txBody>
      </p:sp>
    </p:spTree>
    <p:extLst>
      <p:ext uri="{BB962C8B-B14F-4D97-AF65-F5344CB8AC3E}">
        <p14:creationId xmlns:p14="http://schemas.microsoft.com/office/powerpoint/2010/main" val="4245888083"/>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9" name="Rectangle 18"/>
          <p:cNvSpPr/>
          <p:nvPr/>
        </p:nvSpPr>
        <p:spPr>
          <a:xfrm>
            <a:off x="0" y="0"/>
            <a:ext cx="9144000" cy="5143500"/>
          </a:xfrm>
          <a:prstGeom prst="rect">
            <a:avLst/>
          </a:prstGeom>
          <a:blipFill dpi="0" rotWithShape="1">
            <a:blip r:embed="rId2">
              <a:alphaModFix amt="40000"/>
              <a:duotone>
                <a:schemeClr val="accent3">
                  <a:shade val="45000"/>
                  <a:satMod val="135000"/>
                </a:schemeClr>
                <a:prstClr val="white"/>
              </a:duotone>
            </a:blip>
            <a:srcRect/>
            <a:tile tx="-31750" ty="-120650" sx="100000" sy="100000" flip="xy" algn="tl"/>
          </a:blipFill>
          <a:ln w="19050" cmpd="sng">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980902" y="950797"/>
            <a:ext cx="7182197" cy="3230963"/>
          </a:xfrm>
          <a:prstGeom prst="rect">
            <a:avLst/>
          </a:prstGeom>
          <a:solidFill>
            <a:schemeClr val="tx1"/>
          </a:solidFill>
          <a:ln w="6350" cap="flat" cmpd="sng" algn="ctr">
            <a:solidFill>
              <a:schemeClr val="tx1">
                <a:lumMod val="65000"/>
                <a:lumOff val="35000"/>
              </a:schemeClr>
            </a:solidFill>
            <a:prstDash val="solid"/>
          </a:ln>
          <a:effectLst>
            <a:outerShdw blurRad="63500" algn="ctr" rotWithShape="0">
              <a:prstClr val="black">
                <a:alpha val="40000"/>
              </a:prstClr>
            </a:outerShdw>
            <a:softEdge rad="0"/>
          </a:effectLst>
        </p:spPr>
      </p:sp>
      <p:sp>
        <p:nvSpPr>
          <p:cNvPr id="24" name="Rectangle 23"/>
          <p:cNvSpPr/>
          <p:nvPr/>
        </p:nvSpPr>
        <p:spPr>
          <a:xfrm>
            <a:off x="1085851" y="1058711"/>
            <a:ext cx="6972300" cy="3026078"/>
          </a:xfrm>
          <a:prstGeom prst="rect">
            <a:avLst/>
          </a:prstGeom>
          <a:solidFill>
            <a:schemeClr val="bg2"/>
          </a:solidFill>
          <a:ln w="9525" cap="sq" cmpd="sng" algn="ctr">
            <a:noFill/>
            <a:prstDash val="solid"/>
            <a:miter lim="800000"/>
          </a:ln>
          <a:effectLst/>
        </p:spPr>
      </p:sp>
      <p:sp>
        <p:nvSpPr>
          <p:cNvPr id="30" name="Rectangle 29"/>
          <p:cNvSpPr/>
          <p:nvPr/>
        </p:nvSpPr>
        <p:spPr>
          <a:xfrm>
            <a:off x="3851910" y="950798"/>
            <a:ext cx="1440180" cy="548640"/>
          </a:xfrm>
          <a:prstGeom prst="rect">
            <a:avLst/>
          </a:prstGeom>
          <a:solidFill>
            <a:schemeClr val="accent1"/>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3937635" y="950798"/>
            <a:ext cx="1268730" cy="483971"/>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172717" y="1570732"/>
            <a:ext cx="6803136" cy="1940814"/>
          </a:xfrm>
        </p:spPr>
        <p:txBody>
          <a:bodyPr anchor="ctr">
            <a:noAutofit/>
          </a:bodyPr>
          <a:lstStyle>
            <a:lvl1pPr algn="ctr">
              <a:lnSpc>
                <a:spcPct val="83000"/>
              </a:lnSpc>
              <a:defRPr lang="en-US" sz="5400" b="0" kern="1200" cap="all" spc="-75" baseline="0" dirty="0">
                <a:solidFill>
                  <a:schemeClr val="tx1"/>
                </a:solidFill>
                <a:effectLst>
                  <a:outerShdw blurRad="38100" dist="12700" dir="2700000" algn="tl" rotWithShape="0">
                    <a:prstClr val="black">
                      <a:alpha val="40000"/>
                    </a:prstClr>
                  </a:outerShdw>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172718" y="3511547"/>
            <a:ext cx="6803136" cy="342900"/>
          </a:xfrm>
        </p:spPr>
        <p:txBody>
          <a:bodyPr anchor="t">
            <a:normAutofit/>
          </a:bodyPr>
          <a:lstStyle>
            <a:lvl1pPr marL="0" indent="0" algn="ctr">
              <a:buNone/>
              <a:tabLst>
                <a:tab pos="1975247" algn="l"/>
              </a:tabLst>
              <a:defRPr sz="1200">
                <a:solidFill>
                  <a:schemeClr val="tx2"/>
                </a:solidFill>
                <a:effectLst/>
              </a:defRPr>
            </a:lvl1pPr>
            <a:lvl2pPr marL="342900" indent="0">
              <a:buNone/>
              <a:defRPr sz="120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3991356" y="1008377"/>
            <a:ext cx="1165860" cy="397764"/>
          </a:xfrm>
        </p:spPr>
        <p:txBody>
          <a:bodyPr/>
          <a:lstStyle>
            <a:lvl1pPr algn="ctr">
              <a:defRPr lang="en-US" sz="975" kern="1200" spc="0" baseline="0">
                <a:solidFill>
                  <a:srgbClr val="FFFFFF"/>
                </a:solidFill>
                <a:latin typeface="+mn-lt"/>
                <a:ea typeface="+mn-ea"/>
                <a:cs typeface="+mn-cs"/>
              </a:defRPr>
            </a:lvl1pPr>
          </a:lstStyle>
          <a:p>
            <a:fld id="{B61BEF0D-F0BB-DE4B-95CE-6DB70DBA9567}" type="datetimeFigureOut">
              <a:rPr lang="en-US" smtClean="0"/>
              <a:pPr/>
              <a:t>11/18/2025</a:t>
            </a:fld>
            <a:endParaRPr lang="en-US" dirty="0"/>
          </a:p>
        </p:txBody>
      </p:sp>
      <p:sp>
        <p:nvSpPr>
          <p:cNvPr id="5" name="Footer Placeholder 4"/>
          <p:cNvSpPr>
            <a:spLocks noGrp="1"/>
          </p:cNvSpPr>
          <p:nvPr>
            <p:ph type="ftr" sz="quarter" idx="11"/>
          </p:nvPr>
        </p:nvSpPr>
        <p:spPr>
          <a:xfrm>
            <a:off x="1090422" y="3909060"/>
            <a:ext cx="4430268" cy="171450"/>
          </a:xfrm>
        </p:spPr>
        <p:txBody>
          <a:bodyPr/>
          <a:lstStyle>
            <a:lvl1pPr algn="l">
              <a:defRPr>
                <a:solidFill>
                  <a:schemeClr val="tx2"/>
                </a:solidFill>
              </a:defRPr>
            </a:lvl1pPr>
          </a:lstStyle>
          <a:p>
            <a:endParaRPr lang="en-US" dirty="0"/>
          </a:p>
        </p:txBody>
      </p:sp>
      <p:sp>
        <p:nvSpPr>
          <p:cNvPr id="6" name="Slide Number Placeholder 5"/>
          <p:cNvSpPr>
            <a:spLocks noGrp="1"/>
          </p:cNvSpPr>
          <p:nvPr>
            <p:ph type="sldNum" sz="quarter" idx="12"/>
          </p:nvPr>
        </p:nvSpPr>
        <p:spPr>
          <a:xfrm>
            <a:off x="6453378" y="3909060"/>
            <a:ext cx="1584198" cy="171450"/>
          </a:xfrm>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2385622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00100" y="1577340"/>
            <a:ext cx="3566160" cy="281178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77740" y="1577340"/>
            <a:ext cx="3566160" cy="281178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solidFill>
                  <a:schemeClr val="tx2"/>
                </a:solidFill>
              </a:defRPr>
            </a:lvl1pPr>
          </a:lstStyle>
          <a:p>
            <a:fld id="{05BFA754-D5C3-4E66-96A6-867B257F58DC}" type="datetimeFigureOut">
              <a:rPr lang="en-US" smtClean="0"/>
              <a:t>11/18/2025</a:t>
            </a:fld>
            <a:endParaRPr lang="en-US" dirty="0"/>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D84065D-F351-4B03-BD91-D8A6B8D4B362}" type="slidenum">
              <a:rPr lang="en-US" smtClean="0"/>
              <a:t>‹#›</a:t>
            </a:fld>
            <a:endParaRPr lang="en-US" dirty="0"/>
          </a:p>
        </p:txBody>
      </p:sp>
    </p:spTree>
    <p:extLst>
      <p:ext uri="{BB962C8B-B14F-4D97-AF65-F5344CB8AC3E}">
        <p14:creationId xmlns:p14="http://schemas.microsoft.com/office/powerpoint/2010/main" val="1813215188"/>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802386" y="1555751"/>
            <a:ext cx="3566160" cy="480060"/>
          </a:xfrm>
        </p:spPr>
        <p:txBody>
          <a:bodyPr anchor="ctr">
            <a:normAutofit/>
          </a:bodyPr>
          <a:lstStyle>
            <a:lvl1pPr marL="0" indent="0" algn="ctr">
              <a:spcBef>
                <a:spcPts val="0"/>
              </a:spcBef>
              <a:buNone/>
              <a:defRPr sz="1350" b="0">
                <a:solidFill>
                  <a:schemeClr val="tx2"/>
                </a:solidFill>
                <a:latin typeface="+mn-lt"/>
              </a:defRPr>
            </a:lvl1pPr>
            <a:lvl2pPr marL="342900" indent="0">
              <a:buNone/>
              <a:defRPr sz="135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802386" y="2066924"/>
            <a:ext cx="3566160" cy="240030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80026" y="1555751"/>
            <a:ext cx="3566160" cy="480060"/>
          </a:xfrm>
        </p:spPr>
        <p:txBody>
          <a:bodyPr anchor="ctr">
            <a:normAutofit/>
          </a:bodyPr>
          <a:lstStyle>
            <a:lvl1pPr marL="0" indent="0" algn="ctr">
              <a:spcBef>
                <a:spcPts val="0"/>
              </a:spcBef>
              <a:buNone/>
              <a:defRPr sz="1350" b="0">
                <a:solidFill>
                  <a:schemeClr val="tx2"/>
                </a:solidFill>
              </a:defRPr>
            </a:lvl1pPr>
            <a:lvl2pPr marL="342900" indent="0">
              <a:buNone/>
              <a:defRPr sz="135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780026" y="2067436"/>
            <a:ext cx="3566160" cy="240030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lvl1pPr>
              <a:defRPr>
                <a:solidFill>
                  <a:schemeClr val="tx2"/>
                </a:solidFill>
              </a:defRPr>
            </a:lvl1pPr>
          </a:lstStyle>
          <a:p>
            <a:fld id="{1160EA64-D806-43AC-9DF2-F8C432F32B4C}" type="datetimeFigureOut">
              <a:rPr lang="en-US" smtClean="0"/>
              <a:t>11/18/2025</a:t>
            </a:fld>
            <a:endParaRPr lang="en-US" dirty="0"/>
          </a:p>
        </p:txBody>
      </p:sp>
      <p:sp>
        <p:nvSpPr>
          <p:cNvPr id="8" name="Footer Placeholder 7"/>
          <p:cNvSpPr>
            <a:spLocks noGrp="1"/>
          </p:cNvSpPr>
          <p:nvPr>
            <p:ph type="ftr" sz="quarter" idx="11"/>
          </p:nvPr>
        </p:nvSpPr>
        <p:spPr/>
        <p:txBody>
          <a:bodyPr/>
          <a:lstStyle>
            <a:lvl1pPr>
              <a:defRPr>
                <a:solidFill>
                  <a:schemeClr val="tx2"/>
                </a:solidFill>
              </a:defRPr>
            </a:lvl1pPr>
          </a:lstStyle>
          <a:p>
            <a:endParaRPr lang="en-US" dirty="0"/>
          </a:p>
        </p:txBody>
      </p:sp>
      <p:sp>
        <p:nvSpPr>
          <p:cNvPr id="9" name="Slide Number Placeholder 8"/>
          <p:cNvSpPr>
            <a:spLocks noGrp="1"/>
          </p:cNvSpPr>
          <p:nvPr>
            <p:ph type="sldNum" sz="quarter" idx="12"/>
          </p:nvPr>
        </p:nvSpPr>
        <p:spPr/>
        <p:txBody>
          <a:bodyPr/>
          <a:lstStyle>
            <a:lvl1pPr>
              <a:defRPr>
                <a:solidFill>
                  <a:schemeClr val="tx2"/>
                </a:solidFill>
              </a:defRPr>
            </a:lvl1p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1151637261"/>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tx2"/>
                </a:solidFill>
              </a:defRPr>
            </a:lvl1pPr>
          </a:lstStyle>
          <a:p>
            <a:fld id="{B61BEF0D-F0BB-DE4B-95CE-6DB70DBA9567}" type="datetimeFigureOut">
              <a:rPr lang="en-US" smtClean="0"/>
              <a:pPr/>
              <a:t>11/18/2025</a:t>
            </a:fld>
            <a:endParaRPr lang="en-US" dirty="0"/>
          </a:p>
        </p:txBody>
      </p:sp>
      <p:sp>
        <p:nvSpPr>
          <p:cNvPr id="4" name="Footer Placeholder 3"/>
          <p:cNvSpPr>
            <a:spLocks noGrp="1"/>
          </p:cNvSpPr>
          <p:nvPr>
            <p:ph type="ftr" sz="quarter" idx="11"/>
          </p:nvPr>
        </p:nvSpPr>
        <p:spPr/>
        <p:txBody>
          <a:bodyPr/>
          <a:lstStyle>
            <a:lvl1pPr>
              <a:defRPr>
                <a:solidFill>
                  <a:schemeClr val="tx2"/>
                </a:solidFill>
              </a:defRPr>
            </a:lvl1pPr>
          </a:lstStyle>
          <a:p>
            <a:endParaRPr lang="en-US" dirty="0"/>
          </a:p>
        </p:txBody>
      </p:sp>
      <p:sp>
        <p:nvSpPr>
          <p:cNvPr id="5" name="Slide Number Placeholder 4"/>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32306130"/>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lstStyle>
          <a:p>
            <a:fld id="{B61BEF0D-F0BB-DE4B-95CE-6DB70DBA9567}" type="datetimeFigureOut">
              <a:rPr lang="en-US" smtClean="0"/>
              <a:pPr/>
              <a:t>11/18/2025</a:t>
            </a:fld>
            <a:endParaRPr lang="en-US" dirty="0"/>
          </a:p>
        </p:txBody>
      </p:sp>
      <p:sp>
        <p:nvSpPr>
          <p:cNvPr id="3" name="Footer Placeholder 2"/>
          <p:cNvSpPr>
            <a:spLocks noGrp="1"/>
          </p:cNvSpPr>
          <p:nvPr>
            <p:ph type="ftr" sz="quarter" idx="11"/>
          </p:nvPr>
        </p:nvSpPr>
        <p:spPr/>
        <p:txBody>
          <a:bodyPr/>
          <a:lstStyle>
            <a:lvl1pPr>
              <a:defRPr>
                <a:solidFill>
                  <a:schemeClr val="tx2"/>
                </a:solidFill>
              </a:defRPr>
            </a:lvl1pPr>
          </a:lstStyle>
          <a:p>
            <a:endParaRPr lang="en-US" dirty="0"/>
          </a:p>
        </p:txBody>
      </p:sp>
      <p:sp>
        <p:nvSpPr>
          <p:cNvPr id="4" name="Slide Number Placeholder 3"/>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273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4" name="Rectangle 13"/>
          <p:cNvSpPr/>
          <p:nvPr/>
        </p:nvSpPr>
        <p:spPr>
          <a:xfrm>
            <a:off x="176020" y="178308"/>
            <a:ext cx="6474811" cy="4786884"/>
          </a:xfrm>
          <a:prstGeom prst="rect">
            <a:avLst/>
          </a:prstGeom>
          <a:solidFill>
            <a:schemeClr val="tx1"/>
          </a:solidFill>
          <a:ln w="6350" cap="flat" cmpd="sng" algn="ctr">
            <a:solidFill>
              <a:schemeClr val="tx1">
                <a:lumMod val="75000"/>
              </a:schemeClr>
            </a:solidFill>
            <a:prstDash val="solid"/>
          </a:ln>
          <a:effectLst>
            <a:softEdge rad="0"/>
          </a:effectLst>
        </p:spPr>
      </p:sp>
      <p:sp>
        <p:nvSpPr>
          <p:cNvPr id="16" name="Rectangle 15"/>
          <p:cNvSpPr/>
          <p:nvPr/>
        </p:nvSpPr>
        <p:spPr>
          <a:xfrm>
            <a:off x="278892" y="281178"/>
            <a:ext cx="6264783" cy="4581144"/>
          </a:xfrm>
          <a:prstGeom prst="rect">
            <a:avLst/>
          </a:prstGeom>
          <a:solidFill>
            <a:schemeClr val="bg2"/>
          </a:solidFill>
          <a:ln w="6350" cap="sq" cmpd="sng" algn="ctr">
            <a:noFill/>
            <a:prstDash val="solid"/>
            <a:miter lim="800000"/>
          </a:ln>
          <a:effectLst/>
        </p:spPr>
      </p:sp>
      <p:sp>
        <p:nvSpPr>
          <p:cNvPr id="15" name="Rectangle 14"/>
          <p:cNvSpPr/>
          <p:nvPr/>
        </p:nvSpPr>
        <p:spPr>
          <a:xfrm>
            <a:off x="6765290" y="178308"/>
            <a:ext cx="2194560" cy="478688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972300" y="455544"/>
            <a:ext cx="1823085" cy="1234440"/>
          </a:xfrm>
        </p:spPr>
        <p:txBody>
          <a:bodyPr anchor="b">
            <a:normAutofit/>
          </a:bodyPr>
          <a:lstStyle>
            <a:lvl1pPr algn="l" defTabSz="685800" rtl="0" eaLnBrk="1" latinLnBrk="0" hangingPunct="1">
              <a:lnSpc>
                <a:spcPct val="90000"/>
              </a:lnSpc>
              <a:spcBef>
                <a:spcPct val="0"/>
              </a:spcBef>
              <a:buNone/>
              <a:defRPr lang="en-US" sz="2100" b="0" kern="1200" cap="none" spc="0" baseline="0" dirty="0">
                <a:solidFill>
                  <a:schemeClr val="bg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592931" y="528638"/>
            <a:ext cx="5672138" cy="3857625"/>
          </a:xfrm>
        </p:spPr>
        <p:txBody>
          <a:bodyPr/>
          <a:lstStyle>
            <a:lvl1pPr>
              <a:defRPr sz="1425"/>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72300" y="1714500"/>
            <a:ext cx="1823085" cy="2628900"/>
          </a:xfrm>
        </p:spPr>
        <p:txBody>
          <a:bodyPr>
            <a:normAutofit/>
          </a:bodyPr>
          <a:lstStyle>
            <a:lvl1pPr marL="0" indent="0">
              <a:lnSpc>
                <a:spcPct val="110000"/>
              </a:lnSpc>
              <a:spcBef>
                <a:spcPts val="600"/>
              </a:spcBef>
              <a:buNone/>
              <a:defRPr sz="1050">
                <a:solidFill>
                  <a:schemeClr val="bg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chemeClr val="tx2"/>
                </a:solidFill>
              </a:defRPr>
            </a:lvl1pPr>
          </a:lstStyle>
          <a:p>
            <a:fld id="{B61BEF0D-F0BB-DE4B-95CE-6DB70DBA9567}" type="datetimeFigureOut">
              <a:rPr lang="en-US" smtClean="0"/>
              <a:pPr/>
              <a:t>11/18/2025</a:t>
            </a:fld>
            <a:endParaRPr lang="en-US" dirty="0"/>
          </a:p>
        </p:txBody>
      </p:sp>
      <p:sp>
        <p:nvSpPr>
          <p:cNvPr id="6" name="Footer Placeholder 5"/>
          <p:cNvSpPr>
            <a:spLocks noGrp="1"/>
          </p:cNvSpPr>
          <p:nvPr>
            <p:ph type="ftr" sz="quarter" idx="11"/>
          </p:nvPr>
        </p:nvSpPr>
        <p:spPr>
          <a:xfrm>
            <a:off x="2579369" y="4660901"/>
            <a:ext cx="3888486" cy="192024"/>
          </a:xfrm>
        </p:spPr>
        <p:txBody>
          <a:bodyPr/>
          <a:lstStyle>
            <a:lvl1pPr algn="r">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bg2"/>
                </a:solidFill>
              </a:defRPr>
            </a:lvl1pPr>
          </a:lstStyle>
          <a:p>
            <a:fld id="{D57F1E4F-1CFF-5643-939E-217C01CDF565}" type="slidenum">
              <a:rPr lang="en-US" smtClean="0"/>
              <a:pPr/>
              <a:t>‹#›</a:t>
            </a:fld>
            <a:endParaRPr lang="en-US" dirty="0"/>
          </a:p>
        </p:txBody>
      </p:sp>
      <p:sp>
        <p:nvSpPr>
          <p:cNvPr id="11" name="Rectangle 10"/>
          <p:cNvSpPr/>
          <p:nvPr/>
        </p:nvSpPr>
        <p:spPr>
          <a:xfrm>
            <a:off x="6868160" y="281178"/>
            <a:ext cx="1988820" cy="4581144"/>
          </a:xfrm>
          <a:prstGeom prst="rect">
            <a:avLst/>
          </a:prstGeom>
          <a:noFill/>
          <a:ln w="6350" cap="sq">
            <a:solidFill>
              <a:schemeClr val="tx1">
                <a:lumMod val="65000"/>
                <a:lumOff val="3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097590907"/>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6765290" y="178308"/>
            <a:ext cx="2194560" cy="4786884"/>
          </a:xfrm>
          <a:prstGeom prst="rect">
            <a:avLst/>
          </a:prstGeom>
          <a:solidFill>
            <a:schemeClr val="tx1"/>
          </a:solidFill>
          <a:ln w="6350" cap="sq">
            <a:solidFill>
              <a:schemeClr val="tx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868160" y="281178"/>
            <a:ext cx="1988820" cy="4581144"/>
          </a:xfrm>
          <a:prstGeom prst="rect">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972300" y="452628"/>
            <a:ext cx="1824228" cy="1234440"/>
          </a:xfrm>
        </p:spPr>
        <p:txBody>
          <a:bodyPr anchor="b">
            <a:noAutofit/>
          </a:bodyPr>
          <a:lstStyle>
            <a:lvl1pPr algn="l">
              <a:defRPr sz="2100" b="0">
                <a:solidFill>
                  <a:schemeClr val="tx1"/>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71449" y="178308"/>
            <a:ext cx="6450807" cy="4786884"/>
          </a:xfrm>
          <a:solidFill>
            <a:srgbClr val="808080"/>
          </a:solidFill>
          <a:ln>
            <a:noFill/>
          </a:ln>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972300" y="1714500"/>
            <a:ext cx="1824228" cy="2626614"/>
          </a:xfrm>
        </p:spPr>
        <p:txBody>
          <a:bodyPr>
            <a:normAutofit/>
          </a:bodyPr>
          <a:lstStyle>
            <a:lvl1pPr marL="0" indent="0" algn="l">
              <a:lnSpc>
                <a:spcPct val="110000"/>
              </a:lnSpc>
              <a:spcBef>
                <a:spcPts val="600"/>
              </a:spcBef>
              <a:buNone/>
              <a:defRPr sz="105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9050" dist="6350" dir="2700000" algn="tl" rotWithShape="0">
                    <a:prstClr val="black">
                      <a:alpha val="40000"/>
                    </a:prstClr>
                  </a:outerShdw>
                </a:effectLst>
              </a:defRPr>
            </a:lvl1pPr>
          </a:lstStyle>
          <a:p>
            <a:fld id="{B61BEF0D-F0BB-DE4B-95CE-6DB70DBA9567}" type="datetimeFigureOut">
              <a:rPr lang="en-US" smtClean="0"/>
              <a:pPr/>
              <a:t>11/18/2025</a:t>
            </a:fld>
            <a:endParaRPr lang="en-US" dirty="0"/>
          </a:p>
        </p:txBody>
      </p:sp>
      <p:sp>
        <p:nvSpPr>
          <p:cNvPr id="6" name="Footer Placeholder 5"/>
          <p:cNvSpPr>
            <a:spLocks noGrp="1"/>
          </p:cNvSpPr>
          <p:nvPr>
            <p:ph type="ftr" sz="quarter" idx="11"/>
          </p:nvPr>
        </p:nvSpPr>
        <p:spPr/>
        <p:txBody>
          <a:bodyPr/>
          <a:lstStyle>
            <a:lvl1pPr marL="0" algn="r" defTabSz="685800" rtl="0" eaLnBrk="1" latinLnBrk="0" hangingPunct="1">
              <a:defRPr lang="en-US" sz="750"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14996207"/>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B61BEF0D-F0BB-DE4B-95CE-6DB70DBA9567}" type="datetimeFigureOut">
              <a:rPr lang="en-US" smtClean="0"/>
              <a:pPr/>
              <a:t>11/18/2025</a:t>
            </a:fld>
            <a:endParaRPr lang="en-US" dirty="0"/>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19394872"/>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571500"/>
            <a:ext cx="1771650" cy="39433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571500"/>
            <a:ext cx="6057900" cy="39433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B61BEF0D-F0BB-DE4B-95CE-6DB70DBA9567}" type="datetimeFigureOut">
              <a:rPr lang="en-US" smtClean="0"/>
              <a:pPr/>
              <a:t>11/18/2025</a:t>
            </a:fld>
            <a:endParaRPr lang="en-US" dirty="0"/>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92212598"/>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1_Title slide">
    <p:bg>
      <p:bgPr>
        <a:solidFill>
          <a:schemeClr val="lt2"/>
        </a:solidFill>
        <a:effectLst/>
      </p:bgPr>
    </p:bg>
    <p:spTree>
      <p:nvGrpSpPr>
        <p:cNvPr id="1" name="Shape 8"/>
        <p:cNvGrpSpPr/>
        <p:nvPr/>
      </p:nvGrpSpPr>
      <p:grpSpPr>
        <a:xfrm>
          <a:off x="0" y="0"/>
          <a:ext cx="0" cy="0"/>
          <a:chOff x="0" y="0"/>
          <a:chExt cx="0" cy="0"/>
        </a:xfrm>
      </p:grpSpPr>
      <p:sp>
        <p:nvSpPr>
          <p:cNvPr id="15" name="Google Shape;15;p2"/>
          <p:cNvSpPr txBox="1">
            <a:spLocks noGrp="1"/>
          </p:cNvSpPr>
          <p:nvPr>
            <p:ph type="ctrTitle"/>
          </p:nvPr>
        </p:nvSpPr>
        <p:spPr>
          <a:xfrm>
            <a:off x="844850" y="1490700"/>
            <a:ext cx="3795000" cy="2162100"/>
          </a:xfrm>
          <a:prstGeom prst="rect">
            <a:avLst/>
          </a:prstGeom>
        </p:spPr>
        <p:txBody>
          <a:bodyPr spcFirstLastPara="1" wrap="square" lIns="91425" tIns="91425" rIns="91425" bIns="91425" anchor="t" anchorCtr="0">
            <a:noAutofit/>
          </a:bodyPr>
          <a:lstStyle>
            <a:lvl1pPr lvl="0" algn="ctr">
              <a:spcBef>
                <a:spcPts val="0"/>
              </a:spcBef>
              <a:spcAft>
                <a:spcPts val="0"/>
              </a:spcAft>
              <a:buSzPts val="5200"/>
              <a:buNone/>
              <a:defRPr sz="38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Tree>
    <p:extLst>
      <p:ext uri="{BB962C8B-B14F-4D97-AF65-F5344CB8AC3E}">
        <p14:creationId xmlns:p14="http://schemas.microsoft.com/office/powerpoint/2010/main" val="1958535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p:cSld name="Table of contents">
    <p:bg>
      <p:bgPr>
        <a:solidFill>
          <a:schemeClr val="lt2"/>
        </a:solidFill>
        <a:effectLst/>
      </p:bgPr>
    </p:bg>
    <p:spTree>
      <p:nvGrpSpPr>
        <p:cNvPr id="1" name="Shape 100"/>
        <p:cNvGrpSpPr/>
        <p:nvPr/>
      </p:nvGrpSpPr>
      <p:grpSpPr>
        <a:xfrm>
          <a:off x="0" y="0"/>
          <a:ext cx="0" cy="0"/>
          <a:chOff x="0" y="0"/>
          <a:chExt cx="0" cy="0"/>
        </a:xfrm>
      </p:grpSpPr>
      <p:sp>
        <p:nvSpPr>
          <p:cNvPr id="107" name="Google Shape;107;p13"/>
          <p:cNvSpPr txBox="1">
            <a:spLocks noGrp="1"/>
          </p:cNvSpPr>
          <p:nvPr>
            <p:ph type="title" hasCustomPrompt="1"/>
          </p:nvPr>
        </p:nvSpPr>
        <p:spPr>
          <a:xfrm>
            <a:off x="1132738"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 name="Google Shape;108;p13"/>
          <p:cNvSpPr txBox="1">
            <a:spLocks noGrp="1"/>
          </p:cNvSpPr>
          <p:nvPr>
            <p:ph type="subTitle" idx="1"/>
          </p:nvPr>
        </p:nvSpPr>
        <p:spPr>
          <a:xfrm>
            <a:off x="1132750"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109" name="Google Shape;109;p13"/>
          <p:cNvSpPr txBox="1">
            <a:spLocks noGrp="1"/>
          </p:cNvSpPr>
          <p:nvPr>
            <p:ph type="title" idx="2"/>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Clr>
                <a:schemeClr val="dk1"/>
              </a:buClr>
              <a:buSzPts val="3500"/>
              <a:buFont typeface="Poppins Black" panose="00000800000000000000"/>
              <a:buNone/>
              <a:defRPr>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10" name="Google Shape;110;p13"/>
          <p:cNvSpPr txBox="1">
            <a:spLocks noGrp="1"/>
          </p:cNvSpPr>
          <p:nvPr>
            <p:ph type="title" idx="3" hasCustomPrompt="1"/>
          </p:nvPr>
        </p:nvSpPr>
        <p:spPr>
          <a:xfrm>
            <a:off x="3425638"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4"/>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1" name="Google Shape;111;p13"/>
          <p:cNvSpPr txBox="1">
            <a:spLocks noGrp="1"/>
          </p:cNvSpPr>
          <p:nvPr>
            <p:ph type="subTitle" idx="4"/>
          </p:nvPr>
        </p:nvSpPr>
        <p:spPr>
          <a:xfrm>
            <a:off x="3425563"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112" name="Google Shape;112;p13"/>
          <p:cNvSpPr txBox="1">
            <a:spLocks noGrp="1"/>
          </p:cNvSpPr>
          <p:nvPr>
            <p:ph type="title" idx="5" hasCustomPrompt="1"/>
          </p:nvPr>
        </p:nvSpPr>
        <p:spPr>
          <a:xfrm>
            <a:off x="5718363"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5"/>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3" name="Google Shape;113;p13"/>
          <p:cNvSpPr txBox="1">
            <a:spLocks noGrp="1"/>
          </p:cNvSpPr>
          <p:nvPr>
            <p:ph type="subTitle" idx="6"/>
          </p:nvPr>
        </p:nvSpPr>
        <p:spPr>
          <a:xfrm>
            <a:off x="5718375"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Tree>
    <p:extLst>
      <p:ext uri="{BB962C8B-B14F-4D97-AF65-F5344CB8AC3E}">
        <p14:creationId xmlns:p14="http://schemas.microsoft.com/office/powerpoint/2010/main" val="26432112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bg>
      <p:bgPr>
        <a:solidFill>
          <a:schemeClr val="lt2"/>
        </a:solidFill>
        <a:effectLst/>
      </p:bgPr>
    </p:bg>
    <p:spTree>
      <p:nvGrpSpPr>
        <p:cNvPr id="1" name="Shape 16"/>
        <p:cNvGrpSpPr/>
        <p:nvPr/>
      </p:nvGrpSpPr>
      <p:grpSpPr>
        <a:xfrm>
          <a:off x="0" y="0"/>
          <a:ext cx="0" cy="0"/>
          <a:chOff x="0" y="0"/>
          <a:chExt cx="0" cy="0"/>
        </a:xfrm>
      </p:grpSpPr>
      <p:sp>
        <p:nvSpPr>
          <p:cNvPr id="23" name="Google Shape;23;p3"/>
          <p:cNvSpPr txBox="1">
            <a:spLocks noGrp="1"/>
          </p:cNvSpPr>
          <p:nvPr>
            <p:ph type="title"/>
          </p:nvPr>
        </p:nvSpPr>
        <p:spPr>
          <a:xfrm>
            <a:off x="1123613" y="2425500"/>
            <a:ext cx="2771700" cy="14613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4" name="Google Shape;24;p3"/>
          <p:cNvSpPr txBox="1">
            <a:spLocks noGrp="1"/>
          </p:cNvSpPr>
          <p:nvPr>
            <p:ph type="title" idx="2" hasCustomPrompt="1"/>
          </p:nvPr>
        </p:nvSpPr>
        <p:spPr>
          <a:xfrm>
            <a:off x="1123613" y="1196450"/>
            <a:ext cx="27717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extLst>
      <p:ext uri="{BB962C8B-B14F-4D97-AF65-F5344CB8AC3E}">
        <p14:creationId xmlns:p14="http://schemas.microsoft.com/office/powerpoint/2010/main" val="9116296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p:cSld name="Title and text">
    <p:bg>
      <p:bgPr>
        <a:solidFill>
          <a:schemeClr val="lt2"/>
        </a:solidFill>
        <a:effectLst/>
      </p:bgPr>
    </p:bg>
    <p:spTree>
      <p:nvGrpSpPr>
        <p:cNvPr id="1" name="Shape 132"/>
        <p:cNvGrpSpPr/>
        <p:nvPr/>
      </p:nvGrpSpPr>
      <p:grpSpPr>
        <a:xfrm>
          <a:off x="0" y="0"/>
          <a:ext cx="0" cy="0"/>
          <a:chOff x="0" y="0"/>
          <a:chExt cx="0" cy="0"/>
        </a:xfrm>
      </p:grpSpPr>
      <p:sp>
        <p:nvSpPr>
          <p:cNvPr id="139" name="Google Shape;139;p16"/>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l"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40" name="Google Shape;140;p16"/>
          <p:cNvSpPr txBox="1">
            <a:spLocks noGrp="1"/>
          </p:cNvSpPr>
          <p:nvPr>
            <p:ph type="body" idx="1"/>
          </p:nvPr>
        </p:nvSpPr>
        <p:spPr>
          <a:xfrm>
            <a:off x="715050" y="1245700"/>
            <a:ext cx="7713900" cy="3362700"/>
          </a:xfrm>
          <a:prstGeom prst="rect">
            <a:avLst/>
          </a:prstGeom>
          <a:ln>
            <a:noFill/>
          </a:ln>
        </p:spPr>
        <p:txBody>
          <a:bodyPr spcFirstLastPara="1" wrap="square" lIns="91425" tIns="91425" rIns="91425" bIns="91425" anchor="t" anchorCtr="0">
            <a:noAutofit/>
          </a:bodyPr>
          <a:lstStyle>
            <a:lvl1pPr marL="457200" lvl="0" indent="-311150" rtl="0">
              <a:spcBef>
                <a:spcPts val="0"/>
              </a:spcBef>
              <a:spcAft>
                <a:spcPts val="0"/>
              </a:spcAft>
              <a:buClr>
                <a:schemeClr val="accent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Tree>
    <p:extLst>
      <p:ext uri="{BB962C8B-B14F-4D97-AF65-F5344CB8AC3E}">
        <p14:creationId xmlns:p14="http://schemas.microsoft.com/office/powerpoint/2010/main" val="35359993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1">
  <p:cSld name="Section header 1">
    <p:bg>
      <p:bgPr>
        <a:solidFill>
          <a:schemeClr val="lt2"/>
        </a:solidFill>
        <a:effectLst/>
      </p:bgPr>
    </p:bg>
    <p:spTree>
      <p:nvGrpSpPr>
        <p:cNvPr id="1" name="Shape 114"/>
        <p:cNvGrpSpPr/>
        <p:nvPr/>
      </p:nvGrpSpPr>
      <p:grpSpPr>
        <a:xfrm>
          <a:off x="0" y="0"/>
          <a:ext cx="0" cy="0"/>
          <a:chOff x="0" y="0"/>
          <a:chExt cx="0" cy="0"/>
        </a:xfrm>
      </p:grpSpPr>
      <p:sp>
        <p:nvSpPr>
          <p:cNvPr id="121" name="Google Shape;121;p14"/>
          <p:cNvSpPr txBox="1">
            <a:spLocks noGrp="1"/>
          </p:cNvSpPr>
          <p:nvPr>
            <p:ph type="title"/>
          </p:nvPr>
        </p:nvSpPr>
        <p:spPr>
          <a:xfrm>
            <a:off x="4572000" y="2425500"/>
            <a:ext cx="3448200" cy="1461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22" name="Google Shape;122;p14"/>
          <p:cNvSpPr txBox="1">
            <a:spLocks noGrp="1"/>
          </p:cNvSpPr>
          <p:nvPr>
            <p:ph type="title" idx="2" hasCustomPrompt="1"/>
          </p:nvPr>
        </p:nvSpPr>
        <p:spPr>
          <a:xfrm>
            <a:off x="4572000" y="1196450"/>
            <a:ext cx="34482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4"/>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extLst>
      <p:ext uri="{BB962C8B-B14F-4D97-AF65-F5344CB8AC3E}">
        <p14:creationId xmlns:p14="http://schemas.microsoft.com/office/powerpoint/2010/main" val="24489429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2">
  <p:cSld name="Title and text 2">
    <p:bg>
      <p:bgPr>
        <a:solidFill>
          <a:schemeClr val="lt2"/>
        </a:solidFill>
        <a:effectLst/>
      </p:bgPr>
    </p:bg>
    <p:spTree>
      <p:nvGrpSpPr>
        <p:cNvPr id="1" name="Shape 152"/>
        <p:cNvGrpSpPr/>
        <p:nvPr/>
      </p:nvGrpSpPr>
      <p:grpSpPr>
        <a:xfrm>
          <a:off x="0" y="0"/>
          <a:ext cx="0" cy="0"/>
          <a:chOff x="0" y="0"/>
          <a:chExt cx="0" cy="0"/>
        </a:xfrm>
      </p:grpSpPr>
      <p:sp>
        <p:nvSpPr>
          <p:cNvPr id="159" name="Google Shape;159;p18"/>
          <p:cNvSpPr txBox="1">
            <a:spLocks noGrp="1"/>
          </p:cNvSpPr>
          <p:nvPr>
            <p:ph type="title"/>
          </p:nvPr>
        </p:nvSpPr>
        <p:spPr>
          <a:xfrm>
            <a:off x="715100" y="1612750"/>
            <a:ext cx="3401400" cy="1894800"/>
          </a:xfrm>
          <a:prstGeom prst="rect">
            <a:avLst/>
          </a:prstGeom>
          <a:ln>
            <a:noFill/>
          </a:ln>
        </p:spPr>
        <p:txBody>
          <a:bodyPr spcFirstLastPara="1" wrap="square" lIns="91425" tIns="91425" rIns="91425" bIns="91425" anchor="t" anchorCtr="0">
            <a:noAutofit/>
          </a:bodyPr>
          <a:lstStyle>
            <a:lvl1pPr lvl="0"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60" name="Google Shape;160;p18"/>
          <p:cNvSpPr txBox="1">
            <a:spLocks noGrp="1"/>
          </p:cNvSpPr>
          <p:nvPr>
            <p:ph type="body" idx="1"/>
          </p:nvPr>
        </p:nvSpPr>
        <p:spPr>
          <a:xfrm>
            <a:off x="4572000" y="535000"/>
            <a:ext cx="3699300" cy="4073400"/>
          </a:xfrm>
          <a:prstGeom prst="rect">
            <a:avLst/>
          </a:prstGeom>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accent5"/>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11150" rtl="0">
              <a:lnSpc>
                <a:spcPct val="115000"/>
              </a:lnSpc>
              <a:spcBef>
                <a:spcPts val="100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Tree>
    <p:extLst>
      <p:ext uri="{BB962C8B-B14F-4D97-AF65-F5344CB8AC3E}">
        <p14:creationId xmlns:p14="http://schemas.microsoft.com/office/powerpoint/2010/main" val="41071238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2">
  <p:cSld name="Section header 2">
    <p:bg>
      <p:bgPr>
        <a:solidFill>
          <a:schemeClr val="lt2"/>
        </a:solidFill>
        <a:effectLst/>
      </p:bgPr>
    </p:bg>
    <p:spTree>
      <p:nvGrpSpPr>
        <p:cNvPr id="1" name="Shape 123"/>
        <p:cNvGrpSpPr/>
        <p:nvPr/>
      </p:nvGrpSpPr>
      <p:grpSpPr>
        <a:xfrm>
          <a:off x="0" y="0"/>
          <a:ext cx="0" cy="0"/>
          <a:chOff x="0" y="0"/>
          <a:chExt cx="0" cy="0"/>
        </a:xfrm>
      </p:grpSpPr>
      <p:sp>
        <p:nvSpPr>
          <p:cNvPr id="130" name="Google Shape;130;p15"/>
          <p:cNvSpPr txBox="1">
            <a:spLocks noGrp="1"/>
          </p:cNvSpPr>
          <p:nvPr>
            <p:ph type="title"/>
          </p:nvPr>
        </p:nvSpPr>
        <p:spPr>
          <a:xfrm>
            <a:off x="4572000" y="2425500"/>
            <a:ext cx="3448200" cy="1461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31" name="Google Shape;131;p15"/>
          <p:cNvSpPr txBox="1">
            <a:spLocks noGrp="1"/>
          </p:cNvSpPr>
          <p:nvPr>
            <p:ph type="title" idx="2" hasCustomPrompt="1"/>
          </p:nvPr>
        </p:nvSpPr>
        <p:spPr>
          <a:xfrm>
            <a:off x="4572000" y="1196450"/>
            <a:ext cx="34482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5"/>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extLst>
      <p:ext uri="{BB962C8B-B14F-4D97-AF65-F5344CB8AC3E}">
        <p14:creationId xmlns:p14="http://schemas.microsoft.com/office/powerpoint/2010/main" val="23587256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1">
  <p:cSld name="Title and text 1">
    <p:bg>
      <p:bgPr>
        <a:solidFill>
          <a:schemeClr val="lt2"/>
        </a:solidFill>
        <a:effectLst/>
      </p:bgPr>
    </p:bg>
    <p:spTree>
      <p:nvGrpSpPr>
        <p:cNvPr id="1" name="Shape 142"/>
        <p:cNvGrpSpPr/>
        <p:nvPr/>
      </p:nvGrpSpPr>
      <p:grpSpPr>
        <a:xfrm>
          <a:off x="0" y="0"/>
          <a:ext cx="0" cy="0"/>
          <a:chOff x="0" y="0"/>
          <a:chExt cx="0" cy="0"/>
        </a:xfrm>
      </p:grpSpPr>
      <p:sp>
        <p:nvSpPr>
          <p:cNvPr id="149" name="Google Shape;149;p17"/>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l"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50" name="Google Shape;150;p17"/>
          <p:cNvSpPr txBox="1">
            <a:spLocks noGrp="1"/>
          </p:cNvSpPr>
          <p:nvPr>
            <p:ph type="body" idx="1"/>
          </p:nvPr>
        </p:nvSpPr>
        <p:spPr>
          <a:xfrm>
            <a:off x="715050" y="1245700"/>
            <a:ext cx="7713900" cy="3362700"/>
          </a:xfrm>
          <a:prstGeom prst="rect">
            <a:avLst/>
          </a:prstGeom>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accent4"/>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Tree>
    <p:extLst>
      <p:ext uri="{BB962C8B-B14F-4D97-AF65-F5344CB8AC3E}">
        <p14:creationId xmlns:p14="http://schemas.microsoft.com/office/powerpoint/2010/main" val="41840280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1">
  <p:cSld name="Title only 1">
    <p:bg>
      <p:bgPr>
        <a:solidFill>
          <a:schemeClr val="lt2"/>
        </a:solidFill>
        <a:effectLst/>
      </p:bgPr>
    </p:bg>
    <p:spTree>
      <p:nvGrpSpPr>
        <p:cNvPr id="1" name="Shape 161"/>
        <p:cNvGrpSpPr/>
        <p:nvPr/>
      </p:nvGrpSpPr>
      <p:grpSpPr>
        <a:xfrm>
          <a:off x="0" y="0"/>
          <a:ext cx="0" cy="0"/>
          <a:chOff x="0" y="0"/>
          <a:chExt cx="0" cy="0"/>
        </a:xfrm>
      </p:grpSpPr>
      <p:sp>
        <p:nvSpPr>
          <p:cNvPr id="168" name="Google Shape;168;p19"/>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Clr>
                <a:schemeClr val="dk1"/>
              </a:buClr>
              <a:buSzPts val="3500"/>
              <a:buFont typeface="Poppins Black" panose="00000800000000000000"/>
              <a:buNone/>
              <a:defRPr>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Tree>
    <p:extLst>
      <p:ext uri="{BB962C8B-B14F-4D97-AF65-F5344CB8AC3E}">
        <p14:creationId xmlns:p14="http://schemas.microsoft.com/office/powerpoint/2010/main" val="25177017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194"/>
        <p:cNvGrpSpPr/>
        <p:nvPr/>
      </p:nvGrpSpPr>
      <p:grpSpPr>
        <a:xfrm>
          <a:off x="0" y="0"/>
          <a:ext cx="0" cy="0"/>
          <a:chOff x="0" y="0"/>
          <a:chExt cx="0" cy="0"/>
        </a:xfrm>
      </p:grpSpPr>
      <p:sp>
        <p:nvSpPr>
          <p:cNvPr id="195" name="Google Shape;195;p25"/>
          <p:cNvSpPr txBox="1">
            <a:spLocks noGrp="1"/>
          </p:cNvSpPr>
          <p:nvPr>
            <p:ph type="title"/>
          </p:nvPr>
        </p:nvSpPr>
        <p:spPr>
          <a:xfrm>
            <a:off x="716700" y="510900"/>
            <a:ext cx="7710600" cy="482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Arial" panose="020B0604020202020204"/>
              <a:buNone/>
              <a:defRPr>
                <a:solidFill>
                  <a:schemeClr val="lt1"/>
                </a:solidFill>
                <a:latin typeface="Arial" panose="020B0604020202020204"/>
                <a:ea typeface="Arial" panose="020B0604020202020204"/>
                <a:cs typeface="Arial" panose="020B0604020202020204"/>
                <a:sym typeface="Arial" panose="020B0604020202020204"/>
              </a:defRPr>
            </a:lvl1pPr>
            <a:lvl2pPr lvl="1"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2pPr>
            <a:lvl3pPr lvl="2"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3pPr>
            <a:lvl4pPr lvl="3"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4pPr>
            <a:lvl5pPr lvl="4"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5pPr>
            <a:lvl6pPr lvl="5"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6pPr>
            <a:lvl7pPr lvl="6"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7pPr>
            <a:lvl8pPr lvl="7"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8pPr>
            <a:lvl9pPr lvl="8"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9pPr>
          </a:lstStyle>
          <a:p>
            <a:endParaRPr/>
          </a:p>
        </p:txBody>
      </p:sp>
    </p:spTree>
    <p:extLst>
      <p:ext uri="{BB962C8B-B14F-4D97-AF65-F5344CB8AC3E}">
        <p14:creationId xmlns:p14="http://schemas.microsoft.com/office/powerpoint/2010/main" val="3124673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Rectangle 6"/>
          <p:cNvSpPr/>
          <p:nvPr/>
        </p:nvSpPr>
        <p:spPr>
          <a:xfrm>
            <a:off x="176022" y="178308"/>
            <a:ext cx="8791956" cy="4786884"/>
          </a:xfrm>
          <a:prstGeom prst="rect">
            <a:avLst/>
          </a:prstGeom>
          <a:solidFill>
            <a:schemeClr val="tx1"/>
          </a:solidFill>
          <a:ln w="6350" cap="flat" cmpd="sng" algn="ctr">
            <a:solidFill>
              <a:schemeClr val="tx1">
                <a:lumMod val="75000"/>
              </a:schemeClr>
            </a:solidFill>
            <a:prstDash val="solid"/>
          </a:ln>
          <a:effectLst>
            <a:softEdge rad="0"/>
          </a:effectLst>
        </p:spPr>
      </p:sp>
      <p:sp>
        <p:nvSpPr>
          <p:cNvPr id="8" name="Rectangle 7"/>
          <p:cNvSpPr/>
          <p:nvPr/>
        </p:nvSpPr>
        <p:spPr>
          <a:xfrm>
            <a:off x="278892" y="281178"/>
            <a:ext cx="8586216" cy="4581144"/>
          </a:xfrm>
          <a:prstGeom prst="rect">
            <a:avLst/>
          </a:prstGeom>
          <a:solidFill>
            <a:schemeClr val="bg2"/>
          </a:solidFill>
          <a:ln w="6350" cap="sq" cmpd="sng" algn="ctr">
            <a:noFill/>
            <a:prstDash val="solid"/>
            <a:miter lim="800000"/>
          </a:ln>
          <a:effectLst/>
        </p:spPr>
      </p:sp>
      <p:sp>
        <p:nvSpPr>
          <p:cNvPr id="2" name="Title Placeholder 1"/>
          <p:cNvSpPr>
            <a:spLocks noGrp="1"/>
          </p:cNvSpPr>
          <p:nvPr>
            <p:ph type="title"/>
          </p:nvPr>
        </p:nvSpPr>
        <p:spPr>
          <a:xfrm>
            <a:off x="800100" y="481946"/>
            <a:ext cx="7543800" cy="10287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00100" y="1577340"/>
            <a:ext cx="7543800" cy="294894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92098" y="4660901"/>
            <a:ext cx="2057400" cy="192024"/>
          </a:xfrm>
          <a:prstGeom prst="rect">
            <a:avLst/>
          </a:prstGeom>
        </p:spPr>
        <p:txBody>
          <a:bodyPr vert="horz" lIns="91440" tIns="45720" rIns="91440" bIns="45720" rtlCol="0" anchor="b"/>
          <a:lstStyle>
            <a:lvl1pPr algn="l">
              <a:defRPr sz="750">
                <a:solidFill>
                  <a:schemeClr val="bg2"/>
                </a:solidFill>
              </a:defRPr>
            </a:lvl1pPr>
          </a:lstStyle>
          <a:p>
            <a:fld id="{6C5516DA-9D86-4E1E-A623-C11F9F74EB59}" type="datetimeFigureOut">
              <a:rPr lang="en-US" smtClean="0"/>
              <a:t>11/18/2025</a:t>
            </a:fld>
            <a:endParaRPr lang="en-US" dirty="0"/>
          </a:p>
        </p:txBody>
      </p:sp>
      <p:sp>
        <p:nvSpPr>
          <p:cNvPr id="5" name="Footer Placeholder 4"/>
          <p:cNvSpPr>
            <a:spLocks noGrp="1"/>
          </p:cNvSpPr>
          <p:nvPr>
            <p:ph type="ftr" sz="quarter" idx="3"/>
          </p:nvPr>
        </p:nvSpPr>
        <p:spPr>
          <a:xfrm>
            <a:off x="2617470" y="4660901"/>
            <a:ext cx="3909060" cy="192024"/>
          </a:xfrm>
          <a:prstGeom prst="rect">
            <a:avLst/>
          </a:prstGeom>
        </p:spPr>
        <p:txBody>
          <a:bodyPr vert="horz" lIns="91440" tIns="45720" rIns="91440" bIns="45720" rtlCol="0" anchor="b"/>
          <a:lstStyle>
            <a:lvl1pPr algn="ctr">
              <a:defRPr sz="750">
                <a:solidFill>
                  <a:schemeClr val="bg2"/>
                </a:solidFill>
              </a:defRPr>
            </a:lvl1pPr>
          </a:lstStyle>
          <a:p>
            <a:endParaRPr lang="en-US" dirty="0"/>
          </a:p>
        </p:txBody>
      </p:sp>
      <p:sp>
        <p:nvSpPr>
          <p:cNvPr id="6" name="Slide Number Placeholder 5"/>
          <p:cNvSpPr>
            <a:spLocks noGrp="1"/>
          </p:cNvSpPr>
          <p:nvPr>
            <p:ph type="sldNum" sz="quarter" idx="4"/>
          </p:nvPr>
        </p:nvSpPr>
        <p:spPr>
          <a:xfrm>
            <a:off x="7761401" y="4660901"/>
            <a:ext cx="1097280" cy="192024"/>
          </a:xfrm>
          <a:prstGeom prst="rect">
            <a:avLst/>
          </a:prstGeom>
        </p:spPr>
        <p:txBody>
          <a:bodyPr vert="horz" lIns="91440" tIns="45720" rIns="91440" bIns="45720" rtlCol="0" anchor="b"/>
          <a:lstStyle>
            <a:lvl1pPr algn="r">
              <a:defRPr sz="750">
                <a:solidFill>
                  <a:schemeClr val="bg2"/>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589127636"/>
      </p:ext>
    </p:extLst>
  </p:cSld>
  <p:clrMap bg1="dk1" tx1="lt1" bg2="dk2" tx2="lt2" accent1="accent1" accent2="accent2" accent3="accent3" accent4="accent4" accent5="accent5" accent6="accent6" hlink="hlink" folHlink="folHlink"/>
  <p:sldLayoutIdLst>
    <p:sldLayoutId id="2147484231" r:id="rId1"/>
    <p:sldLayoutId id="2147484232" r:id="rId2"/>
    <p:sldLayoutId id="2147484233" r:id="rId3"/>
    <p:sldLayoutId id="2147484234" r:id="rId4"/>
    <p:sldLayoutId id="2147484235" r:id="rId5"/>
    <p:sldLayoutId id="2147484236" r:id="rId6"/>
    <p:sldLayoutId id="2147484237" r:id="rId7"/>
    <p:sldLayoutId id="2147484238" r:id="rId8"/>
    <p:sldLayoutId id="2147484239" r:id="rId9"/>
    <p:sldLayoutId id="2147484240" r:id="rId10"/>
    <p:sldLayoutId id="2147484241" r:id="rId11"/>
    <p:sldLayoutId id="2147484242" r:id="rId12"/>
    <p:sldLayoutId id="2147484243" r:id="rId13"/>
    <p:sldLayoutId id="2147484244" r:id="rId14"/>
    <p:sldLayoutId id="2147484245" r:id="rId15"/>
    <p:sldLayoutId id="2147484246" r:id="rId16"/>
    <p:sldLayoutId id="2147484247" r:id="rId17"/>
    <p:sldLayoutId id="2147484248" r:id="rId18"/>
    <p:sldLayoutId id="2147484249" r:id="rId19"/>
    <p:sldLayoutId id="2147484250" r:id="rId20"/>
    <p:sldLayoutId id="2147484251" r:id="rId21"/>
  </p:sldLayoutIdLst>
  <p:hf hdr="0" ftr="0" dt="0"/>
  <p:txStyles>
    <p:titleStyle>
      <a:lvl1pPr algn="l" defTabSz="685800" rtl="0" eaLnBrk="1" latinLnBrk="0" hangingPunct="1">
        <a:lnSpc>
          <a:spcPct val="90000"/>
        </a:lnSpc>
        <a:spcBef>
          <a:spcPct val="0"/>
        </a:spcBef>
        <a:buNone/>
        <a:defRPr lang="en-US" sz="3600" kern="1200" cap="none" spc="0" baseline="0" dirty="0">
          <a:solidFill>
            <a:schemeClr val="tx1"/>
          </a:solidFill>
          <a:effectLst/>
          <a:latin typeface="+mj-lt"/>
          <a:ea typeface="+mn-ea"/>
          <a:cs typeface="+mn-cs"/>
        </a:defRPr>
      </a:lvl1pPr>
    </p:titleStyle>
    <p:bodyStyle>
      <a:lvl1pPr marL="137160" indent="-137160" algn="l" defTabSz="685800" rtl="0" eaLnBrk="1" latinLnBrk="0" hangingPunct="1">
        <a:lnSpc>
          <a:spcPct val="100000"/>
        </a:lnSpc>
        <a:spcBef>
          <a:spcPts val="675"/>
        </a:spcBef>
        <a:spcAft>
          <a:spcPts val="0"/>
        </a:spcAft>
        <a:buClr>
          <a:schemeClr val="tx2">
            <a:lumMod val="60000"/>
            <a:lumOff val="40000"/>
          </a:schemeClr>
        </a:buClr>
        <a:buFont typeface="Arial" pitchFamily="34" charset="0"/>
        <a:buChar char="•"/>
        <a:defRPr sz="1350" kern="1200">
          <a:solidFill>
            <a:schemeClr val="tx1"/>
          </a:solidFill>
          <a:latin typeface="+mn-lt"/>
          <a:ea typeface="+mn-ea"/>
          <a:cs typeface="+mn-cs"/>
        </a:defRPr>
      </a:lvl1pPr>
      <a:lvl2pPr marL="342900" indent="-137160" algn="l" defTabSz="685800" rtl="0" eaLnBrk="1" latinLnBrk="0" hangingPunct="1">
        <a:lnSpc>
          <a:spcPct val="100000"/>
        </a:lnSpc>
        <a:spcBef>
          <a:spcPts val="375"/>
        </a:spcBef>
        <a:buClr>
          <a:schemeClr val="tx2">
            <a:lumMod val="60000"/>
            <a:lumOff val="40000"/>
          </a:schemeClr>
        </a:buClr>
        <a:buFont typeface="Arial" pitchFamily="34" charset="0"/>
        <a:buChar char="•"/>
        <a:defRPr sz="1200" kern="1200">
          <a:solidFill>
            <a:schemeClr val="tx1"/>
          </a:solidFill>
          <a:latin typeface="+mn-lt"/>
          <a:ea typeface="+mn-ea"/>
          <a:cs typeface="+mn-cs"/>
        </a:defRPr>
      </a:lvl2pPr>
      <a:lvl3pPr marL="548640" indent="-13716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tx1"/>
          </a:solidFill>
          <a:latin typeface="+mn-lt"/>
          <a:ea typeface="+mn-ea"/>
          <a:cs typeface="+mn-cs"/>
        </a:defRPr>
      </a:lvl3pPr>
      <a:lvl4pPr marL="754380" indent="-13716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tx1"/>
          </a:solidFill>
          <a:latin typeface="+mn-lt"/>
          <a:ea typeface="+mn-ea"/>
          <a:cs typeface="+mn-cs"/>
        </a:defRPr>
      </a:lvl4pPr>
      <a:lvl5pPr marL="960120" indent="-13716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tx1"/>
          </a:solidFill>
          <a:latin typeface="+mn-lt"/>
          <a:ea typeface="+mn-ea"/>
          <a:cs typeface="+mn-cs"/>
        </a:defRPr>
      </a:lvl5pPr>
      <a:lvl6pPr marL="1200000" indent="-17145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bg1"/>
          </a:solidFill>
          <a:latin typeface="+mn-lt"/>
          <a:ea typeface="+mn-ea"/>
          <a:cs typeface="+mn-cs"/>
        </a:defRPr>
      </a:lvl6pPr>
      <a:lvl7pPr marL="1425000" indent="-17145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bg1"/>
          </a:solidFill>
          <a:latin typeface="+mn-lt"/>
          <a:ea typeface="+mn-ea"/>
          <a:cs typeface="+mn-cs"/>
        </a:defRPr>
      </a:lvl7pPr>
      <a:lvl8pPr marL="1650000" indent="-17145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bg1"/>
          </a:solidFill>
          <a:latin typeface="+mn-lt"/>
          <a:ea typeface="+mn-ea"/>
          <a:cs typeface="+mn-cs"/>
        </a:defRPr>
      </a:lvl8pPr>
      <a:lvl9pPr marL="1875000" indent="-17145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bg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0.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0.xml"/></Relationships>
</file>

<file path=ppt/slides/_rels/slide81.xml.rels><?xml version="1.0" encoding="UTF-8" standalone="yes"?>
<Relationships xmlns="http://schemas.openxmlformats.org/package/2006/relationships"><Relationship Id="rId3" Type="http://schemas.openxmlformats.org/officeDocument/2006/relationships/hyperlink" Target="https://doi.org/10.1561/2200000083" TargetMode="External"/><Relationship Id="rId2" Type="http://schemas.openxmlformats.org/officeDocument/2006/relationships/hyperlink" Target="https://arxiv.org/abs/1602.05629" TargetMode="External"/><Relationship Id="rId1" Type="http://schemas.openxmlformats.org/officeDocument/2006/relationships/slideLayout" Target="../slideLayouts/slideLayout7.xml"/><Relationship Id="rId5" Type="http://schemas.openxmlformats.org/officeDocument/2006/relationships/hyperlink" Target="https://doi.org/10.1109/MCOM.001.1900831" TargetMode="External"/><Relationship Id="rId4" Type="http://schemas.openxmlformats.org/officeDocument/2006/relationships/hyperlink" Target="https://doi.org/10.1109/MNET.001.1900664" TargetMode="External"/></Relationships>
</file>

<file path=ppt/slides/_rels/slide82.xml.rels><?xml version="1.0" encoding="UTF-8" standalone="yes"?>
<Relationships xmlns="http://schemas.openxmlformats.org/package/2006/relationships"><Relationship Id="rId3" Type="http://schemas.openxmlformats.org/officeDocument/2006/relationships/hyperlink" Target="https://doi.org/10.1109/MSP.2020.2975749" TargetMode="External"/><Relationship Id="rId2" Type="http://schemas.openxmlformats.org/officeDocument/2006/relationships/hyperlink" Target="https://doi.org/10.1109/MWC.001.1900323" TargetMode="External"/><Relationship Id="rId1" Type="http://schemas.openxmlformats.org/officeDocument/2006/relationships/slideLayout" Target="../slideLayouts/slideLayout2.xml"/><Relationship Id="rId4" Type="http://schemas.openxmlformats.org/officeDocument/2006/relationships/hyperlink" Target="https://doi.org/10.1109/TWC.2019.2948977" TargetMode="Externa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368" name="Google Shape;368;p26"/>
          <p:cNvSpPr/>
          <p:nvPr/>
        </p:nvSpPr>
        <p:spPr>
          <a:xfrm rot="10800000">
            <a:off x="356223" y="41240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6"/>
          <p:cNvSpPr/>
          <p:nvPr/>
        </p:nvSpPr>
        <p:spPr>
          <a:xfrm>
            <a:off x="7499773" y="3389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p:cNvSpPr/>
          <p:nvPr/>
        </p:nvSpPr>
        <p:spPr>
          <a:xfrm>
            <a:off x="2307021" y="1372496"/>
            <a:ext cx="4572000" cy="1200329"/>
          </a:xfrm>
          <a:prstGeom prst="rect">
            <a:avLst/>
          </a:prstGeom>
        </p:spPr>
        <p:txBody>
          <a:bodyPr>
            <a:spAutoFit/>
          </a:bodyPr>
          <a:lstStyle/>
          <a:p>
            <a:pPr algn="ctr">
              <a:lnSpc>
                <a:spcPct val="200000"/>
              </a:lnSpc>
              <a:spcAft>
                <a:spcPts val="800"/>
              </a:spcAft>
            </a:pPr>
            <a:r>
              <a:rPr lang="en-IN" b="1" dirty="0">
                <a:latin typeface="Times New Roman" panose="02020603050405020304" pitchFamily="18" charset="0"/>
                <a:ea typeface="Calibri" panose="020F0502020204030204" pitchFamily="34" charset="0"/>
                <a:cs typeface="Times New Roman" panose="02020603050405020304" pitchFamily="18" charset="0"/>
              </a:rPr>
              <a:t>Federated Learning for 6G Networks Navigating Privacy Benefits and Challenges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9" name="Google Shape;379;p27"/>
          <p:cNvSpPr txBox="1">
            <a:spLocks noGrp="1"/>
          </p:cNvSpPr>
          <p:nvPr>
            <p:ph type="title" idx="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400" dirty="0">
                <a:solidFill>
                  <a:schemeClr val="tx1"/>
                </a:solidFill>
              </a:rPr>
              <a:t>Contents of the presentation</a:t>
            </a:r>
            <a:endParaRPr sz="2400" dirty="0">
              <a:solidFill>
                <a:schemeClr val="tx1"/>
              </a:solidFill>
            </a:endParaRPr>
          </a:p>
        </p:txBody>
      </p:sp>
      <p:sp>
        <p:nvSpPr>
          <p:cNvPr id="385" name="Google Shape;385;p27"/>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7"/>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TextBox 7"/>
          <p:cNvSpPr txBox="1"/>
          <p:nvPr/>
        </p:nvSpPr>
        <p:spPr>
          <a:xfrm>
            <a:off x="1645585" y="1245700"/>
            <a:ext cx="2544418" cy="3970318"/>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Project Description</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Problem Statement</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Objective</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Scope</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Literature Survey</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Significant</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Existing and Proposed System</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Project flow</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Resource Requirements</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Architecture</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UMLS</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Research Gap analysis</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Implementation</a:t>
            </a:r>
          </a:p>
          <a:p>
            <a:pPr marL="342900" indent="-342900" algn="just">
              <a:lnSpc>
                <a:spcPct val="150000"/>
              </a:lnSpc>
              <a:buFont typeface="Wingdings" panose="05000000000000000000" pitchFamily="2" charset="2"/>
              <a:buChar char="ü"/>
            </a:pPr>
            <a:endParaRPr lang="en-IN" sz="1200" dirty="0">
              <a:latin typeface="Times New Roman" panose="02020603050405020304" pitchFamily="18" charset="0"/>
              <a:cs typeface="Times New Roman" panose="02020603050405020304" pitchFamily="18" charset="0"/>
            </a:endParaRPr>
          </a:p>
        </p:txBody>
      </p:sp>
      <p:sp>
        <p:nvSpPr>
          <p:cNvPr id="23" name="TextBox 22"/>
          <p:cNvSpPr txBox="1"/>
          <p:nvPr/>
        </p:nvSpPr>
        <p:spPr>
          <a:xfrm>
            <a:off x="4414920" y="1115782"/>
            <a:ext cx="3728172" cy="3693319"/>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Implementation</a:t>
            </a:r>
          </a:p>
          <a:p>
            <a:pPr marL="8001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1. Data Description</a:t>
            </a:r>
          </a:p>
          <a:p>
            <a:pPr marL="8001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2. EDA Explanation</a:t>
            </a:r>
          </a:p>
          <a:p>
            <a:pPr marL="8001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3. Preprocessing steps</a:t>
            </a: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Model Implementation</a:t>
            </a:r>
          </a:p>
          <a:p>
            <a:pPr algn="just">
              <a:lnSpc>
                <a:spcPct val="150000"/>
              </a:lnSpc>
            </a:pPr>
            <a:r>
              <a:rPr lang="en-US" sz="1200" dirty="0">
                <a:latin typeface="Times New Roman" panose="02020603050405020304" pitchFamily="18" charset="0"/>
                <a:cs typeface="Times New Roman" panose="02020603050405020304" pitchFamily="18" charset="0"/>
              </a:rPr>
              <a:t>	1. Algorithm Definition</a:t>
            </a:r>
          </a:p>
          <a:p>
            <a:pPr algn="just">
              <a:lnSpc>
                <a:spcPct val="150000"/>
              </a:lnSpc>
            </a:pPr>
            <a:r>
              <a:rPr lang="en-US" sz="1200" dirty="0">
                <a:latin typeface="Times New Roman" panose="02020603050405020304" pitchFamily="18" charset="0"/>
                <a:cs typeface="Times New Roman" panose="02020603050405020304" pitchFamily="18" charset="0"/>
              </a:rPr>
              <a:t>	2. working Process</a:t>
            </a:r>
          </a:p>
          <a:p>
            <a:pPr algn="just">
              <a:lnSpc>
                <a:spcPct val="150000"/>
              </a:lnSpc>
            </a:pPr>
            <a:r>
              <a:rPr lang="en-US" sz="1200" dirty="0">
                <a:latin typeface="Times New Roman" panose="02020603050405020304" pitchFamily="18" charset="0"/>
                <a:cs typeface="Times New Roman" panose="02020603050405020304" pitchFamily="18" charset="0"/>
              </a:rPr>
              <a:t>	3. Results from Algorithm</a:t>
            </a: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Performance comparison</a:t>
            </a: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Output Screen</a:t>
            </a: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Future Scope</a:t>
            </a: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Conclusion</a:t>
            </a:r>
          </a:p>
          <a:p>
            <a:pPr marL="342900" lvl="1" indent="-342900" algn="just">
              <a:lnSpc>
                <a:spcPct val="150000"/>
              </a:lnSpc>
              <a:buFont typeface="Wingdings" panose="05000000000000000000" pitchFamily="2" charset="2"/>
              <a:buChar char="ü"/>
            </a:pPr>
            <a:r>
              <a:rPr lang="en-US" sz="1200" dirty="0" err="1">
                <a:latin typeface="Times New Roman" panose="02020603050405020304" pitchFamily="18" charset="0"/>
                <a:cs typeface="Times New Roman" panose="02020603050405020304" pitchFamily="18" charset="0"/>
              </a:rPr>
              <a:t>refferences</a:t>
            </a:r>
            <a:endParaRPr lang="en-IN"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8" name="Google Shape;398;p28"/>
          <p:cNvSpPr txBox="1">
            <a:spLocks noGrp="1"/>
          </p:cNvSpPr>
          <p:nvPr>
            <p:ph type="title"/>
          </p:nvPr>
        </p:nvSpPr>
        <p:spPr>
          <a:xfrm>
            <a:off x="788934" y="371079"/>
            <a:ext cx="7586870" cy="539957"/>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400" dirty="0">
                <a:latin typeface="Times New Roman" panose="02020603050405020304" pitchFamily="18" charset="0"/>
                <a:cs typeface="Times New Roman" panose="02020603050405020304" pitchFamily="18" charset="0"/>
              </a:rPr>
              <a:t>Project Description</a:t>
            </a:r>
            <a:endParaRPr sz="2400" dirty="0">
              <a:latin typeface="Times New Roman" panose="02020603050405020304" pitchFamily="18" charset="0"/>
              <a:cs typeface="Times New Roman" panose="02020603050405020304" pitchFamily="18" charset="0"/>
            </a:endParaRPr>
          </a:p>
        </p:txBody>
      </p:sp>
      <p:sp>
        <p:nvSpPr>
          <p:cNvPr id="659" name="Google Shape;659;p28"/>
          <p:cNvSpPr/>
          <p:nvPr/>
        </p:nvSpPr>
        <p:spPr>
          <a:xfrm>
            <a:off x="947688" y="3637822"/>
            <a:ext cx="175949" cy="172239"/>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28"/>
          <p:cNvSpPr/>
          <p:nvPr/>
        </p:nvSpPr>
        <p:spPr>
          <a:xfrm rot="10800000">
            <a:off x="356223" y="41240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8"/>
          <p:cNvSpPr/>
          <p:nvPr/>
        </p:nvSpPr>
        <p:spPr>
          <a:xfrm>
            <a:off x="7499773" y="3389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1249916" y="987865"/>
            <a:ext cx="6893845" cy="3285323"/>
          </a:xfrm>
          <a:prstGeom prst="rect">
            <a:avLst/>
          </a:prstGeom>
          <a:noFill/>
        </p:spPr>
        <p:txBody>
          <a:bodyPr wrap="square" rtlCol="0">
            <a:spAutoFit/>
          </a:bodyPr>
          <a:lstStyle/>
          <a:p>
            <a:pPr algn="just">
              <a:lnSpc>
                <a:spcPct val="150000"/>
              </a:lnSpc>
            </a:pPr>
            <a:r>
              <a:rPr lang="en-IN" sz="1400" dirty="0">
                <a:latin typeface="Times New Roman" panose="02020603050405020304" pitchFamily="18" charset="0"/>
                <a:cs typeface="Times New Roman" panose="02020603050405020304" pitchFamily="18" charset="0"/>
              </a:rPr>
              <a:t>The next generation of wireless communication, 6G, is expected to interconnect billions of ultra‑intelligent devices and deliver sub‑millisecond latency for immersive applications such as holographic telepresence and autonomous mobility. Traditional cloud‑centric AI pipelines cannot scale to this setting because continuous raw‑data transfer overloads backhaul links and exposes sensitive user information. To address this gap, our project implements a </a:t>
            </a:r>
            <a:r>
              <a:rPr lang="en-IN" sz="1400" b="1" dirty="0">
                <a:latin typeface="Times New Roman" panose="02020603050405020304" pitchFamily="18" charset="0"/>
                <a:cs typeface="Times New Roman" panose="02020603050405020304" pitchFamily="18" charset="0"/>
              </a:rPr>
              <a:t>federated‑learning (FL) framework</a:t>
            </a:r>
            <a:r>
              <a:rPr lang="en-IN" sz="1400" dirty="0">
                <a:latin typeface="Times New Roman" panose="02020603050405020304" pitchFamily="18" charset="0"/>
                <a:cs typeface="Times New Roman" panose="02020603050405020304" pitchFamily="18" charset="0"/>
              </a:rPr>
              <a:t> in which edge devices train models locally and share only encrypted weight updates with a coordinating server. We prototype the concept in a Flask web application that allows users to register, upload sample beamforming datasets, choose among six candidate algorithms (Random Forest, FNN, CNN, MLP, </a:t>
            </a:r>
            <a:r>
              <a:rPr lang="en-IN" sz="1400" dirty="0" err="1">
                <a:latin typeface="Times New Roman" panose="02020603050405020304" pitchFamily="18" charset="0"/>
                <a:cs typeface="Times New Roman" panose="02020603050405020304" pitchFamily="18" charset="0"/>
              </a:rPr>
              <a:t>XGBoost</a:t>
            </a:r>
            <a:r>
              <a:rPr lang="en-IN" sz="1400" dirty="0">
                <a:latin typeface="Times New Roman" panose="02020603050405020304" pitchFamily="18" charset="0"/>
                <a:cs typeface="Times New Roman" panose="02020603050405020304" pitchFamily="18" charset="0"/>
              </a:rPr>
              <a:t>, Decision Tree), and receive real‑time prediction feedback on 6G beam‑forming success</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8" name="Google Shape;398;p28"/>
          <p:cNvSpPr txBox="1">
            <a:spLocks noGrp="1"/>
          </p:cNvSpPr>
          <p:nvPr>
            <p:ph type="title"/>
          </p:nvPr>
        </p:nvSpPr>
        <p:spPr>
          <a:xfrm>
            <a:off x="510551" y="411883"/>
            <a:ext cx="7586870" cy="72858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400" dirty="0">
                <a:latin typeface="Times New Roman" panose="02020603050405020304" pitchFamily="18" charset="0"/>
                <a:cs typeface="Times New Roman" panose="02020603050405020304" pitchFamily="18" charset="0"/>
              </a:rPr>
              <a:t>Project Description</a:t>
            </a:r>
            <a:endParaRPr sz="2400" dirty="0">
              <a:latin typeface="Times New Roman" panose="02020603050405020304" pitchFamily="18" charset="0"/>
              <a:cs typeface="Times New Roman" panose="02020603050405020304" pitchFamily="18" charset="0"/>
            </a:endParaRPr>
          </a:p>
        </p:txBody>
      </p:sp>
      <p:sp>
        <p:nvSpPr>
          <p:cNvPr id="660" name="Google Shape;660;p28"/>
          <p:cNvSpPr/>
          <p:nvPr/>
        </p:nvSpPr>
        <p:spPr>
          <a:xfrm rot="10800000">
            <a:off x="356223" y="41240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8"/>
          <p:cNvSpPr/>
          <p:nvPr/>
        </p:nvSpPr>
        <p:spPr>
          <a:xfrm>
            <a:off x="7499773" y="3389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1148328" y="1455033"/>
            <a:ext cx="7438623" cy="2354491"/>
          </a:xfrm>
          <a:prstGeom prst="rect">
            <a:avLst/>
          </a:prstGeom>
          <a:noFill/>
        </p:spPr>
        <p:txBody>
          <a:bodyPr wrap="square" rtlCol="0">
            <a:spAutoFit/>
          </a:bodyPr>
          <a:lstStyle/>
          <a:p>
            <a:pPr algn="just"/>
            <a:r>
              <a:rPr lang="en-IN" sz="1400" dirty="0">
                <a:latin typeface="Times New Roman" panose="02020603050405020304" pitchFamily="18" charset="0"/>
                <a:cs typeface="Times New Roman" panose="02020603050405020304" pitchFamily="18" charset="0"/>
              </a:rPr>
              <a:t>The back‑end simulates an FL round by averaging locally derived model parameters, demonstrating up to </a:t>
            </a:r>
            <a:r>
              <a:rPr lang="en-IN" sz="1400" b="1" dirty="0">
                <a:latin typeface="Times New Roman" panose="02020603050405020304" pitchFamily="18" charset="0"/>
                <a:cs typeface="Times New Roman" panose="02020603050405020304" pitchFamily="18" charset="0"/>
              </a:rPr>
              <a:t>100 % accuracy</a:t>
            </a:r>
            <a:r>
              <a:rPr lang="en-IN" sz="1400" dirty="0">
                <a:latin typeface="Times New Roman" panose="02020603050405020304" pitchFamily="18" charset="0"/>
                <a:cs typeface="Times New Roman" panose="02020603050405020304" pitchFamily="18" charset="0"/>
              </a:rPr>
              <a:t> for tree‑based ensembles while preserving data sovereignty. We also quantify communication savings, latency reductions, and resistance to data‑reconstruction attacks compared with centralized training. Nonetheless, challenges emerge: </a:t>
            </a:r>
            <a:r>
              <a:rPr lang="en-IN" sz="1400" b="1" dirty="0">
                <a:latin typeface="Times New Roman" panose="02020603050405020304" pitchFamily="18" charset="0"/>
                <a:cs typeface="Times New Roman" panose="02020603050405020304" pitchFamily="18" charset="0"/>
              </a:rPr>
              <a:t>non‑IID data distributions, straggler devices, model poisoning,</a:t>
            </a:r>
            <a:r>
              <a:rPr lang="en-IN" sz="1400" dirty="0">
                <a:latin typeface="Times New Roman" panose="02020603050405020304" pitchFamily="18" charset="0"/>
                <a:cs typeface="Times New Roman" panose="02020603050405020304" pitchFamily="18" charset="0"/>
              </a:rPr>
              <a:t> and the need for fine‑grained incentive mechanisms. Our findings suggest that integrating differential privacy, secure aggregation, and </a:t>
            </a:r>
            <a:r>
              <a:rPr lang="en-IN" sz="1400" dirty="0" err="1">
                <a:latin typeface="Times New Roman" panose="02020603050405020304" pitchFamily="18" charset="0"/>
                <a:cs typeface="Times New Roman" panose="02020603050405020304" pitchFamily="18" charset="0"/>
              </a:rPr>
              <a:t>blockchain</a:t>
            </a:r>
            <a:r>
              <a:rPr lang="en-IN" sz="1400" dirty="0">
                <a:latin typeface="Times New Roman" panose="02020603050405020304" pitchFamily="18" charset="0"/>
                <a:cs typeface="Times New Roman" panose="02020603050405020304" pitchFamily="18" charset="0"/>
              </a:rPr>
              <a:t>‑based audit trails will be crucial for trustworthy, large‑scale FL deployment in 6G ecosystems.</a:t>
            </a:r>
          </a:p>
          <a:p>
            <a:pPr algn="just"/>
            <a:r>
              <a:rPr lang="en-IN" sz="1400" b="1" dirty="0">
                <a:latin typeface="Times New Roman" panose="02020603050405020304" pitchFamily="18" charset="0"/>
                <a:cs typeface="Times New Roman" panose="02020603050405020304" pitchFamily="18" charset="0"/>
              </a:rPr>
              <a:t>Keywords:</a:t>
            </a:r>
            <a:r>
              <a:rPr lang="en-IN" sz="1400" dirty="0">
                <a:latin typeface="Times New Roman" panose="02020603050405020304" pitchFamily="18" charset="0"/>
                <a:cs typeface="Times New Roman" panose="02020603050405020304" pitchFamily="18" charset="0"/>
              </a:rPr>
              <a:t> 6G, Federated Learning, Edge AI, Privacy‑Preserving Training, Beamforming Prediction, Secure Aggregation</a:t>
            </a:r>
          </a:p>
          <a:p>
            <a:pPr algn="just">
              <a:lnSpc>
                <a:spcPct val="150000"/>
              </a:lnSpc>
            </a:pP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8" name="Google Shape;398;p28"/>
          <p:cNvSpPr txBox="1">
            <a:spLocks noGrp="1"/>
          </p:cNvSpPr>
          <p:nvPr>
            <p:ph type="title"/>
          </p:nvPr>
        </p:nvSpPr>
        <p:spPr>
          <a:xfrm>
            <a:off x="510551" y="411883"/>
            <a:ext cx="7586870" cy="72858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400" dirty="0">
                <a:latin typeface="Times New Roman" panose="02020603050405020304" pitchFamily="18" charset="0"/>
                <a:cs typeface="Times New Roman" panose="02020603050405020304" pitchFamily="18" charset="0"/>
              </a:rPr>
              <a:t>Problem Statement</a:t>
            </a:r>
            <a:endParaRPr sz="2400" dirty="0">
              <a:latin typeface="Times New Roman" panose="02020603050405020304" pitchFamily="18" charset="0"/>
              <a:cs typeface="Times New Roman" panose="02020603050405020304" pitchFamily="18" charset="0"/>
            </a:endParaRPr>
          </a:p>
        </p:txBody>
      </p:sp>
      <p:sp>
        <p:nvSpPr>
          <p:cNvPr id="660" name="Google Shape;660;p28"/>
          <p:cNvSpPr/>
          <p:nvPr/>
        </p:nvSpPr>
        <p:spPr>
          <a:xfrm rot="10800000">
            <a:off x="356223" y="41240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8"/>
          <p:cNvSpPr/>
          <p:nvPr/>
        </p:nvSpPr>
        <p:spPr>
          <a:xfrm>
            <a:off x="7499773" y="3389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1263149" y="1307100"/>
            <a:ext cx="7166147" cy="3108543"/>
          </a:xfrm>
          <a:prstGeom prst="rect">
            <a:avLst/>
          </a:prstGeom>
          <a:noFill/>
        </p:spPr>
        <p:txBody>
          <a:bodyPr wrap="square" rtlCol="0">
            <a:spAutoFit/>
          </a:bodyPr>
          <a:lstStyle/>
          <a:p>
            <a:pPr algn="just"/>
            <a:r>
              <a:rPr lang="en-US" sz="1400" dirty="0">
                <a:latin typeface="Times New Roman" panose="02020603050405020304" pitchFamily="18" charset="0"/>
                <a:cs typeface="Times New Roman" panose="02020603050405020304" pitchFamily="18" charset="0"/>
              </a:rPr>
              <a:t>With the rise of </a:t>
            </a:r>
            <a:r>
              <a:rPr lang="en-US" sz="1400" b="1" dirty="0">
                <a:latin typeface="Times New Roman" panose="02020603050405020304" pitchFamily="18" charset="0"/>
                <a:cs typeface="Times New Roman" panose="02020603050405020304" pitchFamily="18" charset="0"/>
              </a:rPr>
              <a:t>6G communication systems</a:t>
            </a:r>
            <a:r>
              <a:rPr lang="en-US" sz="1400" dirty="0">
                <a:latin typeface="Times New Roman" panose="02020603050405020304" pitchFamily="18" charset="0"/>
                <a:cs typeface="Times New Roman" panose="02020603050405020304" pitchFamily="18" charset="0"/>
              </a:rPr>
              <a:t>, there is a growing need for real-time intelligence at the network edge while ensuring data privacy, low latency, and minimal network congestion. Traditional centralized AI models require large-scale raw data transfer to cloud servers, creating </a:t>
            </a:r>
            <a:r>
              <a:rPr lang="en-US" sz="1400" b="1" dirty="0">
                <a:latin typeface="Times New Roman" panose="02020603050405020304" pitchFamily="18" charset="0"/>
                <a:cs typeface="Times New Roman" panose="02020603050405020304" pitchFamily="18" charset="0"/>
              </a:rPr>
              <a:t>privacy risks</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increased latency</a:t>
            </a:r>
            <a:r>
              <a:rPr lang="en-US" sz="1400" dirty="0">
                <a:latin typeface="Times New Roman" panose="02020603050405020304" pitchFamily="18" charset="0"/>
                <a:cs typeface="Times New Roman" panose="02020603050405020304" pitchFamily="18" charset="0"/>
              </a:rPr>
              <a:t>, and </a:t>
            </a:r>
            <a:r>
              <a:rPr lang="en-US" sz="1400" b="1" dirty="0">
                <a:latin typeface="Times New Roman" panose="02020603050405020304" pitchFamily="18" charset="0"/>
                <a:cs typeface="Times New Roman" panose="02020603050405020304" pitchFamily="18" charset="0"/>
              </a:rPr>
              <a:t>network bottlenecks</a:t>
            </a:r>
            <a:r>
              <a:rPr lang="en-US" sz="1400" dirty="0">
                <a:latin typeface="Times New Roman" panose="02020603050405020304" pitchFamily="18" charset="0"/>
                <a:cs typeface="Times New Roman" panose="02020603050405020304" pitchFamily="18" charset="0"/>
              </a:rPr>
              <a:t>, especially in ultra-dense and delay-sensitive 6G scenarios. Additionally, sending sensitive data like beamforming parameters across networks poses serious compliance and ethical challenges. These factors render centralized architectures unsuitable for the demands of 6G. The problem lies in developing an </a:t>
            </a:r>
            <a:r>
              <a:rPr lang="en-US" sz="1400" b="1" dirty="0">
                <a:latin typeface="Times New Roman" panose="02020603050405020304" pitchFamily="18" charset="0"/>
                <a:cs typeface="Times New Roman" panose="02020603050405020304" pitchFamily="18" charset="0"/>
              </a:rPr>
              <a:t>AI-based solution</a:t>
            </a:r>
            <a:r>
              <a:rPr lang="en-US" sz="1400" dirty="0">
                <a:latin typeface="Times New Roman" panose="02020603050405020304" pitchFamily="18" charset="0"/>
                <a:cs typeface="Times New Roman" panose="02020603050405020304" pitchFamily="18" charset="0"/>
              </a:rPr>
              <a:t> that maintains performance without compromising data ownership or overloading communication links. This project addresses this problem by designing a </a:t>
            </a:r>
            <a:r>
              <a:rPr lang="en-US" sz="1400" b="1" dirty="0">
                <a:latin typeface="Times New Roman" panose="02020603050405020304" pitchFamily="18" charset="0"/>
                <a:cs typeface="Times New Roman" panose="02020603050405020304" pitchFamily="18" charset="0"/>
              </a:rPr>
              <a:t>Federated Learning-based solution</a:t>
            </a:r>
            <a:r>
              <a:rPr lang="en-US" sz="1400" dirty="0">
                <a:latin typeface="Times New Roman" panose="02020603050405020304" pitchFamily="18" charset="0"/>
                <a:cs typeface="Times New Roman" panose="02020603050405020304" pitchFamily="18" charset="0"/>
              </a:rPr>
              <a:t> where model training occurs on-device, and only encrypted updates are shared with a central aggregator. This approach drastically reduces privacy exposure and network usage while maintaining high model accuracy, scalability, and adaptability in heterogeneous network environments.</a:t>
            </a:r>
          </a:p>
          <a:p>
            <a:pPr algn="just"/>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29"/>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400" dirty="0">
                <a:solidFill>
                  <a:schemeClr val="tx1"/>
                </a:solidFill>
                <a:latin typeface="Times New Roman" panose="02020603050405020304" pitchFamily="18" charset="0"/>
                <a:cs typeface="Times New Roman" panose="02020603050405020304" pitchFamily="18" charset="0"/>
              </a:rPr>
              <a:t>Objective of the Project</a:t>
            </a:r>
            <a:endParaRPr sz="2400" dirty="0">
              <a:solidFill>
                <a:schemeClr val="tx1"/>
              </a:solidFill>
              <a:latin typeface="Times New Roman" panose="02020603050405020304" pitchFamily="18" charset="0"/>
              <a:cs typeface="Times New Roman" panose="02020603050405020304" pitchFamily="18" charset="0"/>
            </a:endParaRPr>
          </a:p>
        </p:txBody>
      </p:sp>
      <p:sp>
        <p:nvSpPr>
          <p:cNvPr id="3" name="Text Placeholder 2"/>
          <p:cNvSpPr>
            <a:spLocks noGrp="1" noChangeArrowheads="1"/>
          </p:cNvSpPr>
          <p:nvPr>
            <p:ph type="body" idx="1"/>
          </p:nvPr>
        </p:nvSpPr>
        <p:spPr bwMode="auto">
          <a:xfrm>
            <a:off x="1070598" y="1395153"/>
            <a:ext cx="7358402"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146050" indent="0" algn="just">
              <a:buNone/>
            </a:pPr>
            <a:r>
              <a:rPr lang="en-US" sz="1400" dirty="0">
                <a:solidFill>
                  <a:schemeClr val="tx1"/>
                </a:solidFill>
                <a:latin typeface="Times New Roman" panose="02020603050405020304" pitchFamily="18" charset="0"/>
                <a:cs typeface="Times New Roman" panose="02020603050405020304" pitchFamily="18" charset="0"/>
              </a:rPr>
              <a:t>The objective of this project is to design and implement a privacy-preserving, decentralized machine learning system tailored specifically for the demanding environment of 6G networks. With the help of Federated Learning (FL), the system enables multiple edge devices to collaboratively train machine learning models without sharing their raw data, thereby preserving user privacy and reducing network congestion. The project involves developing a secure and interactive web application using Flask, where users can register, upload beamforming datasets, select from multiple machine learning algorithms, and receive real-time prediction results. The backend simulates FL rounds by averaging encrypted model weight updates from virtual edge clients. Additionally, the project evaluates model performance, communication savings, and latency improvements when compared to traditional centralized AI models. It also aims to explore potential challenges such as non-IID data, straggler devices, and model poisoning attacks. Ultimately, the system demonstrates the feasibility and benefits of Federated Learning for future 6G-enabled intelligent infrastructure.</a:t>
            </a:r>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7" name="Google Shape;691;p31"/>
          <p:cNvSpPr txBox="1"/>
          <p:nvPr/>
        </p:nvSpPr>
        <p:spPr>
          <a:xfrm>
            <a:off x="7752200" y="505531"/>
            <a:ext cx="920728" cy="670251"/>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GB" sz="3200" dirty="0">
              <a:solidFill>
                <a:schemeClr val="accent4"/>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90" name="Google Shape;690;p31"/>
          <p:cNvSpPr txBox="1">
            <a:spLocks noGrp="1"/>
          </p:cNvSpPr>
          <p:nvPr>
            <p:ph type="title"/>
          </p:nvPr>
        </p:nvSpPr>
        <p:spPr>
          <a:xfrm>
            <a:off x="2679370" y="388629"/>
            <a:ext cx="3448200" cy="63223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400" dirty="0">
                <a:latin typeface="Times New Roman" panose="02020603050405020304" pitchFamily="18" charset="0"/>
                <a:cs typeface="Times New Roman" panose="02020603050405020304" pitchFamily="18" charset="0"/>
              </a:rPr>
              <a:t>Scope</a:t>
            </a:r>
            <a:endParaRPr sz="2400" dirty="0">
              <a:latin typeface="Times New Roman" panose="02020603050405020304" pitchFamily="18" charset="0"/>
              <a:cs typeface="Times New Roman" panose="02020603050405020304" pitchFamily="18" charset="0"/>
            </a:endParaRPr>
          </a:p>
        </p:txBody>
      </p:sp>
      <p:sp>
        <p:nvSpPr>
          <p:cNvPr id="859" name="Google Shape;859;p31"/>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1"/>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1095845" y="1307396"/>
            <a:ext cx="7141840" cy="2893100"/>
          </a:xfrm>
          <a:prstGeom prst="rect">
            <a:avLst/>
          </a:prstGeom>
          <a:noFill/>
        </p:spPr>
        <p:txBody>
          <a:bodyPr wrap="square" rtlCol="0">
            <a:spAutoFit/>
          </a:bodyPr>
          <a:lstStyle/>
          <a:p>
            <a:pPr algn="just"/>
            <a:r>
              <a:rPr lang="en-US" sz="1400" dirty="0">
                <a:latin typeface="Times New Roman" panose="02020603050405020304" pitchFamily="18" charset="0"/>
                <a:cs typeface="Times New Roman" panose="02020603050405020304" pitchFamily="18" charset="0"/>
              </a:rPr>
              <a:t>This project focuses on developing and validating a prototype FL system suitable for </a:t>
            </a:r>
            <a:r>
              <a:rPr lang="en-US" sz="1400" b="1" dirty="0">
                <a:latin typeface="Times New Roman" panose="02020603050405020304" pitchFamily="18" charset="0"/>
                <a:cs typeface="Times New Roman" panose="02020603050405020304" pitchFamily="18" charset="0"/>
              </a:rPr>
              <a:t>next-generation 6G networks</a:t>
            </a:r>
            <a:r>
              <a:rPr lang="en-US" sz="1400" dirty="0">
                <a:latin typeface="Times New Roman" panose="02020603050405020304" pitchFamily="18" charset="0"/>
                <a:cs typeface="Times New Roman" panose="02020603050405020304" pitchFamily="18" charset="0"/>
              </a:rPr>
              <a:t>, with an emphasis on </a:t>
            </a:r>
            <a:r>
              <a:rPr lang="en-US" sz="1400" b="1" dirty="0">
                <a:latin typeface="Times New Roman" panose="02020603050405020304" pitchFamily="18" charset="0"/>
                <a:cs typeface="Times New Roman" panose="02020603050405020304" pitchFamily="18" charset="0"/>
              </a:rPr>
              <a:t>privacy, performance, and scalability</a:t>
            </a:r>
            <a:r>
              <a:rPr lang="en-US" sz="1400" dirty="0">
                <a:latin typeface="Times New Roman" panose="02020603050405020304" pitchFamily="18" charset="0"/>
                <a:cs typeface="Times New Roman" panose="02020603050405020304" pitchFamily="18" charset="0"/>
              </a:rPr>
              <a:t>. The scope includes building a complete pipeline: user registration and authentication, dataset upload interface, machine learning model selection, and a backend capable of simulating federated model aggregation. Six algorithms—including Random Forest, Decision Tree, FNN, CNN, MLP, and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—are integrated for evaluation. The prototype will assess beamforming success predictions using edge-based model training while highlighting network load reductions and data security benefits. The system does not rely on real distributed edge hardware but simulates FL behavior to demonstrate core functionality. Key out-of-scope areas include real-time deployment on physical edge networks, hardware acceleration (e.g., GPU), and advanced encryption schemes like homomorphic encryption. However, future extensions can include </a:t>
            </a:r>
            <a:r>
              <a:rPr lang="en-US" sz="1400" dirty="0" err="1">
                <a:latin typeface="Times New Roman" panose="02020603050405020304" pitchFamily="18" charset="0"/>
                <a:cs typeface="Times New Roman" panose="02020603050405020304" pitchFamily="18" charset="0"/>
              </a:rPr>
              <a:t>blockchain</a:t>
            </a:r>
            <a:r>
              <a:rPr lang="en-US" sz="1400" dirty="0">
                <a:latin typeface="Times New Roman" panose="02020603050405020304" pitchFamily="18" charset="0"/>
                <a:cs typeface="Times New Roman" panose="02020603050405020304" pitchFamily="18" charset="0"/>
              </a:rPr>
              <a:t> integration and secure multiparty computation. This project lays a </a:t>
            </a:r>
            <a:r>
              <a:rPr lang="en-US" sz="1400" b="1" dirty="0">
                <a:latin typeface="Times New Roman" panose="02020603050405020304" pitchFamily="18" charset="0"/>
                <a:cs typeface="Times New Roman" panose="02020603050405020304" pitchFamily="18" charset="0"/>
              </a:rPr>
              <a:t>foundational framework</a:t>
            </a:r>
            <a:r>
              <a:rPr lang="en-US" sz="1400" dirty="0">
                <a:latin typeface="Times New Roman" panose="02020603050405020304" pitchFamily="18" charset="0"/>
                <a:cs typeface="Times New Roman" panose="02020603050405020304" pitchFamily="18" charset="0"/>
              </a:rPr>
              <a:t> for practical FL in 6G telecom applications.</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8584" y="96015"/>
            <a:ext cx="5067300" cy="609600"/>
          </a:xfrm>
        </p:spPr>
        <p:txBody>
          <a:bodyPr/>
          <a:lstStyle/>
          <a:p>
            <a:r>
              <a:rPr lang="en-GB" sz="2400" dirty="0">
                <a:latin typeface="Times New Roman" panose="02020603050405020304" pitchFamily="18" charset="0"/>
                <a:cs typeface="Times New Roman" panose="02020603050405020304" pitchFamily="18" charset="0"/>
              </a:rPr>
              <a:t>Literature Survey</a:t>
            </a:r>
            <a:endParaRPr lang="en-IN" sz="2400" dirty="0">
              <a:latin typeface="Times New Roman" panose="02020603050405020304" pitchFamily="18" charset="0"/>
              <a:cs typeface="Times New Roman" panose="0202060305040502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3213547442"/>
              </p:ext>
            </p:extLst>
          </p:nvPr>
        </p:nvGraphicFramePr>
        <p:xfrm>
          <a:off x="621042" y="906463"/>
          <a:ext cx="7819696" cy="3400466"/>
        </p:xfrm>
        <a:graphic>
          <a:graphicData uri="http://schemas.openxmlformats.org/drawingml/2006/table">
            <a:tbl>
              <a:tblPr>
                <a:tableStyleId>{35758FB7-9AC5-4552-8A53-C91805E547FA}</a:tableStyleId>
              </a:tblPr>
              <a:tblGrid>
                <a:gridCol w="966020">
                  <a:extLst>
                    <a:ext uri="{9D8B030D-6E8A-4147-A177-3AD203B41FA5}">
                      <a16:colId xmlns:a16="http://schemas.microsoft.com/office/drawing/2014/main" val="568571942"/>
                    </a:ext>
                  </a:extLst>
                </a:gridCol>
                <a:gridCol w="1681655">
                  <a:extLst>
                    <a:ext uri="{9D8B030D-6E8A-4147-A177-3AD203B41FA5}">
                      <a16:colId xmlns:a16="http://schemas.microsoft.com/office/drawing/2014/main" val="3470350794"/>
                    </a:ext>
                  </a:extLst>
                </a:gridCol>
                <a:gridCol w="2301766">
                  <a:extLst>
                    <a:ext uri="{9D8B030D-6E8A-4147-A177-3AD203B41FA5}">
                      <a16:colId xmlns:a16="http://schemas.microsoft.com/office/drawing/2014/main" val="1186975500"/>
                    </a:ext>
                  </a:extLst>
                </a:gridCol>
                <a:gridCol w="2870255">
                  <a:extLst>
                    <a:ext uri="{9D8B030D-6E8A-4147-A177-3AD203B41FA5}">
                      <a16:colId xmlns:a16="http://schemas.microsoft.com/office/drawing/2014/main" val="809873316"/>
                    </a:ext>
                  </a:extLst>
                </a:gridCol>
              </a:tblGrid>
              <a:tr h="344230">
                <a:tc>
                  <a:txBody>
                    <a:bodyPr/>
                    <a:lstStyle/>
                    <a:p>
                      <a:r>
                        <a:rPr lang="en-IN" sz="1000" b="1"/>
                        <a:t>Year</a:t>
                      </a:r>
                      <a:endParaRPr lang="en-IN" sz="1000" b="1">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b="1"/>
                        <a:t>Author(s)</a:t>
                      </a:r>
                      <a:endParaRPr lang="en-IN" sz="1000" b="1">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b="1"/>
                        <a:t>Title</a:t>
                      </a:r>
                      <a:endParaRPr lang="en-IN" sz="1000" b="1">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b="1" dirty="0"/>
                        <a:t>Key Contributions</a:t>
                      </a:r>
                      <a:endParaRPr lang="en-IN" sz="1000" b="1" dirty="0">
                        <a:latin typeface="Times New Roman" panose="02020603050405020304" pitchFamily="18" charset="0"/>
                        <a:cs typeface="Times New Roman" panose="02020603050405020304" pitchFamily="18" charset="0"/>
                      </a:endParaRPr>
                    </a:p>
                  </a:txBody>
                  <a:tcPr marL="17065" marR="17065" marT="8533" marB="8533" anchor="ctr"/>
                </a:tc>
                <a:extLst>
                  <a:ext uri="{0D108BD9-81ED-4DB2-BD59-A6C34878D82A}">
                    <a16:rowId xmlns:a16="http://schemas.microsoft.com/office/drawing/2014/main" val="1893889367"/>
                  </a:ext>
                </a:extLst>
              </a:tr>
              <a:tr h="620509">
                <a:tc>
                  <a:txBody>
                    <a:bodyPr/>
                    <a:lstStyle/>
                    <a:p>
                      <a:r>
                        <a:rPr lang="en-IN" sz="1000"/>
                        <a:t>2023</a:t>
                      </a:r>
                      <a:endParaRPr lang="en-IN"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dirty="0"/>
                        <a:t>Xu et al.</a:t>
                      </a:r>
                      <a:endParaRPr lang="en-IN" sz="1000" dirty="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Blockchain-empowered Federated Learning for 6G</a:t>
                      </a:r>
                      <a:endParaRPr lang="en-US"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Combines FL with blockchain for traceability and trust in 6G; emphasizes audit trails and secure updates</a:t>
                      </a:r>
                      <a:endParaRPr lang="en-US" sz="1000">
                        <a:latin typeface="Times New Roman" panose="02020603050405020304" pitchFamily="18" charset="0"/>
                        <a:cs typeface="Times New Roman" panose="02020603050405020304" pitchFamily="18" charset="0"/>
                      </a:endParaRPr>
                    </a:p>
                  </a:txBody>
                  <a:tcPr marL="17065" marR="17065" marT="8533" marB="8533" anchor="ctr"/>
                </a:tc>
                <a:extLst>
                  <a:ext uri="{0D108BD9-81ED-4DB2-BD59-A6C34878D82A}">
                    <a16:rowId xmlns:a16="http://schemas.microsoft.com/office/drawing/2014/main" val="1028779284"/>
                  </a:ext>
                </a:extLst>
              </a:tr>
              <a:tr h="537156">
                <a:tc>
                  <a:txBody>
                    <a:bodyPr/>
                    <a:lstStyle/>
                    <a:p>
                      <a:r>
                        <a:rPr lang="en-IN" sz="1000"/>
                        <a:t>2022</a:t>
                      </a:r>
                      <a:endParaRPr lang="en-IN"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dirty="0"/>
                        <a:t>Yang et al.</a:t>
                      </a:r>
                      <a:endParaRPr lang="en-IN" sz="1000" dirty="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Federated Learning for Edge Intelligence in 6G Networks</a:t>
                      </a:r>
                      <a:endParaRPr lang="en-US"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Overview of enabling FL in 6G, covers latency, non-IID issues, and model convergence</a:t>
                      </a:r>
                      <a:endParaRPr lang="en-US" sz="1000">
                        <a:latin typeface="Times New Roman" panose="02020603050405020304" pitchFamily="18" charset="0"/>
                        <a:cs typeface="Times New Roman" panose="02020603050405020304" pitchFamily="18" charset="0"/>
                      </a:endParaRPr>
                    </a:p>
                  </a:txBody>
                  <a:tcPr marL="17065" marR="17065" marT="8533" marB="8533" anchor="ctr"/>
                </a:tc>
                <a:extLst>
                  <a:ext uri="{0D108BD9-81ED-4DB2-BD59-A6C34878D82A}">
                    <a16:rowId xmlns:a16="http://schemas.microsoft.com/office/drawing/2014/main" val="3941848296"/>
                  </a:ext>
                </a:extLst>
              </a:tr>
              <a:tr h="370454">
                <a:tc>
                  <a:txBody>
                    <a:bodyPr/>
                    <a:lstStyle/>
                    <a:p>
                      <a:r>
                        <a:rPr lang="en-IN" sz="1000"/>
                        <a:t>2021</a:t>
                      </a:r>
                      <a:endParaRPr lang="en-IN"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dirty="0"/>
                        <a:t>Luong et al.</a:t>
                      </a:r>
                      <a:endParaRPr lang="en-IN" sz="1000" dirty="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dirty="0"/>
                        <a:t>Federated Learning in 6G: A Survey on Enabling Technologies</a:t>
                      </a:r>
                      <a:endParaRPr lang="en-US" sz="1000" dirty="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In-depth survey on FL challenges and architectures in 6G ecosystems</a:t>
                      </a:r>
                      <a:endParaRPr lang="en-US" sz="1000">
                        <a:latin typeface="Times New Roman" panose="02020603050405020304" pitchFamily="18" charset="0"/>
                        <a:cs typeface="Times New Roman" panose="02020603050405020304" pitchFamily="18" charset="0"/>
                      </a:endParaRPr>
                    </a:p>
                  </a:txBody>
                  <a:tcPr marL="17065" marR="17065" marT="8533" marB="8533" anchor="ctr"/>
                </a:tc>
                <a:extLst>
                  <a:ext uri="{0D108BD9-81ED-4DB2-BD59-A6C34878D82A}">
                    <a16:rowId xmlns:a16="http://schemas.microsoft.com/office/drawing/2014/main" val="2222576387"/>
                  </a:ext>
                </a:extLst>
              </a:tr>
              <a:tr h="453805">
                <a:tc>
                  <a:txBody>
                    <a:bodyPr/>
                    <a:lstStyle/>
                    <a:p>
                      <a:r>
                        <a:rPr lang="en-IN" sz="1000"/>
                        <a:t>2021</a:t>
                      </a:r>
                      <a:endParaRPr lang="en-IN"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dirty="0"/>
                        <a:t>Wang et al.</a:t>
                      </a:r>
                      <a:endParaRPr lang="en-IN" sz="1000" dirty="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Adaptive Federated Learning in Resource Constrained Edge Systems</a:t>
                      </a:r>
                      <a:endParaRPr lang="en-US"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Proposes adaptive scheduling strategies to handle client heterogeneity and stragglers</a:t>
                      </a:r>
                      <a:endParaRPr lang="en-US" sz="1000">
                        <a:latin typeface="Times New Roman" panose="02020603050405020304" pitchFamily="18" charset="0"/>
                        <a:cs typeface="Times New Roman" panose="02020603050405020304" pitchFamily="18" charset="0"/>
                      </a:endParaRPr>
                    </a:p>
                  </a:txBody>
                  <a:tcPr marL="17065" marR="17065" marT="8533" marB="8533" anchor="ctr"/>
                </a:tc>
                <a:extLst>
                  <a:ext uri="{0D108BD9-81ED-4DB2-BD59-A6C34878D82A}">
                    <a16:rowId xmlns:a16="http://schemas.microsoft.com/office/drawing/2014/main" val="1413878282"/>
                  </a:ext>
                </a:extLst>
              </a:tr>
              <a:tr h="537156">
                <a:tc>
                  <a:txBody>
                    <a:bodyPr/>
                    <a:lstStyle/>
                    <a:p>
                      <a:r>
                        <a:rPr lang="en-IN" sz="1000"/>
                        <a:t>2021</a:t>
                      </a:r>
                      <a:endParaRPr lang="en-IN"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a:t>Bonawitz et al.</a:t>
                      </a:r>
                      <a:endParaRPr lang="en-IN"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Practical Secure Aggregation for Privacy-Preserving ML</a:t>
                      </a:r>
                      <a:endParaRPr lang="en-US"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Introduces secure aggregation protocols enabling privacy-preserving global model updates</a:t>
                      </a:r>
                      <a:endParaRPr lang="en-US" sz="1000">
                        <a:latin typeface="Times New Roman" panose="02020603050405020304" pitchFamily="18" charset="0"/>
                        <a:cs typeface="Times New Roman" panose="02020603050405020304" pitchFamily="18" charset="0"/>
                      </a:endParaRPr>
                    </a:p>
                  </a:txBody>
                  <a:tcPr marL="17065" marR="17065" marT="8533" marB="8533" anchor="ctr"/>
                </a:tc>
                <a:extLst>
                  <a:ext uri="{0D108BD9-81ED-4DB2-BD59-A6C34878D82A}">
                    <a16:rowId xmlns:a16="http://schemas.microsoft.com/office/drawing/2014/main" val="3099838946"/>
                  </a:ext>
                </a:extLst>
              </a:tr>
              <a:tr h="537156">
                <a:tc>
                  <a:txBody>
                    <a:bodyPr/>
                    <a:lstStyle/>
                    <a:p>
                      <a:r>
                        <a:rPr lang="en-IN" sz="1000"/>
                        <a:t>2020</a:t>
                      </a:r>
                      <a:endParaRPr lang="en-IN"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a:t>Zhang et al.</a:t>
                      </a:r>
                      <a:endParaRPr lang="en-IN"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Federated Learning for Edge Intelligence: Applications and Challenges</a:t>
                      </a:r>
                      <a:endParaRPr lang="en-US"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dirty="0"/>
                        <a:t>Highlights edge-based FL deployment, communication savings, and scalability</a:t>
                      </a:r>
                      <a:endParaRPr lang="en-US" sz="1000" dirty="0">
                        <a:latin typeface="Times New Roman" panose="02020603050405020304" pitchFamily="18" charset="0"/>
                        <a:cs typeface="Times New Roman" panose="02020603050405020304" pitchFamily="18" charset="0"/>
                      </a:endParaRPr>
                    </a:p>
                  </a:txBody>
                  <a:tcPr marL="17065" marR="17065" marT="8533" marB="8533" anchor="ctr"/>
                </a:tc>
                <a:extLst>
                  <a:ext uri="{0D108BD9-81ED-4DB2-BD59-A6C34878D82A}">
                    <a16:rowId xmlns:a16="http://schemas.microsoft.com/office/drawing/2014/main" val="2000812925"/>
                  </a:ext>
                </a:extLst>
              </a:tr>
            </a:tbl>
          </a:graphicData>
        </a:graphic>
      </p:graphicFrame>
      <p:sp>
        <p:nvSpPr>
          <p:cNvPr id="5" name="Rectangle 1"/>
          <p:cNvSpPr>
            <a:spLocks noChangeArrowheads="1"/>
          </p:cNvSpPr>
          <p:nvPr/>
        </p:nvSpPr>
        <p:spPr bwMode="auto">
          <a:xfrm>
            <a:off x="3868738" y="906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4022066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086561710"/>
              </p:ext>
            </p:extLst>
          </p:nvPr>
        </p:nvGraphicFramePr>
        <p:xfrm>
          <a:off x="579933" y="622720"/>
          <a:ext cx="7788164" cy="3570906"/>
        </p:xfrm>
        <a:graphic>
          <a:graphicData uri="http://schemas.openxmlformats.org/drawingml/2006/table">
            <a:tbl>
              <a:tblPr>
                <a:tableStyleId>{35758FB7-9AC5-4552-8A53-C91805E547FA}</a:tableStyleId>
              </a:tblPr>
              <a:tblGrid>
                <a:gridCol w="1947041">
                  <a:extLst>
                    <a:ext uri="{9D8B030D-6E8A-4147-A177-3AD203B41FA5}">
                      <a16:colId xmlns:a16="http://schemas.microsoft.com/office/drawing/2014/main" val="3382685910"/>
                    </a:ext>
                  </a:extLst>
                </a:gridCol>
                <a:gridCol w="1477467">
                  <a:extLst>
                    <a:ext uri="{9D8B030D-6E8A-4147-A177-3AD203B41FA5}">
                      <a16:colId xmlns:a16="http://schemas.microsoft.com/office/drawing/2014/main" val="496245000"/>
                    </a:ext>
                  </a:extLst>
                </a:gridCol>
                <a:gridCol w="1849821">
                  <a:extLst>
                    <a:ext uri="{9D8B030D-6E8A-4147-A177-3AD203B41FA5}">
                      <a16:colId xmlns:a16="http://schemas.microsoft.com/office/drawing/2014/main" val="4250502192"/>
                    </a:ext>
                  </a:extLst>
                </a:gridCol>
                <a:gridCol w="2513835">
                  <a:extLst>
                    <a:ext uri="{9D8B030D-6E8A-4147-A177-3AD203B41FA5}">
                      <a16:colId xmlns:a16="http://schemas.microsoft.com/office/drawing/2014/main" val="730018630"/>
                    </a:ext>
                  </a:extLst>
                </a:gridCol>
              </a:tblGrid>
              <a:tr h="336895">
                <a:tc>
                  <a:txBody>
                    <a:bodyPr/>
                    <a:lstStyle/>
                    <a:p>
                      <a:r>
                        <a:rPr lang="en-IN" sz="1000" b="1" dirty="0">
                          <a:solidFill>
                            <a:schemeClr val="bg1"/>
                          </a:solidFill>
                        </a:rPr>
                        <a:t>Year</a:t>
                      </a:r>
                    </a:p>
                  </a:txBody>
                  <a:tcPr marL="17065" marR="17065" marT="8533" marB="8533" anchor="ctr"/>
                </a:tc>
                <a:tc>
                  <a:txBody>
                    <a:bodyPr/>
                    <a:lstStyle/>
                    <a:p>
                      <a:r>
                        <a:rPr lang="en-IN" sz="1000" b="1">
                          <a:solidFill>
                            <a:schemeClr val="bg1"/>
                          </a:solidFill>
                        </a:rPr>
                        <a:t>Author(s)</a:t>
                      </a:r>
                    </a:p>
                  </a:txBody>
                  <a:tcPr marL="17065" marR="17065" marT="8533" marB="8533" anchor="ctr"/>
                </a:tc>
                <a:tc>
                  <a:txBody>
                    <a:bodyPr/>
                    <a:lstStyle/>
                    <a:p>
                      <a:r>
                        <a:rPr lang="en-IN" sz="1000" b="1">
                          <a:solidFill>
                            <a:schemeClr val="bg1"/>
                          </a:solidFill>
                        </a:rPr>
                        <a:t>Title</a:t>
                      </a:r>
                    </a:p>
                  </a:txBody>
                  <a:tcPr marL="17065" marR="17065" marT="8533" marB="8533" anchor="ctr"/>
                </a:tc>
                <a:tc>
                  <a:txBody>
                    <a:bodyPr/>
                    <a:lstStyle/>
                    <a:p>
                      <a:r>
                        <a:rPr lang="en-IN" sz="1000" b="1" dirty="0">
                          <a:solidFill>
                            <a:schemeClr val="bg1"/>
                          </a:solidFill>
                        </a:rPr>
                        <a:t>Key Contributions</a:t>
                      </a:r>
                    </a:p>
                  </a:txBody>
                  <a:tcPr marL="17065" marR="17065" marT="8533" marB="8533" anchor="ctr"/>
                </a:tc>
                <a:extLst>
                  <a:ext uri="{0D108BD9-81ED-4DB2-BD59-A6C34878D82A}">
                    <a16:rowId xmlns:a16="http://schemas.microsoft.com/office/drawing/2014/main" val="2379384189"/>
                  </a:ext>
                </a:extLst>
              </a:tr>
              <a:tr h="528733">
                <a:tc>
                  <a:txBody>
                    <a:bodyPr/>
                    <a:lstStyle/>
                    <a:p>
                      <a:r>
                        <a:rPr lang="en-IN" sz="1000" dirty="0"/>
                        <a:t>2020</a:t>
                      </a:r>
                    </a:p>
                  </a:txBody>
                  <a:tcPr marL="17065" marR="17065" marT="8533" marB="8533" anchor="ctr"/>
                </a:tc>
                <a:tc>
                  <a:txBody>
                    <a:bodyPr/>
                    <a:lstStyle/>
                    <a:p>
                      <a:r>
                        <a:rPr lang="en-IN" sz="1000" dirty="0"/>
                        <a:t>Zhu et al.</a:t>
                      </a:r>
                    </a:p>
                  </a:txBody>
                  <a:tcPr marL="17065" marR="17065" marT="8533" marB="8533" anchor="ctr"/>
                </a:tc>
                <a:tc>
                  <a:txBody>
                    <a:bodyPr/>
                    <a:lstStyle/>
                    <a:p>
                      <a:r>
                        <a:rPr lang="en-US" sz="1000"/>
                        <a:t>Broadband Analog Aggregation for Low-Latency FL</a:t>
                      </a:r>
                    </a:p>
                  </a:txBody>
                  <a:tcPr marL="17065" marR="17065" marT="8533" marB="8533" anchor="ctr"/>
                </a:tc>
                <a:tc>
                  <a:txBody>
                    <a:bodyPr/>
                    <a:lstStyle/>
                    <a:p>
                      <a:r>
                        <a:rPr lang="en-IN" sz="1000" dirty="0"/>
                        <a:t>Describes </a:t>
                      </a:r>
                      <a:r>
                        <a:rPr lang="en-IN" sz="1000" dirty="0" err="1"/>
                        <a:t>analog</a:t>
                      </a:r>
                      <a:r>
                        <a:rPr lang="en-IN" sz="1000" dirty="0"/>
                        <a:t> model aggregation method to reduce FL latency—suitable for ultra-fast 6G environments</a:t>
                      </a:r>
                    </a:p>
                  </a:txBody>
                  <a:tcPr marL="17065" marR="17065" marT="8533" marB="8533" anchor="ctr"/>
                </a:tc>
                <a:extLst>
                  <a:ext uri="{0D108BD9-81ED-4DB2-BD59-A6C34878D82A}">
                    <a16:rowId xmlns:a16="http://schemas.microsoft.com/office/drawing/2014/main" val="4191495355"/>
                  </a:ext>
                </a:extLst>
              </a:tr>
              <a:tr h="528733">
                <a:tc>
                  <a:txBody>
                    <a:bodyPr/>
                    <a:lstStyle/>
                    <a:p>
                      <a:r>
                        <a:rPr lang="en-IN" sz="1000" dirty="0"/>
                        <a:t>2019</a:t>
                      </a:r>
                    </a:p>
                  </a:txBody>
                  <a:tcPr marL="17065" marR="17065" marT="8533" marB="8533" anchor="ctr"/>
                </a:tc>
                <a:tc>
                  <a:txBody>
                    <a:bodyPr/>
                    <a:lstStyle/>
                    <a:p>
                      <a:r>
                        <a:rPr lang="en-IN" sz="1000"/>
                        <a:t>Kairouz et al.</a:t>
                      </a:r>
                    </a:p>
                  </a:txBody>
                  <a:tcPr marL="17065" marR="17065" marT="8533" marB="8533" anchor="ctr"/>
                </a:tc>
                <a:tc>
                  <a:txBody>
                    <a:bodyPr/>
                    <a:lstStyle/>
                    <a:p>
                      <a:r>
                        <a:rPr lang="en-US" sz="1000"/>
                        <a:t>Advances and Open Problems in Federated Learning</a:t>
                      </a:r>
                    </a:p>
                  </a:txBody>
                  <a:tcPr marL="17065" marR="17065" marT="8533" marB="8533" anchor="ctr"/>
                </a:tc>
                <a:tc>
                  <a:txBody>
                    <a:bodyPr/>
                    <a:lstStyle/>
                    <a:p>
                      <a:r>
                        <a:rPr lang="en-US" sz="1000"/>
                        <a:t>Comprehensive roadmap on FL challenges including data privacy, poisoning, and scalability</a:t>
                      </a:r>
                    </a:p>
                  </a:txBody>
                  <a:tcPr marL="17065" marR="17065" marT="8533" marB="8533" anchor="ctr"/>
                </a:tc>
                <a:extLst>
                  <a:ext uri="{0D108BD9-81ED-4DB2-BD59-A6C34878D82A}">
                    <a16:rowId xmlns:a16="http://schemas.microsoft.com/office/drawing/2014/main" val="2814961437"/>
                  </a:ext>
                </a:extLst>
              </a:tr>
              <a:tr h="590346">
                <a:tc>
                  <a:txBody>
                    <a:bodyPr/>
                    <a:lstStyle/>
                    <a:p>
                      <a:r>
                        <a:rPr lang="en-IN" sz="1000" dirty="0"/>
                        <a:t>2019</a:t>
                      </a:r>
                    </a:p>
                  </a:txBody>
                  <a:tcPr marL="17065" marR="17065" marT="8533" marB="8533" anchor="ctr"/>
                </a:tc>
                <a:tc>
                  <a:txBody>
                    <a:bodyPr/>
                    <a:lstStyle/>
                    <a:p>
                      <a:r>
                        <a:rPr lang="en-IN" sz="1000"/>
                        <a:t>Abadi et al.</a:t>
                      </a:r>
                    </a:p>
                  </a:txBody>
                  <a:tcPr marL="17065" marR="17065" marT="8533" marB="8533" anchor="ctr"/>
                </a:tc>
                <a:tc>
                  <a:txBody>
                    <a:bodyPr/>
                    <a:lstStyle/>
                    <a:p>
                      <a:r>
                        <a:rPr lang="en-US" sz="1000"/>
                        <a:t>Deep Learning with Differential Privacy</a:t>
                      </a:r>
                    </a:p>
                  </a:txBody>
                  <a:tcPr marL="17065" marR="17065" marT="8533" marB="8533" anchor="ctr"/>
                </a:tc>
                <a:tc>
                  <a:txBody>
                    <a:bodyPr/>
                    <a:lstStyle/>
                    <a:p>
                      <a:r>
                        <a:rPr lang="en-US" sz="1000"/>
                        <a:t>Proposes a differential privacy mechanism to protect model updates in decentralized training</a:t>
                      </a:r>
                    </a:p>
                  </a:txBody>
                  <a:tcPr marL="17065" marR="17065" marT="8533" marB="8533" anchor="ctr"/>
                </a:tc>
                <a:extLst>
                  <a:ext uri="{0D108BD9-81ED-4DB2-BD59-A6C34878D82A}">
                    <a16:rowId xmlns:a16="http://schemas.microsoft.com/office/drawing/2014/main" val="3360184607"/>
                  </a:ext>
                </a:extLst>
              </a:tr>
              <a:tr h="528733">
                <a:tc>
                  <a:txBody>
                    <a:bodyPr/>
                    <a:lstStyle/>
                    <a:p>
                      <a:r>
                        <a:rPr lang="en-IN" sz="1000"/>
                        <a:t>2018</a:t>
                      </a:r>
                    </a:p>
                  </a:txBody>
                  <a:tcPr marL="17065" marR="17065" marT="8533" marB="8533" anchor="ctr"/>
                </a:tc>
                <a:tc>
                  <a:txBody>
                    <a:bodyPr/>
                    <a:lstStyle/>
                    <a:p>
                      <a:r>
                        <a:rPr lang="en-IN" sz="1000" dirty="0"/>
                        <a:t>Hard et al.</a:t>
                      </a:r>
                    </a:p>
                  </a:txBody>
                  <a:tcPr marL="17065" marR="17065" marT="8533" marB="8533" anchor="ctr"/>
                </a:tc>
                <a:tc>
                  <a:txBody>
                    <a:bodyPr/>
                    <a:lstStyle/>
                    <a:p>
                      <a:r>
                        <a:rPr lang="en-US" sz="1000"/>
                        <a:t>Federated Learning for Mobile Keyboard Prediction</a:t>
                      </a:r>
                    </a:p>
                  </a:txBody>
                  <a:tcPr marL="17065" marR="17065" marT="8533" marB="8533" anchor="ctr"/>
                </a:tc>
                <a:tc>
                  <a:txBody>
                    <a:bodyPr/>
                    <a:lstStyle/>
                    <a:p>
                      <a:r>
                        <a:rPr lang="en-US" sz="1000"/>
                        <a:t>Real-world application of FL in Gboard; explores asynchronous updates and privacy constraints</a:t>
                      </a:r>
                    </a:p>
                  </a:txBody>
                  <a:tcPr marL="17065" marR="17065" marT="8533" marB="8533" anchor="ctr"/>
                </a:tc>
                <a:extLst>
                  <a:ext uri="{0D108BD9-81ED-4DB2-BD59-A6C34878D82A}">
                    <a16:rowId xmlns:a16="http://schemas.microsoft.com/office/drawing/2014/main" val="1423286257"/>
                  </a:ext>
                </a:extLst>
              </a:tr>
              <a:tr h="528733">
                <a:tc>
                  <a:txBody>
                    <a:bodyPr/>
                    <a:lstStyle/>
                    <a:p>
                      <a:r>
                        <a:rPr lang="en-IN" sz="1000"/>
                        <a:t>2017</a:t>
                      </a:r>
                    </a:p>
                  </a:txBody>
                  <a:tcPr marL="17065" marR="17065" marT="8533" marB="8533" anchor="ctr"/>
                </a:tc>
                <a:tc>
                  <a:txBody>
                    <a:bodyPr/>
                    <a:lstStyle/>
                    <a:p>
                      <a:r>
                        <a:rPr lang="en-IN" sz="1000"/>
                        <a:t>McMahan et al.</a:t>
                      </a:r>
                    </a:p>
                  </a:txBody>
                  <a:tcPr marL="17065" marR="17065" marT="8533" marB="8533" anchor="ctr"/>
                </a:tc>
                <a:tc>
                  <a:txBody>
                    <a:bodyPr/>
                    <a:lstStyle/>
                    <a:p>
                      <a:r>
                        <a:rPr lang="en-US" sz="1000"/>
                        <a:t>Communication-Efficient Learning of Deep Networks from Decentralized Data</a:t>
                      </a:r>
                    </a:p>
                  </a:txBody>
                  <a:tcPr marL="17065" marR="17065" marT="8533" marB="8533" anchor="ctr"/>
                </a:tc>
                <a:tc>
                  <a:txBody>
                    <a:bodyPr/>
                    <a:lstStyle/>
                    <a:p>
                      <a:r>
                        <a:rPr lang="en-US" sz="1000"/>
                        <a:t>Introduces Federated Averaging (FedAvg) algorithm; foundational work in FL</a:t>
                      </a:r>
                    </a:p>
                  </a:txBody>
                  <a:tcPr marL="17065" marR="17065" marT="8533" marB="8533" anchor="ctr"/>
                </a:tc>
                <a:extLst>
                  <a:ext uri="{0D108BD9-81ED-4DB2-BD59-A6C34878D82A}">
                    <a16:rowId xmlns:a16="http://schemas.microsoft.com/office/drawing/2014/main" val="2961542751"/>
                  </a:ext>
                </a:extLst>
              </a:tr>
              <a:tr h="528733">
                <a:tc>
                  <a:txBody>
                    <a:bodyPr/>
                    <a:lstStyle/>
                    <a:p>
                      <a:r>
                        <a:rPr lang="en-IN" sz="1000"/>
                        <a:t>2016</a:t>
                      </a:r>
                    </a:p>
                  </a:txBody>
                  <a:tcPr marL="17065" marR="17065" marT="8533" marB="8533" anchor="ctr"/>
                </a:tc>
                <a:tc>
                  <a:txBody>
                    <a:bodyPr/>
                    <a:lstStyle/>
                    <a:p>
                      <a:r>
                        <a:rPr lang="en-IN" sz="1000"/>
                        <a:t>Shi et al.</a:t>
                      </a:r>
                    </a:p>
                  </a:txBody>
                  <a:tcPr marL="17065" marR="17065" marT="8533" marB="8533" anchor="ctr"/>
                </a:tc>
                <a:tc>
                  <a:txBody>
                    <a:bodyPr/>
                    <a:lstStyle/>
                    <a:p>
                      <a:r>
                        <a:rPr lang="en-US" sz="1000"/>
                        <a:t>Edge Computing: Vision and Challenges</a:t>
                      </a:r>
                    </a:p>
                  </a:txBody>
                  <a:tcPr marL="17065" marR="17065" marT="8533" marB="8533" anchor="ctr"/>
                </a:tc>
                <a:tc>
                  <a:txBody>
                    <a:bodyPr/>
                    <a:lstStyle/>
                    <a:p>
                      <a:r>
                        <a:rPr lang="en-US" sz="1000" dirty="0"/>
                        <a:t>Defines edge computing and its impact on latency, bandwidth, and local intelligence</a:t>
                      </a:r>
                    </a:p>
                  </a:txBody>
                  <a:tcPr marL="17065" marR="17065" marT="8533" marB="8533" anchor="ctr"/>
                </a:tc>
                <a:extLst>
                  <a:ext uri="{0D108BD9-81ED-4DB2-BD59-A6C34878D82A}">
                    <a16:rowId xmlns:a16="http://schemas.microsoft.com/office/drawing/2014/main" val="2907580657"/>
                  </a:ext>
                </a:extLst>
              </a:tr>
            </a:tbl>
          </a:graphicData>
        </a:graphic>
      </p:graphicFrame>
      <p:sp>
        <p:nvSpPr>
          <p:cNvPr id="4" name="Rectangle 1"/>
          <p:cNvSpPr>
            <a:spLocks noChangeArrowheads="1"/>
          </p:cNvSpPr>
          <p:nvPr/>
        </p:nvSpPr>
        <p:spPr bwMode="auto">
          <a:xfrm>
            <a:off x="3868738" y="906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8581858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61" name="Google Shape;1161;p35"/>
          <p:cNvSpPr/>
          <p:nvPr/>
        </p:nvSpPr>
        <p:spPr>
          <a:xfrm rot="10800000">
            <a:off x="356243" y="3823812"/>
            <a:ext cx="1852533" cy="985288"/>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91;p31"/>
          <p:cNvSpPr txBox="1"/>
          <p:nvPr/>
        </p:nvSpPr>
        <p:spPr>
          <a:xfrm>
            <a:off x="7942050" y="478662"/>
            <a:ext cx="760631" cy="625954"/>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GB" sz="3200" b="1" dirty="0">
              <a:solidFill>
                <a:schemeClr val="accent4"/>
              </a:solidFill>
            </a:endParaRPr>
          </a:p>
        </p:txBody>
      </p:sp>
      <p:sp>
        <p:nvSpPr>
          <p:cNvPr id="2" name="Rectangle 1"/>
          <p:cNvSpPr>
            <a:spLocks noChangeArrowheads="1"/>
          </p:cNvSpPr>
          <p:nvPr/>
        </p:nvSpPr>
        <p:spPr bwMode="auto">
          <a:xfrm>
            <a:off x="956441" y="640244"/>
            <a:ext cx="7620001"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Significant </a:t>
            </a:r>
          </a:p>
          <a:p>
            <a:pPr marL="0" marR="0" lvl="0" indent="0" algn="just" defTabSz="914400" rtl="0" eaLnBrk="0" fontAlgn="base" latinLnBrk="0" hangingPunct="0">
              <a:lnSpc>
                <a:spcPct val="150000"/>
              </a:lnSpc>
              <a:spcBef>
                <a:spcPct val="0"/>
              </a:spcBef>
              <a:spcAft>
                <a:spcPct val="0"/>
              </a:spcAft>
              <a:buClrTx/>
              <a:buSzTx/>
              <a:tabLst/>
            </a:pP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pPr>
            <a:r>
              <a:rPr lang="en-US" sz="1400" dirty="0">
                <a:latin typeface="Times New Roman" panose="02020603050405020304" pitchFamily="18" charset="0"/>
                <a:cs typeface="Times New Roman" panose="02020603050405020304" pitchFamily="18" charset="0"/>
              </a:rPr>
              <a:t>The advent of 6G wireless communication is set to revolutionize connectivity by enabling ultra-low latency and massive device interconnectivity for applications like autonomous vehicles, holographic telepresence, and immersive augmented reality. However, traditional cloud-centric AI architectures are ill-suited for this paradigm due to their dependence on continuous raw data transfer, which introduces latency, increases bandwidth consumption, and raises serious concerns over data privacy and security. This project addresses these limitations by implementing a federated learning (FL) framework designed for 6G environments, where edge devices train models locally and only share encrypted weight updates with a central server, ensuring that sensitive data never leaves the source device.</a:t>
            </a: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74265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61" name="Google Shape;1161;p35"/>
          <p:cNvSpPr/>
          <p:nvPr/>
        </p:nvSpPr>
        <p:spPr>
          <a:xfrm rot="10800000">
            <a:off x="356243" y="3823812"/>
            <a:ext cx="1852533" cy="985288"/>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91;p31"/>
          <p:cNvSpPr txBox="1"/>
          <p:nvPr/>
        </p:nvSpPr>
        <p:spPr>
          <a:xfrm>
            <a:off x="7942050" y="478662"/>
            <a:ext cx="760631" cy="625954"/>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GB" sz="3200" b="1" dirty="0">
              <a:solidFill>
                <a:schemeClr val="accent4"/>
              </a:solidFill>
            </a:endParaRPr>
          </a:p>
        </p:txBody>
      </p:sp>
      <p:sp>
        <p:nvSpPr>
          <p:cNvPr id="2" name="Rectangle 1"/>
          <p:cNvSpPr>
            <a:spLocks noChangeArrowheads="1"/>
          </p:cNvSpPr>
          <p:nvPr/>
        </p:nvSpPr>
        <p:spPr bwMode="auto">
          <a:xfrm>
            <a:off x="689912" y="603222"/>
            <a:ext cx="6674070" cy="3768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Significant </a:t>
            </a:r>
          </a:p>
        </p:txBody>
      </p:sp>
      <p:sp>
        <p:nvSpPr>
          <p:cNvPr id="3" name="Rectangle 2"/>
          <p:cNvSpPr/>
          <p:nvPr/>
        </p:nvSpPr>
        <p:spPr>
          <a:xfrm>
            <a:off x="805525" y="1096700"/>
            <a:ext cx="7252138" cy="2315827"/>
          </a:xfrm>
          <a:prstGeom prst="rect">
            <a:avLst/>
          </a:prstGeom>
        </p:spPr>
        <p:txBody>
          <a:bodyPr wrap="square">
            <a:spAutoFit/>
          </a:bodyPr>
          <a:lstStyle/>
          <a:p>
            <a:pPr algn="just">
              <a:lnSpc>
                <a:spcPct val="150000"/>
              </a:lnSpc>
            </a:pPr>
            <a:r>
              <a:rPr lang="en-US" sz="1400" dirty="0">
                <a:latin typeface="Times New Roman" panose="02020603050405020304" pitchFamily="18" charset="0"/>
                <a:cs typeface="Times New Roman" panose="02020603050405020304" pitchFamily="18" charset="0"/>
              </a:rPr>
              <a:t>The significance of this work lies in its ability to deliver real-time predictions while preserving user data privacy, reducing communication overhead, and ensuring scalability across billions of heterogeneous edge devices. By developing a Flask-based web application, the project enables users to simulate FL behavior, upload beamforming datasets, and select from a range of ML algorithms including Random Forest,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and CNN to predict 6G beamforming success. Tree-based models achieved up to 100% accuracy, demonstrating the effectiveness of decentralized training in this context.</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61" name="Google Shape;1161;p35"/>
          <p:cNvSpPr/>
          <p:nvPr/>
        </p:nvSpPr>
        <p:spPr>
          <a:xfrm rot="10800000">
            <a:off x="356243" y="3823812"/>
            <a:ext cx="1852533" cy="985288"/>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91;p31"/>
          <p:cNvSpPr txBox="1"/>
          <p:nvPr/>
        </p:nvSpPr>
        <p:spPr>
          <a:xfrm>
            <a:off x="7942050" y="478662"/>
            <a:ext cx="760631" cy="625954"/>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GB" sz="3200" b="1" dirty="0">
              <a:solidFill>
                <a:schemeClr val="accent4"/>
              </a:solidFill>
            </a:endParaRPr>
          </a:p>
        </p:txBody>
      </p:sp>
      <p:sp>
        <p:nvSpPr>
          <p:cNvPr id="2" name="Rectangle 1"/>
          <p:cNvSpPr>
            <a:spLocks noChangeArrowheads="1"/>
          </p:cNvSpPr>
          <p:nvPr/>
        </p:nvSpPr>
        <p:spPr bwMode="auto">
          <a:xfrm>
            <a:off x="1408386" y="791639"/>
            <a:ext cx="7147035"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Significant </a:t>
            </a:r>
          </a:p>
          <a:p>
            <a:pPr lvl="0" algn="just" defTabSz="914400" eaLnBrk="0" fontAlgn="base" hangingPunct="0">
              <a:lnSpc>
                <a:spcPct val="150000"/>
              </a:lnSpc>
              <a:spcBef>
                <a:spcPct val="0"/>
              </a:spcBef>
              <a:spcAft>
                <a:spcPct val="0"/>
              </a:spcAft>
            </a:pPr>
            <a:r>
              <a:rPr lang="en-US" sz="1400" dirty="0">
                <a:latin typeface="Times New Roman" panose="02020603050405020304" pitchFamily="18" charset="0"/>
                <a:cs typeface="Times New Roman" panose="02020603050405020304" pitchFamily="18" charset="0"/>
              </a:rPr>
              <a:t>Moreover, this system quantifies important performance metrics such as communication savings, inference latency, and resistance to model inversion attacks—establishing a benchmark for privacy-preserving AI in next-generation networks. It also highlights critical challenges like non-IID data, model poisoning, and straggler devices, and proposes future enhancements including differential privacy, secure aggregation, and </a:t>
            </a:r>
            <a:r>
              <a:rPr lang="en-US" sz="1400" dirty="0" err="1">
                <a:latin typeface="Times New Roman" panose="02020603050405020304" pitchFamily="18" charset="0"/>
                <a:cs typeface="Times New Roman" panose="02020603050405020304" pitchFamily="18" charset="0"/>
              </a:rPr>
              <a:t>blockchain</a:t>
            </a:r>
            <a:r>
              <a:rPr lang="en-US" sz="1400" dirty="0">
                <a:latin typeface="Times New Roman" panose="02020603050405020304" pitchFamily="18" charset="0"/>
                <a:cs typeface="Times New Roman" panose="02020603050405020304" pitchFamily="18" charset="0"/>
              </a:rPr>
              <a:t>-based audit trails. These contributions make this project not only a practical prototype but also a strategic stepping stone toward realizing secure, scalable, and trustworthy AI in 6G ecosystems. Its real-world relevance, technical innovation, and alignment with upcoming network standards underscore its significant impact on the future of intelligent edge computing.</a:t>
            </a: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64155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264275" y="338989"/>
            <a:ext cx="4648968" cy="449584"/>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400" b="1" dirty="0" err="1">
                <a:latin typeface="Times New Roman" panose="02020603050405020304" pitchFamily="18" charset="0"/>
                <a:cs typeface="Times New Roman" panose="02020603050405020304" pitchFamily="18" charset="0"/>
              </a:rPr>
              <a:t>Exisiting</a:t>
            </a:r>
            <a:r>
              <a:rPr lang="en-GB" sz="2400" b="1" dirty="0">
                <a:latin typeface="Times New Roman" panose="02020603050405020304" pitchFamily="18" charset="0"/>
                <a:cs typeface="Times New Roman" panose="02020603050405020304" pitchFamily="18" charset="0"/>
              </a:rPr>
              <a:t> System</a:t>
            </a: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Rectangle 1"/>
          <p:cNvSpPr/>
          <p:nvPr/>
        </p:nvSpPr>
        <p:spPr>
          <a:xfrm>
            <a:off x="795741" y="913475"/>
            <a:ext cx="7586035" cy="3931654"/>
          </a:xfrm>
          <a:prstGeom prst="rect">
            <a:avLst/>
          </a:prstGeom>
        </p:spPr>
        <p:txBody>
          <a:bodyPr wrap="square">
            <a:spAutoFit/>
          </a:bodyPr>
          <a:lstStyle/>
          <a:p>
            <a:pPr algn="just">
              <a:lnSpc>
                <a:spcPct val="150000"/>
              </a:lnSpc>
            </a:pPr>
            <a:r>
              <a:rPr lang="en-IN" sz="1400" dirty="0">
                <a:latin typeface="Times New Roman" panose="02020603050405020304" pitchFamily="18" charset="0"/>
                <a:cs typeface="Times New Roman" panose="02020603050405020304" pitchFamily="18" charset="0"/>
              </a:rPr>
              <a:t>Traditional AI systems in wireless communication rely on centralized cloud-based training pipelines, where raw data from devices is continuously transmitted to central servers for processing. While this approach benefits from aggregated datasets, it presents several critical limitations in the context of 6G networks. The massive volume of real-time data from ultra-intelligent edge devices causes significant backhaul congestion and delays, making it unsuitable for latency-sensitive applications like autonomous mobility and holographic telepresence. Additionally, centralized data handling introduces substantial privacy risks, as sensitive user information is exposed during transmission and storage. These systems also struggle to adapt to the distributed nature of 6G and lack personalized, localized model updates. There is minimal support for privacy-preserving training or resistance to adversarial attacks such as model poisoning and data reconstruction. Consequently, existing solutions are not scalable, secure, or efficient enough for next-generation 6G deployment.</a:t>
            </a:r>
          </a:p>
          <a:p>
            <a:pPr algn="just">
              <a:lnSpc>
                <a:spcPct val="150000"/>
              </a:lnSpc>
            </a:pPr>
            <a:endParaRPr lang="en-IN" sz="14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264275" y="574416"/>
            <a:ext cx="4648968" cy="449584"/>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400" b="1" dirty="0">
                <a:latin typeface="Times New Roman" panose="02020603050405020304" pitchFamily="18" charset="0"/>
                <a:cs typeface="Times New Roman" panose="02020603050405020304" pitchFamily="18" charset="0"/>
              </a:rPr>
              <a:t>Disadvantages</a:t>
            </a: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Rectangle 1"/>
          <p:cNvSpPr/>
          <p:nvPr/>
        </p:nvSpPr>
        <p:spPr>
          <a:xfrm>
            <a:off x="777766" y="1402373"/>
            <a:ext cx="7365326" cy="3000821"/>
          </a:xfrm>
          <a:prstGeom prst="rect">
            <a:avLst/>
          </a:prstGeom>
        </p:spPr>
        <p:txBody>
          <a:bodyPr wrap="square">
            <a:spAutoFit/>
          </a:bodyPr>
          <a:lstStyle/>
          <a:p>
            <a:pPr marL="285750" indent="-285750" algn="just">
              <a:lnSpc>
                <a:spcPct val="150000"/>
              </a:lnSpc>
              <a:buSzPts val="1000"/>
              <a:buFont typeface="Wingdings" panose="05000000000000000000" pitchFamily="2" charset="2"/>
              <a:buChar char="Ø"/>
              <a:tabLst>
                <a:tab pos="457200" algn="l"/>
              </a:tabLst>
            </a:pPr>
            <a:r>
              <a:rPr lang="en-IN" sz="1400" dirty="0">
                <a:latin typeface="Times New Roman" panose="02020603050405020304" pitchFamily="18" charset="0"/>
                <a:cs typeface="Times New Roman" panose="02020603050405020304" pitchFamily="18" charset="0"/>
              </a:rPr>
              <a:t>High latency due to centralized data processing and long transmission paths</a:t>
            </a:r>
          </a:p>
          <a:p>
            <a:pPr marL="285750" indent="-285750" algn="just">
              <a:lnSpc>
                <a:spcPct val="150000"/>
              </a:lnSpc>
              <a:buSzPts val="1000"/>
              <a:buFont typeface="Wingdings" panose="05000000000000000000" pitchFamily="2" charset="2"/>
              <a:buChar char="Ø"/>
              <a:tabLst>
                <a:tab pos="457200" algn="l"/>
              </a:tabLst>
            </a:pPr>
            <a:r>
              <a:rPr lang="en-IN" sz="1400" dirty="0">
                <a:latin typeface="Times New Roman" panose="02020603050405020304" pitchFamily="18" charset="0"/>
                <a:cs typeface="Times New Roman" panose="02020603050405020304" pitchFamily="18" charset="0"/>
              </a:rPr>
              <a:t>Bandwidth overload from continuous raw data transfer</a:t>
            </a:r>
          </a:p>
          <a:p>
            <a:pPr marL="285750" indent="-285750" algn="just">
              <a:lnSpc>
                <a:spcPct val="150000"/>
              </a:lnSpc>
              <a:buSzPts val="1000"/>
              <a:buFont typeface="Wingdings" panose="05000000000000000000" pitchFamily="2" charset="2"/>
              <a:buChar char="Ø"/>
              <a:tabLst>
                <a:tab pos="457200" algn="l"/>
              </a:tabLst>
            </a:pPr>
            <a:r>
              <a:rPr lang="en-IN" sz="1400" dirty="0">
                <a:latin typeface="Times New Roman" panose="02020603050405020304" pitchFamily="18" charset="0"/>
                <a:cs typeface="Times New Roman" panose="02020603050405020304" pitchFamily="18" charset="0"/>
              </a:rPr>
              <a:t>Risk of data leakage and privacy breaches during transmission</a:t>
            </a:r>
          </a:p>
          <a:p>
            <a:pPr marL="285750" indent="-285750" algn="just">
              <a:lnSpc>
                <a:spcPct val="150000"/>
              </a:lnSpc>
              <a:buSzPts val="1000"/>
              <a:buFont typeface="Wingdings" panose="05000000000000000000" pitchFamily="2" charset="2"/>
              <a:buChar char="Ø"/>
              <a:tabLst>
                <a:tab pos="457200" algn="l"/>
              </a:tabLst>
            </a:pPr>
            <a:r>
              <a:rPr lang="en-IN" sz="1400" dirty="0">
                <a:latin typeface="Times New Roman" panose="02020603050405020304" pitchFamily="18" charset="0"/>
                <a:cs typeface="Times New Roman" panose="02020603050405020304" pitchFamily="18" charset="0"/>
              </a:rPr>
              <a:t>Lack of localized model personalization at the device level</a:t>
            </a:r>
          </a:p>
          <a:p>
            <a:pPr marL="285750" indent="-285750" algn="just">
              <a:lnSpc>
                <a:spcPct val="150000"/>
              </a:lnSpc>
              <a:buSzPts val="1000"/>
              <a:buFont typeface="Wingdings" panose="05000000000000000000" pitchFamily="2" charset="2"/>
              <a:buChar char="Ø"/>
              <a:tabLst>
                <a:tab pos="457200" algn="l"/>
              </a:tabLst>
            </a:pPr>
            <a:r>
              <a:rPr lang="en-IN" sz="1400" dirty="0">
                <a:latin typeface="Times New Roman" panose="02020603050405020304" pitchFamily="18" charset="0"/>
                <a:cs typeface="Times New Roman" panose="02020603050405020304" pitchFamily="18" charset="0"/>
              </a:rPr>
              <a:t> No support for privacy-preserving training techniques like secure aggregation</a:t>
            </a:r>
          </a:p>
          <a:p>
            <a:pPr marL="285750" indent="-285750" algn="just">
              <a:lnSpc>
                <a:spcPct val="150000"/>
              </a:lnSpc>
              <a:buSzPts val="1000"/>
              <a:buFont typeface="Wingdings" panose="05000000000000000000" pitchFamily="2" charset="2"/>
              <a:buChar char="Ø"/>
              <a:tabLst>
                <a:tab pos="457200" algn="l"/>
              </a:tabLst>
            </a:pPr>
            <a:r>
              <a:rPr lang="en-IN" sz="1400" dirty="0">
                <a:latin typeface="Times New Roman" panose="02020603050405020304" pitchFamily="18" charset="0"/>
                <a:cs typeface="Times New Roman" panose="02020603050405020304" pitchFamily="18" charset="0"/>
              </a:rPr>
              <a:t> Centralized models are vulnerable to adversarial threats like model poisoning</a:t>
            </a:r>
          </a:p>
          <a:p>
            <a:pPr marL="285750" indent="-285750" algn="just">
              <a:lnSpc>
                <a:spcPct val="150000"/>
              </a:lnSpc>
              <a:buSzPts val="1000"/>
              <a:buFont typeface="Wingdings" panose="05000000000000000000" pitchFamily="2" charset="2"/>
              <a:buChar char="Ø"/>
              <a:tabLst>
                <a:tab pos="457200" algn="l"/>
              </a:tabLst>
            </a:pPr>
            <a:r>
              <a:rPr lang="en-IN" sz="1400" dirty="0">
                <a:latin typeface="Times New Roman" panose="02020603050405020304" pitchFamily="18" charset="0"/>
                <a:cs typeface="Times New Roman" panose="02020603050405020304" pitchFamily="18" charset="0"/>
              </a:rPr>
              <a:t>Absence of auditability and trust via decentralized logs</a:t>
            </a:r>
          </a:p>
          <a:p>
            <a:pPr marL="285750" indent="-285750" algn="just">
              <a:lnSpc>
                <a:spcPct val="150000"/>
              </a:lnSpc>
              <a:buSzPts val="1000"/>
              <a:buFont typeface="Wingdings" panose="05000000000000000000" pitchFamily="2" charset="2"/>
              <a:buChar char="Ø"/>
              <a:tabLst>
                <a:tab pos="457200" algn="l"/>
              </a:tabLst>
            </a:pPr>
            <a:r>
              <a:rPr lang="en-IN" sz="1400" dirty="0">
                <a:latin typeface="Times New Roman" panose="02020603050405020304" pitchFamily="18" charset="0"/>
                <a:cs typeface="Times New Roman" panose="02020603050405020304" pitchFamily="18" charset="0"/>
              </a:rPr>
              <a:t>Poor scalability for billions of edge devices in a 6G environment</a:t>
            </a:r>
          </a:p>
          <a:p>
            <a:pPr marL="285750" lvl="0" indent="-285750" algn="just">
              <a:lnSpc>
                <a:spcPct val="150000"/>
              </a:lnSpc>
              <a:buSzPts val="1000"/>
              <a:buFont typeface="Wingdings" panose="05000000000000000000" pitchFamily="2" charset="2"/>
              <a:buChar char="Ø"/>
              <a:tabLst>
                <a:tab pos="457200" algn="l"/>
              </a:tabLst>
            </a:pPr>
            <a:endParaRPr lang="en-IN" sz="14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01523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190703" y="338989"/>
            <a:ext cx="4648968" cy="449584"/>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400" b="1" dirty="0">
                <a:latin typeface="Times New Roman" panose="02020603050405020304" pitchFamily="18" charset="0"/>
                <a:cs typeface="Times New Roman" panose="02020603050405020304" pitchFamily="18" charset="0"/>
              </a:rPr>
              <a:t>Proposed System</a:t>
            </a: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p:cNvSpPr/>
          <p:nvPr/>
        </p:nvSpPr>
        <p:spPr>
          <a:xfrm>
            <a:off x="599091" y="878468"/>
            <a:ext cx="8188669" cy="4254819"/>
          </a:xfrm>
          <a:prstGeom prst="rect">
            <a:avLst/>
          </a:prstGeom>
        </p:spPr>
        <p:txBody>
          <a:bodyPr wrap="square">
            <a:spAutoFit/>
          </a:bodyPr>
          <a:lstStyle/>
          <a:p>
            <a:pPr algn="just">
              <a:lnSpc>
                <a:spcPct val="150000"/>
              </a:lnSpc>
            </a:pPr>
            <a:r>
              <a:rPr lang="en-IN" sz="1400" dirty="0">
                <a:latin typeface="Times New Roman" panose="02020603050405020304" pitchFamily="18" charset="0"/>
                <a:cs typeface="Times New Roman" panose="02020603050405020304" pitchFamily="18" charset="0"/>
              </a:rPr>
              <a:t>The proposed system adopts a </a:t>
            </a:r>
            <a:r>
              <a:rPr lang="en-IN" sz="1400" b="1" dirty="0">
                <a:latin typeface="Times New Roman" panose="02020603050405020304" pitchFamily="18" charset="0"/>
                <a:cs typeface="Times New Roman" panose="02020603050405020304" pitchFamily="18" charset="0"/>
              </a:rPr>
              <a:t>Federated Learning (FL)</a:t>
            </a:r>
            <a:r>
              <a:rPr lang="en-IN" sz="1400" dirty="0">
                <a:latin typeface="Times New Roman" panose="02020603050405020304" pitchFamily="18" charset="0"/>
                <a:cs typeface="Times New Roman" panose="02020603050405020304" pitchFamily="18" charset="0"/>
              </a:rPr>
              <a:t> framework tailored for 6G wireless networks. It decentralizes model training by enabling edge devices to train locally on private beamforming datasets and send only encrypted model updates to a coordinating server. These updates are aggregated to form a global model without exposing raw data. The system is implemented as a Flask-based web application, allowing users to register, upload datasets, select from six ML algorithms (Random Forest, CNN, MLP, FNN, </a:t>
            </a:r>
            <a:r>
              <a:rPr lang="en-IN" sz="1400" dirty="0" err="1">
                <a:latin typeface="Times New Roman" panose="02020603050405020304" pitchFamily="18" charset="0"/>
                <a:cs typeface="Times New Roman" panose="02020603050405020304" pitchFamily="18" charset="0"/>
              </a:rPr>
              <a:t>XGBoost</a:t>
            </a:r>
            <a:r>
              <a:rPr lang="en-IN" sz="1400" dirty="0">
                <a:latin typeface="Times New Roman" panose="02020603050405020304" pitchFamily="18" charset="0"/>
                <a:cs typeface="Times New Roman" panose="02020603050405020304" pitchFamily="18" charset="0"/>
              </a:rPr>
              <a:t>, Decision Tree), and receive beamforming success predictions in real-time. The back end simulates FL rounds through federated averaging, demonstrating up to 100% accuracy for tree-based models and providing secure, scalable learning without sacrificing data privacy. The system also benchmarks key benefits such as latency reduction, bandwidth savings, and resistance to gradient inversion attacks. Furthermore, the framework addresses FL challenges like non-IID data, straggler clients, and poisoning attacks, and explores future enhancements using differential privacy, secure aggregation, and </a:t>
            </a:r>
            <a:r>
              <a:rPr lang="en-IN" sz="1400" dirty="0" err="1">
                <a:latin typeface="Times New Roman" panose="02020603050405020304" pitchFamily="18" charset="0"/>
                <a:cs typeface="Times New Roman" panose="02020603050405020304" pitchFamily="18" charset="0"/>
              </a:rPr>
              <a:t>blockchain</a:t>
            </a:r>
            <a:r>
              <a:rPr lang="en-IN" sz="1400" dirty="0">
                <a:latin typeface="Times New Roman" panose="02020603050405020304" pitchFamily="18" charset="0"/>
                <a:cs typeface="Times New Roman" panose="02020603050405020304" pitchFamily="18" charset="0"/>
              </a:rPr>
              <a:t>-based audit trails to ensure full trust and traceability in FL-based 6G deployments.</a:t>
            </a:r>
          </a:p>
          <a:p>
            <a:pPr algn="just">
              <a:lnSpc>
                <a:spcPct val="150000"/>
              </a:lnSpc>
            </a:pPr>
            <a:endParaRPr lang="en-IN" sz="14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66007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264275" y="338989"/>
            <a:ext cx="4648968" cy="449584"/>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400" b="1" dirty="0">
                <a:latin typeface="Times New Roman" panose="02020603050405020304" pitchFamily="18" charset="0"/>
                <a:cs typeface="Times New Roman" panose="02020603050405020304" pitchFamily="18" charset="0"/>
              </a:rPr>
              <a:t>Advantages</a:t>
            </a: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Rectangle 1"/>
          <p:cNvSpPr/>
          <p:nvPr/>
        </p:nvSpPr>
        <p:spPr>
          <a:xfrm>
            <a:off x="756745" y="1180000"/>
            <a:ext cx="7788165" cy="2677656"/>
          </a:xfrm>
          <a:prstGeom prst="rect">
            <a:avLst/>
          </a:prstGeom>
        </p:spPr>
        <p:txBody>
          <a:bodyPr wrap="square">
            <a:spAutoFit/>
          </a:bodyPr>
          <a:lstStyle/>
          <a:p>
            <a:pPr marL="285750" lvl="0" indent="-285750" algn="just">
              <a:lnSpc>
                <a:spcPct val="150000"/>
              </a:lnSpc>
              <a:buSzPts val="1000"/>
              <a:buFont typeface="Wingdings" panose="05000000000000000000" pitchFamily="2" charset="2"/>
              <a:buChar char="Ø"/>
              <a:tabLst>
                <a:tab pos="457200" algn="l"/>
              </a:tabLst>
            </a:pPr>
            <a:r>
              <a:rPr lang="en-IN" sz="1400" b="1" dirty="0">
                <a:latin typeface="Times New Roman" panose="02020603050405020304" pitchFamily="18" charset="0"/>
                <a:cs typeface="Times New Roman" panose="02020603050405020304" pitchFamily="18" charset="0"/>
              </a:rPr>
              <a:t>Privacy-Preserving Learning</a:t>
            </a:r>
            <a:r>
              <a:rPr lang="en-IN" sz="1400" dirty="0">
                <a:latin typeface="Times New Roman" panose="02020603050405020304" pitchFamily="18" charset="0"/>
                <a:cs typeface="Times New Roman" panose="02020603050405020304" pitchFamily="18" charset="0"/>
              </a:rPr>
              <a:t>: Only encrypted model weights are shared—raw data remains local</a:t>
            </a:r>
          </a:p>
          <a:p>
            <a:pPr marL="285750" lvl="0" indent="-285750" algn="just">
              <a:lnSpc>
                <a:spcPct val="150000"/>
              </a:lnSpc>
              <a:buSzPts val="1000"/>
              <a:buFont typeface="Wingdings" panose="05000000000000000000" pitchFamily="2" charset="2"/>
              <a:buChar char="Ø"/>
              <a:tabLst>
                <a:tab pos="457200" algn="l"/>
              </a:tabLst>
            </a:pPr>
            <a:r>
              <a:rPr lang="en-IN" sz="1400" dirty="0">
                <a:latin typeface="Times New Roman" panose="02020603050405020304" pitchFamily="18" charset="0"/>
                <a:cs typeface="Times New Roman" panose="02020603050405020304" pitchFamily="18" charset="0"/>
              </a:rPr>
              <a:t> </a:t>
            </a:r>
            <a:r>
              <a:rPr lang="en-IN" sz="1400" b="1" dirty="0">
                <a:latin typeface="Times New Roman" panose="02020603050405020304" pitchFamily="18" charset="0"/>
                <a:cs typeface="Times New Roman" panose="02020603050405020304" pitchFamily="18" charset="0"/>
              </a:rPr>
              <a:t>Supports Multiple ML Models</a:t>
            </a:r>
            <a:r>
              <a:rPr lang="en-IN" sz="1400" dirty="0">
                <a:latin typeface="Times New Roman" panose="02020603050405020304" pitchFamily="18" charset="0"/>
                <a:cs typeface="Times New Roman" panose="02020603050405020304" pitchFamily="18" charset="0"/>
              </a:rPr>
              <a:t>: Flexible choice between tree-based, deep, and ensemble learning algorithms</a:t>
            </a:r>
          </a:p>
          <a:p>
            <a:pPr marL="285750" lvl="0" indent="-285750" algn="just">
              <a:lnSpc>
                <a:spcPct val="150000"/>
              </a:lnSpc>
              <a:buSzPts val="1000"/>
              <a:buFont typeface="Wingdings" panose="05000000000000000000" pitchFamily="2" charset="2"/>
              <a:buChar char="Ø"/>
              <a:tabLst>
                <a:tab pos="457200" algn="l"/>
              </a:tabLst>
            </a:pPr>
            <a:r>
              <a:rPr lang="en-IN" sz="1400" b="1" dirty="0">
                <a:latin typeface="Times New Roman" panose="02020603050405020304" pitchFamily="18" charset="0"/>
                <a:cs typeface="Times New Roman" panose="02020603050405020304" pitchFamily="18" charset="0"/>
              </a:rPr>
              <a:t>Low Latency and Bandwidth Use</a:t>
            </a:r>
            <a:r>
              <a:rPr lang="en-IN" sz="1400" dirty="0">
                <a:latin typeface="Times New Roman" panose="02020603050405020304" pitchFamily="18" charset="0"/>
                <a:cs typeface="Times New Roman" panose="02020603050405020304" pitchFamily="18" charset="0"/>
              </a:rPr>
              <a:t>: Minimizes backhaul congestion in ultra-dense 6G scenario</a:t>
            </a:r>
          </a:p>
          <a:p>
            <a:pPr marL="285750" lvl="0" indent="-285750" algn="just">
              <a:lnSpc>
                <a:spcPct val="150000"/>
              </a:lnSpc>
              <a:buSzPts val="1000"/>
              <a:buFont typeface="Wingdings" panose="05000000000000000000" pitchFamily="2" charset="2"/>
              <a:buChar char="Ø"/>
              <a:tabLst>
                <a:tab pos="457200" algn="l"/>
              </a:tabLst>
            </a:pPr>
            <a:r>
              <a:rPr lang="en-IN" sz="1400" dirty="0">
                <a:latin typeface="Times New Roman" panose="02020603050405020304" pitchFamily="18" charset="0"/>
                <a:cs typeface="Times New Roman" panose="02020603050405020304" pitchFamily="18" charset="0"/>
              </a:rPr>
              <a:t> </a:t>
            </a:r>
            <a:r>
              <a:rPr lang="en-IN" sz="1400" b="1" dirty="0">
                <a:latin typeface="Times New Roman" panose="02020603050405020304" pitchFamily="18" charset="0"/>
                <a:cs typeface="Times New Roman" panose="02020603050405020304" pitchFamily="18" charset="0"/>
              </a:rPr>
              <a:t>Decentralized &amp; Scalable</a:t>
            </a:r>
            <a:r>
              <a:rPr lang="en-IN" sz="1400" dirty="0">
                <a:latin typeface="Times New Roman" panose="02020603050405020304" pitchFamily="18" charset="0"/>
                <a:cs typeface="Times New Roman" panose="02020603050405020304" pitchFamily="18" charset="0"/>
              </a:rPr>
              <a:t>: Trains across many edge devices without centralized bottlenecks</a:t>
            </a:r>
          </a:p>
          <a:p>
            <a:pPr marL="285750" lvl="0" indent="-285750" algn="just">
              <a:lnSpc>
                <a:spcPct val="150000"/>
              </a:lnSpc>
              <a:buSzPts val="1000"/>
              <a:buFont typeface="Wingdings" panose="05000000000000000000" pitchFamily="2" charset="2"/>
              <a:buChar char="Ø"/>
              <a:tabLst>
                <a:tab pos="457200" algn="l"/>
              </a:tabLst>
            </a:pPr>
            <a:r>
              <a:rPr lang="en-IN" sz="1400" b="1" dirty="0">
                <a:latin typeface="Times New Roman" panose="02020603050405020304" pitchFamily="18" charset="0"/>
                <a:cs typeface="Times New Roman" panose="02020603050405020304" pitchFamily="18" charset="0"/>
              </a:rPr>
              <a:t>Resilient to Attacks</a:t>
            </a:r>
            <a:r>
              <a:rPr lang="en-IN" sz="1400" dirty="0">
                <a:latin typeface="Times New Roman" panose="02020603050405020304" pitchFamily="18" charset="0"/>
                <a:cs typeface="Times New Roman" panose="02020603050405020304" pitchFamily="18" charset="0"/>
              </a:rPr>
              <a:t>: Reduces risk of data reconstruction and model poisoning</a:t>
            </a:r>
          </a:p>
          <a:p>
            <a:pPr marL="285750" lvl="0" indent="-285750" algn="just">
              <a:lnSpc>
                <a:spcPct val="150000"/>
              </a:lnSpc>
              <a:buSzPts val="1000"/>
              <a:buFont typeface="Wingdings" panose="05000000000000000000" pitchFamily="2" charset="2"/>
              <a:buChar char="Ø"/>
              <a:tabLst>
                <a:tab pos="457200" algn="l"/>
              </a:tabLst>
            </a:pPr>
            <a:r>
              <a:rPr lang="en-IN" sz="1400" b="1" dirty="0">
                <a:latin typeface="Times New Roman" panose="02020603050405020304" pitchFamily="18" charset="0"/>
                <a:cs typeface="Times New Roman" panose="02020603050405020304" pitchFamily="18" charset="0"/>
              </a:rPr>
              <a:t>Simulated FL Rounds</a:t>
            </a:r>
            <a:r>
              <a:rPr lang="en-IN" sz="1400" dirty="0">
                <a:latin typeface="Times New Roman" panose="02020603050405020304" pitchFamily="18" charset="0"/>
                <a:cs typeface="Times New Roman" panose="02020603050405020304" pitchFamily="18" charset="0"/>
              </a:rPr>
              <a:t>: Enables evaluation of federated averaging and communication cost trade-offs</a:t>
            </a:r>
          </a:p>
          <a:p>
            <a:pPr marL="285750" lvl="0" indent="-285750" algn="just">
              <a:lnSpc>
                <a:spcPct val="150000"/>
              </a:lnSpc>
              <a:buSzPts val="1000"/>
              <a:buFont typeface="Wingdings" panose="05000000000000000000" pitchFamily="2" charset="2"/>
              <a:buChar char="Ø"/>
              <a:tabLst>
                <a:tab pos="457200" algn="l"/>
              </a:tabLst>
            </a:pPr>
            <a:r>
              <a:rPr lang="en-IN" sz="1400" b="1" dirty="0">
                <a:latin typeface="Times New Roman" panose="02020603050405020304" pitchFamily="18" charset="0"/>
                <a:cs typeface="Times New Roman" panose="02020603050405020304" pitchFamily="18" charset="0"/>
              </a:rPr>
              <a:t>Auditable and Transparent</a:t>
            </a:r>
            <a:r>
              <a:rPr lang="en-IN" sz="1400" dirty="0">
                <a:latin typeface="Times New Roman" panose="02020603050405020304" pitchFamily="18" charset="0"/>
                <a:cs typeface="Times New Roman" panose="02020603050405020304" pitchFamily="18" charset="0"/>
              </a:rPr>
              <a:t>: Future-ready for integration with </a:t>
            </a:r>
            <a:r>
              <a:rPr lang="en-IN" sz="1400" dirty="0" err="1">
                <a:latin typeface="Times New Roman" panose="02020603050405020304" pitchFamily="18" charset="0"/>
                <a:cs typeface="Times New Roman" panose="02020603050405020304" pitchFamily="18" charset="0"/>
              </a:rPr>
              <a:t>blockchain</a:t>
            </a:r>
            <a:r>
              <a:rPr lang="en-IN" sz="1400" dirty="0">
                <a:latin typeface="Times New Roman" panose="02020603050405020304" pitchFamily="18" charset="0"/>
                <a:cs typeface="Times New Roman" panose="02020603050405020304" pitchFamily="18" charset="0"/>
              </a:rPr>
              <a:t> audit logs</a:t>
            </a:r>
            <a:endParaRPr lang="en-IN" sz="14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94192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122310" y="483863"/>
            <a:ext cx="4648968" cy="708003"/>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sz="2400" b="1" dirty="0">
                <a:latin typeface="Times New Roman" panose="02020603050405020304" pitchFamily="18" charset="0"/>
                <a:cs typeface="Times New Roman" panose="02020603050405020304" pitchFamily="18" charset="0"/>
              </a:rPr>
              <a:t>PROJECT FLOW</a:t>
            </a: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 name="Picture 5"/>
          <p:cNvPicPr/>
          <p:nvPr/>
        </p:nvPicPr>
        <p:blipFill>
          <a:blip r:embed="rId3"/>
          <a:stretch>
            <a:fillRect/>
          </a:stretch>
        </p:blipFill>
        <p:spPr>
          <a:xfrm>
            <a:off x="2222706" y="1336987"/>
            <a:ext cx="4448175" cy="3240887"/>
          </a:xfrm>
          <a:prstGeom prst="rect">
            <a:avLst/>
          </a:prstGeom>
        </p:spPr>
      </p:pic>
    </p:spTree>
    <p:extLst>
      <p:ext uri="{BB962C8B-B14F-4D97-AF65-F5344CB8AC3E}">
        <p14:creationId xmlns:p14="http://schemas.microsoft.com/office/powerpoint/2010/main" val="7926352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64"/>
        <p:cNvGrpSpPr/>
        <p:nvPr/>
      </p:nvGrpSpPr>
      <p:grpSpPr>
        <a:xfrm>
          <a:off x="0" y="0"/>
          <a:ext cx="0" cy="0"/>
          <a:chOff x="0" y="0"/>
          <a:chExt cx="0" cy="0"/>
        </a:xfrm>
      </p:grpSpPr>
      <p:sp>
        <p:nvSpPr>
          <p:cNvPr id="865" name="Google Shape;865;p32"/>
          <p:cNvSpPr txBox="1">
            <a:spLocks noGrp="1"/>
          </p:cNvSpPr>
          <p:nvPr>
            <p:ph type="title"/>
          </p:nvPr>
        </p:nvSpPr>
        <p:spPr>
          <a:prstGeom prst="rect">
            <a:avLst/>
          </a:prstGeom>
          <a:ln>
            <a:noFill/>
          </a:ln>
        </p:spPr>
        <p:txBody>
          <a:bodyPr spcFirstLastPara="1" wrap="square" lIns="91425" tIns="91425" rIns="91425" bIns="91425" anchor="t" anchorCtr="0">
            <a:noAutofit/>
          </a:bodyPr>
          <a:lstStyle/>
          <a:p>
            <a:pPr>
              <a:lnSpc>
                <a:spcPct val="150000"/>
              </a:lnSpc>
            </a:pPr>
            <a:r>
              <a:rPr lang="en-US" sz="2400" b="1" dirty="0">
                <a:latin typeface="Times New Roman" panose="02020603050405020304" pitchFamily="18" charset="0"/>
                <a:cs typeface="Times New Roman" panose="02020603050405020304" pitchFamily="18" charset="0"/>
              </a:rPr>
              <a:t>Resource Requirements</a:t>
            </a:r>
          </a:p>
        </p:txBody>
      </p:sp>
      <p:sp>
        <p:nvSpPr>
          <p:cNvPr id="866" name="Google Shape;866;p32"/>
          <p:cNvSpPr/>
          <p:nvPr/>
        </p:nvSpPr>
        <p:spPr>
          <a:xfrm>
            <a:off x="3546888" y="1470450"/>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4"/>
                </a:solidFill>
                <a:latin typeface="Poppins Black" panose="00000800000000000000"/>
                <a:ea typeface="Poppins Black" panose="00000800000000000000"/>
                <a:cs typeface="Poppins Black" panose="00000800000000000000"/>
                <a:sym typeface="Poppins Black" panose="00000800000000000000"/>
              </a:rPr>
              <a:t>01</a:t>
            </a:r>
            <a:endParaRPr sz="2000">
              <a:solidFill>
                <a:schemeClr val="accent4"/>
              </a:solidFill>
              <a:latin typeface="Poppins Black" panose="00000800000000000000"/>
              <a:ea typeface="Poppins Black" panose="00000800000000000000"/>
              <a:cs typeface="Poppins Black" panose="00000800000000000000"/>
              <a:sym typeface="Poppins Black" panose="00000800000000000000"/>
            </a:endParaRPr>
          </a:p>
        </p:txBody>
      </p:sp>
      <p:sp>
        <p:nvSpPr>
          <p:cNvPr id="867" name="Google Shape;867;p32"/>
          <p:cNvSpPr txBox="1"/>
          <p:nvPr/>
        </p:nvSpPr>
        <p:spPr>
          <a:xfrm>
            <a:off x="4463688" y="1452975"/>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GB"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Hardware</a:t>
            </a:r>
            <a:endParaRPr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68" name="Google Shape;868;p32"/>
          <p:cNvSpPr txBox="1"/>
          <p:nvPr/>
        </p:nvSpPr>
        <p:spPr>
          <a:xfrm>
            <a:off x="4463688" y="1821075"/>
            <a:ext cx="3423600" cy="384900"/>
          </a:xfrm>
          <a:prstGeom prst="rect">
            <a:avLst/>
          </a:prstGeom>
          <a:noFill/>
          <a:ln>
            <a:noFill/>
          </a:ln>
        </p:spPr>
        <p:txBody>
          <a:bodyPr spcFirstLastPara="1" wrap="square" lIns="91425" tIns="91425" rIns="91425" bIns="91425" anchor="t" anchorCtr="0">
            <a:noAutofit/>
          </a:bodyPr>
          <a:lstStyle/>
          <a:p>
            <a:pPr lvl="0"/>
            <a:r>
              <a:rPr lang="en-GB" sz="800" b="1" dirty="0">
                <a:latin typeface="Times New Roman" panose="02020603050405020304" pitchFamily="18" charset="0"/>
                <a:ea typeface="Poppins" panose="00000500000000000000"/>
                <a:cs typeface="Times New Roman" panose="02020603050405020304" pitchFamily="18" charset="0"/>
                <a:sym typeface="Poppins" panose="00000500000000000000"/>
              </a:rPr>
              <a:t>(Processor: </a:t>
            </a:r>
            <a:r>
              <a:rPr lang="en-US" sz="800" dirty="0">
                <a:latin typeface="Times New Roman" panose="02020603050405020304" pitchFamily="18" charset="0"/>
                <a:cs typeface="Times New Roman" panose="02020603050405020304" pitchFamily="18" charset="0"/>
              </a:rPr>
              <a:t>I5/Intel Processor, </a:t>
            </a:r>
            <a:r>
              <a:rPr lang="en-IN" sz="800" b="1" dirty="0">
                <a:latin typeface="Times New Roman" panose="02020603050405020304" pitchFamily="18" charset="0"/>
                <a:cs typeface="Times New Roman" panose="02020603050405020304" pitchFamily="18" charset="0"/>
              </a:rPr>
              <a:t>RAM:</a:t>
            </a:r>
            <a:r>
              <a:rPr lang="en-IN" sz="800" dirty="0">
                <a:latin typeface="Times New Roman" panose="02020603050405020304" pitchFamily="18" charset="0"/>
                <a:cs typeface="Times New Roman" panose="02020603050405020304" pitchFamily="18" charset="0"/>
              </a:rPr>
              <a:t> 8GB (min), </a:t>
            </a:r>
            <a:r>
              <a:rPr lang="en-IN" sz="800" b="1" dirty="0">
                <a:latin typeface="Times New Roman" panose="02020603050405020304" pitchFamily="18" charset="0"/>
                <a:cs typeface="Times New Roman" panose="02020603050405020304" pitchFamily="18" charset="0"/>
              </a:rPr>
              <a:t>Hard Disk: </a:t>
            </a:r>
            <a:r>
              <a:rPr lang="en-IN" sz="800" dirty="0">
                <a:latin typeface="Times New Roman" panose="02020603050405020304" pitchFamily="18" charset="0"/>
                <a:cs typeface="Times New Roman" panose="02020603050405020304" pitchFamily="18" charset="0"/>
              </a:rPr>
              <a:t>128 GB</a:t>
            </a:r>
            <a:r>
              <a:rPr lang="en-IN" sz="800" b="1" dirty="0">
                <a:latin typeface="Times New Roman" panose="02020603050405020304" pitchFamily="18" charset="0"/>
                <a:cs typeface="Times New Roman" panose="02020603050405020304" pitchFamily="18" charset="0"/>
              </a:rPr>
              <a:t>, Key Board:</a:t>
            </a:r>
            <a:r>
              <a:rPr lang="en-IN" sz="800" dirty="0">
                <a:latin typeface="Times New Roman" panose="02020603050405020304" pitchFamily="18" charset="0"/>
                <a:cs typeface="Times New Roman" panose="02020603050405020304" pitchFamily="18" charset="0"/>
              </a:rPr>
              <a:t> Standard Windows Keyboard, </a:t>
            </a:r>
            <a:r>
              <a:rPr lang="en-IN" sz="800" b="1" dirty="0">
                <a:latin typeface="Times New Roman" panose="02020603050405020304" pitchFamily="18" charset="0"/>
                <a:cs typeface="Times New Roman" panose="02020603050405020304" pitchFamily="18" charset="0"/>
              </a:rPr>
              <a:t>Mouse:</a:t>
            </a:r>
            <a:r>
              <a:rPr lang="en-IN" sz="800" dirty="0">
                <a:latin typeface="Times New Roman" panose="02020603050405020304" pitchFamily="18" charset="0"/>
                <a:cs typeface="Times New Roman" panose="02020603050405020304" pitchFamily="18" charset="0"/>
              </a:rPr>
              <a:t> Two or Three Button Mouse)</a:t>
            </a:r>
          </a:p>
          <a:p>
            <a:pPr marL="0" lvl="0" indent="0" algn="l" rtl="0">
              <a:lnSpc>
                <a:spcPct val="115000"/>
              </a:lnSpc>
              <a:spcBef>
                <a:spcPts val="0"/>
              </a:spcBef>
              <a:spcAft>
                <a:spcPts val="0"/>
              </a:spcAft>
              <a:buNone/>
            </a:pPr>
            <a:endParaRPr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869" name="Google Shape;869;p32"/>
          <p:cNvSpPr txBox="1"/>
          <p:nvPr/>
        </p:nvSpPr>
        <p:spPr>
          <a:xfrm>
            <a:off x="1133061" y="2369225"/>
            <a:ext cx="1570852" cy="883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GB" sz="2000"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Resources</a:t>
            </a:r>
            <a:endParaRPr sz="20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70" name="Google Shape;870;p32"/>
          <p:cNvSpPr/>
          <p:nvPr/>
        </p:nvSpPr>
        <p:spPr>
          <a:xfrm>
            <a:off x="3546888" y="242892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4"/>
                </a:solidFill>
                <a:latin typeface="Poppins Black" panose="00000800000000000000"/>
                <a:ea typeface="Poppins Black" panose="00000800000000000000"/>
                <a:cs typeface="Poppins Black" panose="00000800000000000000"/>
                <a:sym typeface="Poppins Black" panose="00000800000000000000"/>
              </a:rPr>
              <a:t>02</a:t>
            </a:r>
            <a:endParaRPr sz="2000">
              <a:solidFill>
                <a:schemeClr val="accent4"/>
              </a:solidFill>
              <a:latin typeface="Poppins Black" panose="00000800000000000000"/>
              <a:ea typeface="Poppins Black" panose="00000800000000000000"/>
              <a:cs typeface="Poppins Black" panose="00000800000000000000"/>
              <a:sym typeface="Poppins Black" panose="00000800000000000000"/>
            </a:endParaRPr>
          </a:p>
        </p:txBody>
      </p:sp>
      <p:sp>
        <p:nvSpPr>
          <p:cNvPr id="871" name="Google Shape;871;p32"/>
          <p:cNvSpPr txBox="1"/>
          <p:nvPr/>
        </p:nvSpPr>
        <p:spPr>
          <a:xfrm>
            <a:off x="4463688" y="2411450"/>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GB"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Software</a:t>
            </a:r>
            <a:endParaRPr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72" name="Google Shape;872;p32"/>
          <p:cNvSpPr txBox="1"/>
          <p:nvPr/>
        </p:nvSpPr>
        <p:spPr>
          <a:xfrm>
            <a:off x="4463688" y="2779550"/>
            <a:ext cx="3423600" cy="384900"/>
          </a:xfrm>
          <a:prstGeom prst="rect">
            <a:avLst/>
          </a:prstGeom>
          <a:noFill/>
          <a:ln>
            <a:noFill/>
          </a:ln>
        </p:spPr>
        <p:txBody>
          <a:bodyPr spcFirstLastPara="1" wrap="square" lIns="91425" tIns="91425" rIns="91425" bIns="91425" anchor="t" anchorCtr="0">
            <a:noAutofit/>
          </a:bodyPr>
          <a:lstStyle/>
          <a:p>
            <a:pPr lvl="0"/>
            <a:r>
              <a:rPr lang="en-US" sz="800" dirty="0">
                <a:latin typeface="Times New Roman" panose="02020603050405020304" pitchFamily="18" charset="0"/>
                <a:cs typeface="Times New Roman" panose="02020603050405020304" pitchFamily="18" charset="0"/>
              </a:rPr>
              <a:t>(</a:t>
            </a:r>
            <a:r>
              <a:rPr lang="en-US" sz="800" b="1" dirty="0">
                <a:latin typeface="Times New Roman" panose="02020603050405020304" pitchFamily="18" charset="0"/>
                <a:cs typeface="Times New Roman" panose="02020603050405020304" pitchFamily="18" charset="0"/>
              </a:rPr>
              <a:t>Operating System: </a:t>
            </a:r>
            <a:r>
              <a:rPr lang="en-US" sz="800" dirty="0">
                <a:latin typeface="Times New Roman" panose="02020603050405020304" pitchFamily="18" charset="0"/>
                <a:cs typeface="Times New Roman" panose="02020603050405020304" pitchFamily="18" charset="0"/>
              </a:rPr>
              <a:t>Windows 10, </a:t>
            </a:r>
            <a:r>
              <a:rPr lang="en-US" sz="800" b="1" dirty="0">
                <a:latin typeface="Times New Roman" panose="02020603050405020304" pitchFamily="18" charset="0"/>
                <a:cs typeface="Times New Roman" panose="02020603050405020304" pitchFamily="18" charset="0"/>
              </a:rPr>
              <a:t>Programming Language: </a:t>
            </a:r>
            <a:r>
              <a:rPr lang="en-US" sz="800" dirty="0">
                <a:latin typeface="Times New Roman" panose="02020603050405020304" pitchFamily="18" charset="0"/>
                <a:cs typeface="Times New Roman" panose="02020603050405020304" pitchFamily="18" charset="0"/>
              </a:rPr>
              <a:t>Python 3.10.8, </a:t>
            </a:r>
            <a:r>
              <a:rPr lang="en-US" sz="800" b="1" dirty="0">
                <a:latin typeface="Times New Roman" panose="02020603050405020304" pitchFamily="18" charset="0"/>
                <a:cs typeface="Times New Roman" panose="02020603050405020304" pitchFamily="18" charset="0"/>
              </a:rPr>
              <a:t>IDE: </a:t>
            </a:r>
            <a:r>
              <a:rPr lang="en-US" sz="800" dirty="0">
                <a:latin typeface="Times New Roman" panose="02020603050405020304" pitchFamily="18" charset="0"/>
                <a:cs typeface="Times New Roman" panose="02020603050405020304" pitchFamily="18" charset="0"/>
              </a:rPr>
              <a:t>VS Code)</a:t>
            </a:r>
            <a:endParaRPr lang="en-IN" sz="800" dirty="0">
              <a:latin typeface="Times New Roman" panose="02020603050405020304" pitchFamily="18" charset="0"/>
              <a:cs typeface="Times New Roman" panose="02020603050405020304" pitchFamily="18" charset="0"/>
            </a:endParaRPr>
          </a:p>
        </p:txBody>
      </p:sp>
      <p:sp>
        <p:nvSpPr>
          <p:cNvPr id="873" name="Google Shape;873;p32"/>
          <p:cNvSpPr/>
          <p:nvPr/>
        </p:nvSpPr>
        <p:spPr>
          <a:xfrm>
            <a:off x="3546888" y="3387400"/>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4"/>
                </a:solidFill>
                <a:latin typeface="Poppins Black" panose="00000800000000000000"/>
                <a:ea typeface="Poppins Black" panose="00000800000000000000"/>
                <a:cs typeface="Poppins Black" panose="00000800000000000000"/>
                <a:sym typeface="Poppins Black" panose="00000800000000000000"/>
              </a:rPr>
              <a:t>03</a:t>
            </a:r>
            <a:endParaRPr sz="2000">
              <a:solidFill>
                <a:schemeClr val="accent4"/>
              </a:solidFill>
              <a:latin typeface="Poppins Black" panose="00000800000000000000"/>
              <a:ea typeface="Poppins Black" panose="00000800000000000000"/>
              <a:cs typeface="Poppins Black" panose="00000800000000000000"/>
              <a:sym typeface="Poppins Black" panose="00000800000000000000"/>
            </a:endParaRPr>
          </a:p>
        </p:txBody>
      </p:sp>
      <p:sp>
        <p:nvSpPr>
          <p:cNvPr id="874" name="Google Shape;874;p32"/>
          <p:cNvSpPr txBox="1"/>
          <p:nvPr/>
        </p:nvSpPr>
        <p:spPr>
          <a:xfrm>
            <a:off x="4463688" y="3230134"/>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US"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Packages/Libraries</a:t>
            </a:r>
            <a:endParaRPr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75" name="Google Shape;875;p32"/>
          <p:cNvSpPr txBox="1"/>
          <p:nvPr/>
        </p:nvSpPr>
        <p:spPr>
          <a:xfrm>
            <a:off x="4463688" y="3750634"/>
            <a:ext cx="3766500" cy="384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a:t>
            </a:r>
            <a:r>
              <a:rPr lang="en-US" sz="800" dirty="0" err="1">
                <a:latin typeface="Times New Roman" panose="02020603050405020304" pitchFamily="18" charset="0"/>
                <a:ea typeface="Poppins" panose="00000500000000000000"/>
                <a:cs typeface="Times New Roman" panose="02020603050405020304" pitchFamily="18" charset="0"/>
                <a:sym typeface="Poppins" panose="00000500000000000000"/>
              </a:rPr>
              <a:t>Streamlit</a:t>
            </a:r>
            <a:r>
              <a:rPr lang="en-US" sz="800" dirty="0">
                <a:latin typeface="Times New Roman" panose="02020603050405020304" pitchFamily="18" charset="0"/>
                <a:ea typeface="Poppins" panose="00000500000000000000"/>
                <a:cs typeface="Times New Roman" panose="02020603050405020304" pitchFamily="18" charset="0"/>
                <a:sym typeface="Poppins" panose="00000500000000000000"/>
              </a:rPr>
              <a:t>, </a:t>
            </a:r>
            <a:r>
              <a:rPr lang="en-US" sz="800" dirty="0" err="1">
                <a:latin typeface="Times New Roman" panose="02020603050405020304" pitchFamily="18" charset="0"/>
                <a:ea typeface="Poppins" panose="00000500000000000000"/>
                <a:cs typeface="Times New Roman" panose="02020603050405020304" pitchFamily="18" charset="0"/>
                <a:sym typeface="Poppins" panose="00000500000000000000"/>
              </a:rPr>
              <a:t>Sklearn</a:t>
            </a:r>
            <a:r>
              <a:rPr lang="en-US" sz="800" dirty="0">
                <a:latin typeface="Times New Roman" panose="02020603050405020304" pitchFamily="18" charset="0"/>
                <a:ea typeface="Poppins" panose="00000500000000000000"/>
                <a:cs typeface="Times New Roman" panose="02020603050405020304" pitchFamily="18" charset="0"/>
                <a:sym typeface="Poppins" panose="00000500000000000000"/>
              </a:rPr>
              <a:t>, Transformers, </a:t>
            </a:r>
            <a:r>
              <a:rPr lang="en-US" sz="800" dirty="0" err="1">
                <a:latin typeface="Times New Roman" panose="02020603050405020304" pitchFamily="18" charset="0"/>
                <a:ea typeface="Poppins" panose="00000500000000000000"/>
                <a:cs typeface="Times New Roman" panose="02020603050405020304" pitchFamily="18" charset="0"/>
                <a:sym typeface="Poppins" panose="00000500000000000000"/>
              </a:rPr>
              <a:t>Tensorflow</a:t>
            </a:r>
            <a:r>
              <a:rPr lang="en-US" sz="800" dirty="0">
                <a:latin typeface="Times New Roman" panose="02020603050405020304" pitchFamily="18" charset="0"/>
                <a:ea typeface="Poppins" panose="00000500000000000000"/>
                <a:cs typeface="Times New Roman" panose="02020603050405020304" pitchFamily="18" charset="0"/>
                <a:sym typeface="Poppins" panose="00000500000000000000"/>
              </a:rPr>
              <a:t>, Pandas, </a:t>
            </a:r>
            <a:r>
              <a:rPr lang="en-US" sz="800" dirty="0" err="1">
                <a:latin typeface="Times New Roman" panose="02020603050405020304" pitchFamily="18" charset="0"/>
                <a:ea typeface="Poppins" panose="00000500000000000000"/>
                <a:cs typeface="Times New Roman" panose="02020603050405020304" pitchFamily="18" charset="0"/>
                <a:sym typeface="Poppins" panose="00000500000000000000"/>
              </a:rPr>
              <a:t>Seaborn</a:t>
            </a:r>
            <a:r>
              <a:rPr lang="en-US" sz="800" dirty="0">
                <a:latin typeface="Times New Roman" panose="02020603050405020304" pitchFamily="18" charset="0"/>
                <a:ea typeface="Poppins" panose="00000500000000000000"/>
                <a:cs typeface="Times New Roman" panose="02020603050405020304" pitchFamily="18" charset="0"/>
                <a:sym typeface="Poppins" panose="00000500000000000000"/>
              </a:rPr>
              <a:t>, Speech Recognition</a:t>
            </a:r>
            <a:endParaRPr sz="800"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876" name="Google Shape;876;p32"/>
          <p:cNvSpPr/>
          <p:nvPr/>
        </p:nvSpPr>
        <p:spPr>
          <a:xfrm>
            <a:off x="715093" y="3981068"/>
            <a:ext cx="267655" cy="261999"/>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78" name="Google Shape;878;p32"/>
          <p:cNvCxnSpPr>
            <a:stCxn id="869" idx="3"/>
            <a:endCxn id="866" idx="2"/>
          </p:cNvCxnSpPr>
          <p:nvPr/>
        </p:nvCxnSpPr>
        <p:spPr>
          <a:xfrm flipV="1">
            <a:off x="2703913" y="1852650"/>
            <a:ext cx="842975" cy="958475"/>
          </a:xfrm>
          <a:prstGeom prst="curvedConnector3">
            <a:avLst>
              <a:gd name="adj1" fmla="val 50000"/>
            </a:avLst>
          </a:prstGeom>
          <a:noFill/>
          <a:ln w="19050" cap="flat" cmpd="sng">
            <a:solidFill>
              <a:schemeClr val="accent4"/>
            </a:solidFill>
            <a:prstDash val="dot"/>
            <a:round/>
            <a:headEnd type="none" w="med" len="med"/>
            <a:tailEnd type="none" w="med" len="med"/>
          </a:ln>
        </p:spPr>
      </p:cxnSp>
      <p:cxnSp>
        <p:nvCxnSpPr>
          <p:cNvPr id="879" name="Google Shape;879;p32"/>
          <p:cNvCxnSpPr>
            <a:stCxn id="869" idx="3"/>
            <a:endCxn id="870" idx="2"/>
          </p:cNvCxnSpPr>
          <p:nvPr/>
        </p:nvCxnSpPr>
        <p:spPr>
          <a:xfrm>
            <a:off x="2703913" y="2811125"/>
            <a:ext cx="842975" cy="12700"/>
          </a:xfrm>
          <a:prstGeom prst="curvedConnector3">
            <a:avLst>
              <a:gd name="adj1" fmla="val 50000"/>
            </a:avLst>
          </a:prstGeom>
          <a:noFill/>
          <a:ln w="19050" cap="flat" cmpd="sng">
            <a:solidFill>
              <a:schemeClr val="accent4"/>
            </a:solidFill>
            <a:prstDash val="dot"/>
            <a:round/>
            <a:headEnd type="none" w="med" len="med"/>
            <a:tailEnd type="none" w="med" len="med"/>
          </a:ln>
        </p:spPr>
      </p:cxnSp>
      <p:cxnSp>
        <p:nvCxnSpPr>
          <p:cNvPr id="880" name="Google Shape;880;p32"/>
          <p:cNvCxnSpPr>
            <a:stCxn id="869" idx="3"/>
            <a:endCxn id="873" idx="2"/>
          </p:cNvCxnSpPr>
          <p:nvPr/>
        </p:nvCxnSpPr>
        <p:spPr>
          <a:xfrm>
            <a:off x="2703913" y="2811125"/>
            <a:ext cx="842975" cy="958475"/>
          </a:xfrm>
          <a:prstGeom prst="curvedConnector3">
            <a:avLst>
              <a:gd name="adj1" fmla="val 50000"/>
            </a:avLst>
          </a:prstGeom>
          <a:noFill/>
          <a:ln w="19050" cap="flat" cmpd="sng">
            <a:solidFill>
              <a:schemeClr val="accent4"/>
            </a:solidFill>
            <a:prstDash val="dot"/>
            <a:round/>
            <a:headEnd type="none" w="med" len="med"/>
            <a:tailEnd type="none" w="med" len="med"/>
          </a:ln>
        </p:spPr>
      </p:cxnSp>
      <p:sp>
        <p:nvSpPr>
          <p:cNvPr id="22" name="Google Shape;894;p34"/>
          <p:cNvSpPr txBox="1"/>
          <p:nvPr/>
        </p:nvSpPr>
        <p:spPr>
          <a:xfrm>
            <a:off x="7740737" y="875039"/>
            <a:ext cx="644608" cy="940458"/>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3200" b="1" dirty="0">
              <a:solidFill>
                <a:schemeClr val="accent4"/>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122310" y="483863"/>
            <a:ext cx="4648968" cy="708003"/>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400" b="1" dirty="0">
                <a:latin typeface="Times New Roman" panose="02020603050405020304" pitchFamily="18" charset="0"/>
                <a:cs typeface="Times New Roman" panose="02020603050405020304" pitchFamily="18" charset="0"/>
              </a:rPr>
              <a:t>Architecture</a:t>
            </a: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 name="Picture 1"/>
          <p:cNvPicPr>
            <a:picLocks noChangeAspect="1"/>
          </p:cNvPicPr>
          <p:nvPr/>
        </p:nvPicPr>
        <p:blipFill>
          <a:blip r:embed="rId3"/>
          <a:stretch>
            <a:fillRect/>
          </a:stretch>
        </p:blipFill>
        <p:spPr>
          <a:xfrm>
            <a:off x="1455174" y="1191866"/>
            <a:ext cx="6215969" cy="343779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16083" y="1116619"/>
            <a:ext cx="6783860" cy="2354491"/>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400" b="1" dirty="0">
                <a:latin typeface="Times New Roman" panose="02020603050405020304" pitchFamily="18" charset="0"/>
                <a:cs typeface="Times New Roman" panose="02020603050405020304" pitchFamily="18" charset="0"/>
              </a:rPr>
              <a:t>Use Case Diagram:</a:t>
            </a:r>
          </a:p>
          <a:p>
            <a:pPr lvl="1" algn="just"/>
            <a:r>
              <a:rPr lang="en-US" sz="1400" b="1" dirty="0"/>
              <a:t>1) </a:t>
            </a:r>
            <a:r>
              <a:rPr lang="en-US" sz="1400" dirty="0">
                <a:latin typeface="Times New Roman" panose="02020603050405020304" pitchFamily="18" charset="0"/>
                <a:cs typeface="Times New Roman" panose="02020603050405020304" pitchFamily="18" charset="0"/>
              </a:rPr>
              <a:t>A use case diagram in the Unified Modeling Language (UML) is a type of behavioral diagram defined by and created from a Use-case analysis. </a:t>
            </a:r>
          </a:p>
          <a:p>
            <a:pPr lvl="1" algn="just"/>
            <a:endParaRPr lang="en-IN" sz="1400" dirty="0">
              <a:latin typeface="Times New Roman" panose="02020603050405020304" pitchFamily="18" charset="0"/>
              <a:cs typeface="Times New Roman" panose="02020603050405020304" pitchFamily="18" charset="0"/>
            </a:endParaRPr>
          </a:p>
          <a:p>
            <a:pPr lvl="1" algn="just"/>
            <a:r>
              <a:rPr lang="en-US" sz="1400" b="1" dirty="0">
                <a:latin typeface="Times New Roman" panose="02020603050405020304" pitchFamily="18" charset="0"/>
                <a:cs typeface="Times New Roman" panose="02020603050405020304" pitchFamily="18" charset="0"/>
              </a:rPr>
              <a:t>2) </a:t>
            </a:r>
            <a:r>
              <a:rPr lang="en-US" sz="1400" dirty="0">
                <a:latin typeface="Times New Roman" panose="02020603050405020304" pitchFamily="18" charset="0"/>
                <a:cs typeface="Times New Roman" panose="02020603050405020304" pitchFamily="18" charset="0"/>
              </a:rPr>
              <a:t>Its purpose is to present a graphical overview of the functionality provided by a system in terms of actors, their goals (represented as use cases), and any dependencies between those use cases. </a:t>
            </a:r>
          </a:p>
          <a:p>
            <a:pPr lvl="1" algn="just"/>
            <a:endParaRPr lang="en-IN" sz="1400" dirty="0">
              <a:latin typeface="Times New Roman" panose="02020603050405020304" pitchFamily="18" charset="0"/>
              <a:cs typeface="Times New Roman" panose="02020603050405020304" pitchFamily="18" charset="0"/>
            </a:endParaRPr>
          </a:p>
          <a:p>
            <a:pPr lvl="1" algn="just"/>
            <a:r>
              <a:rPr lang="en-US" sz="1400" b="1" dirty="0">
                <a:latin typeface="Times New Roman" panose="02020603050405020304" pitchFamily="18" charset="0"/>
                <a:cs typeface="Times New Roman" panose="02020603050405020304" pitchFamily="18" charset="0"/>
              </a:rPr>
              <a:t>3) </a:t>
            </a:r>
            <a:r>
              <a:rPr lang="en-US" sz="1400" dirty="0">
                <a:latin typeface="Times New Roman" panose="02020603050405020304" pitchFamily="18" charset="0"/>
                <a:cs typeface="Times New Roman" panose="02020603050405020304" pitchFamily="18" charset="0"/>
              </a:rPr>
              <a:t>The main purpose of a use case diagram is to show what system functions are performed for which actor. Roles of the actors in the system can be depicted.</a:t>
            </a:r>
            <a:endParaRPr lang="en-IN" sz="1400" dirty="0">
              <a:latin typeface="Times New Roman" panose="02020603050405020304" pitchFamily="18" charset="0"/>
              <a:cs typeface="Times New Roman" panose="02020603050405020304" pitchFamily="18" charset="0"/>
            </a:endParaRPr>
          </a:p>
        </p:txBody>
      </p:sp>
      <p:sp>
        <p:nvSpPr>
          <p:cNvPr id="2" name="Rectangle 1"/>
          <p:cNvSpPr/>
          <p:nvPr/>
        </p:nvSpPr>
        <p:spPr>
          <a:xfrm>
            <a:off x="2383141" y="254877"/>
            <a:ext cx="3598100" cy="635367"/>
          </a:xfrm>
          <a:prstGeom prst="rect">
            <a:avLst/>
          </a:prstGeom>
        </p:spPr>
        <p:txBody>
          <a:bodyPr wrap="none">
            <a:spAutoFit/>
          </a:bodyPr>
          <a:lstStyle/>
          <a:p>
            <a:pPr lvl="2" algn="ctr">
              <a:lnSpc>
                <a:spcPct val="170000"/>
              </a:lnSpc>
            </a:pPr>
            <a:r>
              <a:rPr lang="en-US" sz="2400" b="1" dirty="0">
                <a:latin typeface="Times New Roman" panose="02020603050405020304" pitchFamily="18" charset="0"/>
                <a:cs typeface="Times New Roman" panose="02020603050405020304" pitchFamily="18" charset="0"/>
              </a:rPr>
              <a:t>UML DIAGRAMS</a:t>
            </a:r>
          </a:p>
        </p:txBody>
      </p:sp>
    </p:spTree>
    <p:extLst>
      <p:ext uri="{BB962C8B-B14F-4D97-AF65-F5344CB8AC3E}">
        <p14:creationId xmlns:p14="http://schemas.microsoft.com/office/powerpoint/2010/main" val="38061344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060057" y="0"/>
            <a:ext cx="6447501" cy="698159"/>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endParaRPr lang="en-US" sz="2700" b="1" dirty="0">
              <a:solidFill>
                <a:schemeClr val="accent4"/>
              </a:solidFill>
              <a:latin typeface="Times New Roman" panose="02020603050405020304" pitchFamily="18" charset="0"/>
              <a:cs typeface="Times New Roman" panose="02020603050405020304" pitchFamily="18" charset="0"/>
            </a:endParaRPr>
          </a:p>
        </p:txBody>
      </p:sp>
      <p:sp>
        <p:nvSpPr>
          <p:cNvPr id="2" name="Text Box 1"/>
          <p:cNvSpPr txBox="1"/>
          <p:nvPr/>
        </p:nvSpPr>
        <p:spPr>
          <a:xfrm>
            <a:off x="3331845" y="4665942"/>
            <a:ext cx="2480310" cy="253916"/>
          </a:xfrm>
          <a:prstGeom prst="rect">
            <a:avLst/>
          </a:prstGeom>
          <a:noFill/>
        </p:spPr>
        <p:txBody>
          <a:bodyPr wrap="square" rtlCol="0">
            <a:spAutoFit/>
          </a:bodyPr>
          <a:lstStyle/>
          <a:p>
            <a:pPr algn="ctr"/>
            <a:r>
              <a:rPr lang="en-US" sz="1050" b="1" dirty="0">
                <a:latin typeface="Times New Roman" panose="02020603050405020304" pitchFamily="18" charset="0"/>
                <a:cs typeface="Times New Roman" panose="02020603050405020304" pitchFamily="18" charset="0"/>
              </a:rPr>
              <a:t>Figure: Use Case Diagram</a:t>
            </a:r>
          </a:p>
        </p:txBody>
      </p:sp>
      <p:pic>
        <p:nvPicPr>
          <p:cNvPr id="5" name="Picture 4"/>
          <p:cNvPicPr/>
          <p:nvPr/>
        </p:nvPicPr>
        <p:blipFill>
          <a:blip r:embed="rId2"/>
          <a:stretch>
            <a:fillRect/>
          </a:stretch>
        </p:blipFill>
        <p:spPr>
          <a:xfrm>
            <a:off x="1972898" y="698159"/>
            <a:ext cx="5534660" cy="3625645"/>
          </a:xfrm>
          <a:prstGeom prst="rect">
            <a:avLst/>
          </a:prstGeom>
        </p:spPr>
      </p:pic>
    </p:spTree>
    <p:extLst>
      <p:ext uri="{BB962C8B-B14F-4D97-AF65-F5344CB8AC3E}">
        <p14:creationId xmlns:p14="http://schemas.microsoft.com/office/powerpoint/2010/main" val="30094215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80069" y="316374"/>
            <a:ext cx="6783860" cy="1731243"/>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500" b="1" dirty="0">
                <a:latin typeface="Times New Roman" panose="02020603050405020304" pitchFamily="18" charset="0"/>
                <a:cs typeface="Times New Roman" panose="02020603050405020304" pitchFamily="18" charset="0"/>
              </a:rPr>
              <a:t>Class Diagram:</a:t>
            </a:r>
          </a:p>
          <a:p>
            <a:pPr algn="just">
              <a:lnSpc>
                <a:spcPct val="150000"/>
              </a:lnSpc>
            </a:pPr>
            <a:r>
              <a:rPr lang="en-US" sz="1400" dirty="0">
                <a:latin typeface="Times New Roman" panose="02020603050405020304" pitchFamily="18" charset="0"/>
                <a:cs typeface="Times New Roman" panose="02020603050405020304" pitchFamily="18" charset="0"/>
              </a:rPr>
              <a:t>In software engineering, a class diagram in the Unified Modeling Language (UML) is a type of static structure diagram that describes the structure of a system by showing the system's classes, their attributes, operations (or methods), and the relationships among the classes. It explains which class contains information</a:t>
            </a:r>
            <a:endParaRPr lang="en-IN" sz="1400" dirty="0">
              <a:latin typeface="Times New Roman" panose="02020603050405020304" pitchFamily="18" charset="0"/>
              <a:cs typeface="Times New Roman" panose="02020603050405020304" pitchFamily="18" charset="0"/>
            </a:endParaRPr>
          </a:p>
        </p:txBody>
      </p:sp>
      <p:pic>
        <p:nvPicPr>
          <p:cNvPr id="5" name="Picture 4"/>
          <p:cNvPicPr/>
          <p:nvPr/>
        </p:nvPicPr>
        <p:blipFill>
          <a:blip r:embed="rId2"/>
          <a:stretch>
            <a:fillRect/>
          </a:stretch>
        </p:blipFill>
        <p:spPr>
          <a:xfrm>
            <a:off x="1706245" y="2047616"/>
            <a:ext cx="5731510" cy="2548513"/>
          </a:xfrm>
          <a:prstGeom prst="rect">
            <a:avLst/>
          </a:prstGeom>
        </p:spPr>
      </p:pic>
    </p:spTree>
    <p:extLst>
      <p:ext uri="{BB962C8B-B14F-4D97-AF65-F5344CB8AC3E}">
        <p14:creationId xmlns:p14="http://schemas.microsoft.com/office/powerpoint/2010/main" val="6953118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96244" y="626503"/>
            <a:ext cx="3725890" cy="3046988"/>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500" b="1" dirty="0">
                <a:latin typeface="Times New Roman" panose="02020603050405020304" pitchFamily="18" charset="0"/>
                <a:cs typeface="Times New Roman" panose="02020603050405020304" pitchFamily="18" charset="0"/>
              </a:rPr>
              <a:t>Sequence Diagram:</a:t>
            </a:r>
            <a:endParaRPr lang="en-US" sz="1500" dirty="0">
              <a:latin typeface="Times New Roman" panose="02020603050405020304" pitchFamily="18" charset="0"/>
              <a:cs typeface="Times New Roman" panose="02020603050405020304" pitchFamily="18" charset="0"/>
            </a:endParaRPr>
          </a:p>
          <a:p>
            <a:pPr lvl="0" algn="just">
              <a:lnSpc>
                <a:spcPct val="150000"/>
              </a:lnSpc>
            </a:pPr>
            <a:r>
              <a:rPr lang="en-US" sz="1400" dirty="0">
                <a:latin typeface="Times New Roman" panose="02020603050405020304" pitchFamily="18" charset="0"/>
                <a:cs typeface="Times New Roman" panose="02020603050405020304" pitchFamily="18" charset="0"/>
              </a:rPr>
              <a:t>A sequence diagram in Unified Modeling Language (UML) is a kind of interaction diagram that shows how processes operate with one another and in what order. </a:t>
            </a:r>
            <a:endParaRPr lang="en-IN" sz="1400" dirty="0">
              <a:latin typeface="Times New Roman" panose="02020603050405020304" pitchFamily="18" charset="0"/>
              <a:cs typeface="Times New Roman" panose="02020603050405020304" pitchFamily="18" charset="0"/>
            </a:endParaRPr>
          </a:p>
          <a:p>
            <a:pPr lvl="0" algn="just">
              <a:lnSpc>
                <a:spcPct val="150000"/>
              </a:lnSpc>
            </a:pPr>
            <a:r>
              <a:rPr lang="en-US" sz="1400" dirty="0">
                <a:latin typeface="Times New Roman" panose="02020603050405020304" pitchFamily="18" charset="0"/>
                <a:cs typeface="Times New Roman" panose="02020603050405020304" pitchFamily="18" charset="0"/>
              </a:rPr>
              <a:t>It is a construct of a Message Sequence Chart. Sequence diagrams are sometimes called event diagrams, event scenarios, and timing diagrams</a:t>
            </a:r>
            <a:endParaRPr lang="en-IN" sz="1400" dirty="0">
              <a:latin typeface="Times New Roman" panose="02020603050405020304" pitchFamily="18" charset="0"/>
              <a:cs typeface="Times New Roman" panose="02020603050405020304" pitchFamily="18" charset="0"/>
            </a:endParaRPr>
          </a:p>
          <a:p>
            <a:pPr lvl="0" algn="just">
              <a:lnSpc>
                <a:spcPct val="150000"/>
              </a:lnSpc>
            </a:pPr>
            <a:endParaRPr lang="en-US" sz="15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BA15AF60-62C0-F579-BB7F-3EDB03A11641}"/>
              </a:ext>
            </a:extLst>
          </p:cNvPr>
          <p:cNvSpPr txBox="1"/>
          <p:nvPr/>
        </p:nvSpPr>
        <p:spPr>
          <a:xfrm>
            <a:off x="5642026" y="4552408"/>
            <a:ext cx="2542736" cy="300082"/>
          </a:xfrm>
          <a:prstGeom prst="rect">
            <a:avLst/>
          </a:prstGeom>
          <a:noFill/>
        </p:spPr>
        <p:txBody>
          <a:bodyPr wrap="square">
            <a:spAutoFit/>
          </a:bodyPr>
          <a:lstStyle/>
          <a:p>
            <a:pPr algn="ctr"/>
            <a:r>
              <a:rPr lang="en-US" sz="1350" b="1" dirty="0">
                <a:latin typeface="Times New Roman" panose="02020603050405020304" pitchFamily="18" charset="0"/>
                <a:cs typeface="Times New Roman" panose="02020603050405020304" pitchFamily="18" charset="0"/>
              </a:rPr>
              <a:t>Figure: Sequence diagram</a:t>
            </a:r>
          </a:p>
        </p:txBody>
      </p:sp>
      <p:pic>
        <p:nvPicPr>
          <p:cNvPr id="5" name="Picture 4"/>
          <p:cNvPicPr/>
          <p:nvPr/>
        </p:nvPicPr>
        <p:blipFill>
          <a:blip r:embed="rId2"/>
          <a:stretch>
            <a:fillRect/>
          </a:stretch>
        </p:blipFill>
        <p:spPr>
          <a:xfrm>
            <a:off x="4765287" y="527635"/>
            <a:ext cx="3419475" cy="3828056"/>
          </a:xfrm>
          <a:prstGeom prst="rect">
            <a:avLst/>
          </a:prstGeom>
        </p:spPr>
      </p:pic>
    </p:spTree>
    <p:extLst>
      <p:ext uri="{BB962C8B-B14F-4D97-AF65-F5344CB8AC3E}">
        <p14:creationId xmlns:p14="http://schemas.microsoft.com/office/powerpoint/2010/main" val="19087341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3181" y="436497"/>
            <a:ext cx="4123097" cy="3670236"/>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500" b="1" dirty="0">
                <a:latin typeface="Times New Roman" panose="02020603050405020304" pitchFamily="18" charset="0"/>
                <a:cs typeface="Times New Roman" panose="02020603050405020304" pitchFamily="18" charset="0"/>
              </a:rPr>
              <a:t>Collaboration Diagram:</a:t>
            </a:r>
            <a:endParaRPr lang="en-US" sz="1500" dirty="0">
              <a:latin typeface="Times New Roman" panose="02020603050405020304" pitchFamily="18" charset="0"/>
              <a:cs typeface="Times New Roman" panose="02020603050405020304" pitchFamily="18" charset="0"/>
            </a:endParaRPr>
          </a:p>
          <a:p>
            <a:pPr algn="just">
              <a:lnSpc>
                <a:spcPct val="150000"/>
              </a:lnSpc>
            </a:pPr>
            <a:r>
              <a:rPr lang="en-US" sz="1400" dirty="0">
                <a:latin typeface="Times New Roman" panose="02020603050405020304" pitchFamily="18" charset="0"/>
                <a:cs typeface="Times New Roman" panose="02020603050405020304" pitchFamily="18" charset="0"/>
              </a:rPr>
              <a:t>In collaboration diagram the method call sequence is indicated by some numbering technique as shown below. The number indicates how the methods are called one after another. We have taken the same order management system to describe the collaboration diagram. The method calls are similar to that of a sequence diagram. But the difference is that the sequence diagram does not describe the object organization whereas the collaboration diagram shows the object organization.</a:t>
            </a:r>
            <a:endParaRPr lang="en-IN" sz="1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DD7DA89-E7A1-5B48-DF8F-D378BF65F762}"/>
              </a:ext>
            </a:extLst>
          </p:cNvPr>
          <p:cNvSpPr txBox="1"/>
          <p:nvPr/>
        </p:nvSpPr>
        <p:spPr>
          <a:xfrm>
            <a:off x="4396278" y="4499148"/>
            <a:ext cx="4579034" cy="300082"/>
          </a:xfrm>
          <a:prstGeom prst="rect">
            <a:avLst/>
          </a:prstGeom>
          <a:noFill/>
        </p:spPr>
        <p:txBody>
          <a:bodyPr wrap="square">
            <a:spAutoFit/>
          </a:bodyPr>
          <a:lstStyle/>
          <a:p>
            <a:pPr algn="ctr"/>
            <a:r>
              <a:rPr lang="en-US" sz="1350" b="1" dirty="0">
                <a:latin typeface="Times New Roman" panose="02020603050405020304" pitchFamily="18" charset="0"/>
                <a:cs typeface="Times New Roman" panose="02020603050405020304" pitchFamily="18" charset="0"/>
              </a:rPr>
              <a:t>Figure: Collaboration diagram</a:t>
            </a:r>
          </a:p>
        </p:txBody>
      </p:sp>
      <p:pic>
        <p:nvPicPr>
          <p:cNvPr id="5" name="Picture 4"/>
          <p:cNvPicPr/>
          <p:nvPr/>
        </p:nvPicPr>
        <p:blipFill>
          <a:blip r:embed="rId2"/>
          <a:stretch>
            <a:fillRect/>
          </a:stretch>
        </p:blipFill>
        <p:spPr>
          <a:xfrm>
            <a:off x="4621020" y="725918"/>
            <a:ext cx="4129549" cy="3380815"/>
          </a:xfrm>
          <a:prstGeom prst="rect">
            <a:avLst/>
          </a:prstGeom>
        </p:spPr>
      </p:pic>
    </p:spTree>
    <p:extLst>
      <p:ext uri="{BB962C8B-B14F-4D97-AF65-F5344CB8AC3E}">
        <p14:creationId xmlns:p14="http://schemas.microsoft.com/office/powerpoint/2010/main" val="66719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05470" y="308544"/>
            <a:ext cx="6783860" cy="1731243"/>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500" b="1" dirty="0">
                <a:latin typeface="Times New Roman" panose="02020603050405020304" pitchFamily="18" charset="0"/>
                <a:cs typeface="Times New Roman" panose="02020603050405020304" pitchFamily="18" charset="0"/>
              </a:rPr>
              <a:t>Deployment Diagram</a:t>
            </a:r>
            <a:endParaRPr lang="en-US" sz="1500" dirty="0">
              <a:latin typeface="Times New Roman" panose="02020603050405020304" pitchFamily="18" charset="0"/>
              <a:cs typeface="Times New Roman" panose="02020603050405020304" pitchFamily="18" charset="0"/>
            </a:endParaRPr>
          </a:p>
          <a:p>
            <a:pPr algn="just">
              <a:lnSpc>
                <a:spcPct val="150000"/>
              </a:lnSpc>
            </a:pPr>
            <a:r>
              <a:rPr lang="en-US" sz="1400" dirty="0">
                <a:latin typeface="Times New Roman" panose="02020603050405020304" pitchFamily="18" charset="0"/>
                <a:cs typeface="Times New Roman" panose="02020603050405020304" pitchFamily="18" charset="0"/>
              </a:rPr>
              <a:t>Deployment diagram represents the deployment view of a system. It is related to the component diagram. Because the components are deployed using the deployment diagrams. A deployment diagram consists of nodes. Nodes are nothing but physical hardware’s used to deploy the application.</a:t>
            </a:r>
            <a:endParaRPr lang="en-IN" sz="1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FB7D19A-C0A4-676F-5F87-D3DB6BCFBCD6}"/>
              </a:ext>
            </a:extLst>
          </p:cNvPr>
          <p:cNvSpPr txBox="1"/>
          <p:nvPr/>
        </p:nvSpPr>
        <p:spPr>
          <a:xfrm>
            <a:off x="2141806" y="4255980"/>
            <a:ext cx="4579034" cy="300082"/>
          </a:xfrm>
          <a:prstGeom prst="rect">
            <a:avLst/>
          </a:prstGeom>
          <a:noFill/>
        </p:spPr>
        <p:txBody>
          <a:bodyPr wrap="square">
            <a:spAutoFit/>
          </a:bodyPr>
          <a:lstStyle/>
          <a:p>
            <a:pPr algn="ctr"/>
            <a:r>
              <a:rPr lang="en-US" sz="1350" b="1" dirty="0">
                <a:latin typeface="Times New Roman" panose="02020603050405020304" pitchFamily="18" charset="0"/>
                <a:cs typeface="Times New Roman" panose="02020603050405020304" pitchFamily="18" charset="0"/>
              </a:rPr>
              <a:t>Figure: Deployment diagram</a:t>
            </a:r>
          </a:p>
        </p:txBody>
      </p:sp>
      <p:pic>
        <p:nvPicPr>
          <p:cNvPr id="7" name="Picture 6"/>
          <p:cNvPicPr/>
          <p:nvPr/>
        </p:nvPicPr>
        <p:blipFill>
          <a:blip r:embed="rId2"/>
          <a:stretch>
            <a:fillRect/>
          </a:stretch>
        </p:blipFill>
        <p:spPr>
          <a:xfrm>
            <a:off x="2574385" y="2808287"/>
            <a:ext cx="3333750" cy="771525"/>
          </a:xfrm>
          <a:prstGeom prst="rect">
            <a:avLst/>
          </a:prstGeom>
        </p:spPr>
      </p:pic>
    </p:spTree>
    <p:extLst>
      <p:ext uri="{BB962C8B-B14F-4D97-AF65-F5344CB8AC3E}">
        <p14:creationId xmlns:p14="http://schemas.microsoft.com/office/powerpoint/2010/main" val="7097225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3952" y="731644"/>
            <a:ext cx="3958112" cy="3023905"/>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500" b="1" dirty="0">
                <a:latin typeface="Times New Roman" panose="02020603050405020304" pitchFamily="18" charset="0"/>
                <a:cs typeface="Times New Roman" panose="02020603050405020304" pitchFamily="18" charset="0"/>
              </a:rPr>
              <a:t>Activity Diagram:</a:t>
            </a:r>
            <a:endParaRPr lang="en-US" sz="1500" dirty="0">
              <a:latin typeface="Times New Roman" panose="02020603050405020304" pitchFamily="18" charset="0"/>
              <a:cs typeface="Times New Roman" panose="02020603050405020304" pitchFamily="18" charset="0"/>
            </a:endParaRPr>
          </a:p>
          <a:p>
            <a:pPr algn="just">
              <a:lnSpc>
                <a:spcPct val="150000"/>
              </a:lnSpc>
            </a:pPr>
            <a:r>
              <a:rPr lang="en-US" sz="1400" dirty="0">
                <a:latin typeface="Times New Roman" panose="02020603050405020304" pitchFamily="18" charset="0"/>
                <a:cs typeface="Times New Roman" panose="02020603050405020304" pitchFamily="18" charset="0"/>
              </a:rPr>
              <a:t>Activity diagrams are graphical representations of workflows of stepwise activities and actions with support for choice, iteration and concurrency. In the Unified Modelling Language, activity diagrams can be used to describe the business and operational step-by-step workflows of components in a system. An activity diagram shows the overall flow of control.</a:t>
            </a:r>
            <a:endParaRPr lang="en-IN" sz="14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5485939" y="4590918"/>
            <a:ext cx="2752510" cy="323165"/>
          </a:xfrm>
          <a:prstGeom prst="rect">
            <a:avLst/>
          </a:prstGeom>
          <a:noFill/>
        </p:spPr>
        <p:txBody>
          <a:bodyPr wrap="square" rtlCol="0">
            <a:spAutoFit/>
          </a:bodyPr>
          <a:lstStyle/>
          <a:p>
            <a:pPr algn="ctr"/>
            <a:r>
              <a:rPr lang="en-US" sz="1500" b="1" dirty="0">
                <a:latin typeface="Times New Roman" panose="02020603050405020304" pitchFamily="18" charset="0"/>
                <a:cs typeface="Times New Roman" panose="02020603050405020304" pitchFamily="18" charset="0"/>
              </a:rPr>
              <a:t>Figure: Activity diagram</a:t>
            </a:r>
          </a:p>
        </p:txBody>
      </p:sp>
      <p:pic>
        <p:nvPicPr>
          <p:cNvPr id="6" name="Picture 5"/>
          <p:cNvPicPr/>
          <p:nvPr/>
        </p:nvPicPr>
        <p:blipFill>
          <a:blip r:embed="rId2"/>
          <a:stretch>
            <a:fillRect/>
          </a:stretch>
        </p:blipFill>
        <p:spPr>
          <a:xfrm>
            <a:off x="4990424" y="412956"/>
            <a:ext cx="3248025" cy="4050890"/>
          </a:xfrm>
          <a:prstGeom prst="rect">
            <a:avLst/>
          </a:prstGeom>
        </p:spPr>
      </p:pic>
    </p:spTree>
    <p:extLst>
      <p:ext uri="{BB962C8B-B14F-4D97-AF65-F5344CB8AC3E}">
        <p14:creationId xmlns:p14="http://schemas.microsoft.com/office/powerpoint/2010/main" val="14503271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55393" y="406704"/>
            <a:ext cx="6783860" cy="1731243"/>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500" b="1" dirty="0">
                <a:latin typeface="Times New Roman" panose="02020603050405020304" pitchFamily="18" charset="0"/>
                <a:cs typeface="Times New Roman" panose="02020603050405020304" pitchFamily="18" charset="0"/>
              </a:rPr>
              <a:t>Component Diagram</a:t>
            </a:r>
            <a:r>
              <a:rPr lang="en-US" sz="1500" dirty="0">
                <a:latin typeface="Times New Roman" panose="02020603050405020304" pitchFamily="18" charset="0"/>
                <a:cs typeface="Times New Roman" panose="02020603050405020304" pitchFamily="18" charset="0"/>
              </a:rPr>
              <a:t>:</a:t>
            </a:r>
          </a:p>
          <a:p>
            <a:pPr algn="just">
              <a:lnSpc>
                <a:spcPct val="150000"/>
              </a:lnSpc>
            </a:pPr>
            <a:r>
              <a:rPr lang="en-US" sz="1400" dirty="0">
                <a:latin typeface="Times New Roman" panose="02020603050405020304" pitchFamily="18" charset="0"/>
                <a:cs typeface="Times New Roman" panose="02020603050405020304" pitchFamily="18" charset="0"/>
              </a:rPr>
              <a:t>A component diagram, also known as a UML component diagram, describes the organization and wiring of the physical </a:t>
            </a:r>
            <a:r>
              <a:rPr lang="en-US" sz="1400" b="1" dirty="0">
                <a:latin typeface="Times New Roman" panose="02020603050405020304" pitchFamily="18" charset="0"/>
                <a:cs typeface="Times New Roman" panose="02020603050405020304" pitchFamily="18" charset="0"/>
              </a:rPr>
              <a:t>c</a:t>
            </a:r>
            <a:r>
              <a:rPr lang="en-US" sz="1400" dirty="0">
                <a:latin typeface="Times New Roman" panose="02020603050405020304" pitchFamily="18" charset="0"/>
                <a:cs typeface="Times New Roman" panose="02020603050405020304" pitchFamily="18" charset="0"/>
              </a:rPr>
              <a:t>omponents in a system. Component diagrams are often drawn to help model implementation details and double-check that every aspect of the system's required function is covered by planned development.</a:t>
            </a:r>
            <a:endParaRPr lang="en-IN" sz="1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B21F7E2-B805-2E93-83E8-18D234DEBB88}"/>
              </a:ext>
            </a:extLst>
          </p:cNvPr>
          <p:cNvSpPr txBox="1"/>
          <p:nvPr/>
        </p:nvSpPr>
        <p:spPr>
          <a:xfrm>
            <a:off x="3043232" y="4515370"/>
            <a:ext cx="2752510" cy="323165"/>
          </a:xfrm>
          <a:prstGeom prst="rect">
            <a:avLst/>
          </a:prstGeom>
          <a:noFill/>
        </p:spPr>
        <p:txBody>
          <a:bodyPr wrap="square" rtlCol="0">
            <a:spAutoFit/>
          </a:bodyPr>
          <a:lstStyle/>
          <a:p>
            <a:pPr algn="ctr"/>
            <a:r>
              <a:rPr lang="en-US" sz="1500" b="1" dirty="0">
                <a:latin typeface="Times New Roman" panose="02020603050405020304" pitchFamily="18" charset="0"/>
                <a:cs typeface="Times New Roman" panose="02020603050405020304" pitchFamily="18" charset="0"/>
              </a:rPr>
              <a:t>Figure: Component diagram</a:t>
            </a:r>
          </a:p>
        </p:txBody>
      </p:sp>
      <p:pic>
        <p:nvPicPr>
          <p:cNvPr id="6" name="Picture 5"/>
          <p:cNvPicPr/>
          <p:nvPr/>
        </p:nvPicPr>
        <p:blipFill>
          <a:blip r:embed="rId2"/>
          <a:stretch>
            <a:fillRect/>
          </a:stretch>
        </p:blipFill>
        <p:spPr>
          <a:xfrm>
            <a:off x="2204924" y="2921846"/>
            <a:ext cx="4429125" cy="809625"/>
          </a:xfrm>
          <a:prstGeom prst="rect">
            <a:avLst/>
          </a:prstGeom>
        </p:spPr>
      </p:pic>
    </p:spTree>
    <p:extLst>
      <p:ext uri="{BB962C8B-B14F-4D97-AF65-F5344CB8AC3E}">
        <p14:creationId xmlns:p14="http://schemas.microsoft.com/office/powerpoint/2010/main" val="18657838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55398" y="404489"/>
            <a:ext cx="6447501" cy="698159"/>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endParaRPr lang="en-US" sz="2700" b="1" dirty="0">
              <a:solidFill>
                <a:schemeClr val="accent4"/>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587829" y="1102648"/>
            <a:ext cx="7916092" cy="3554819"/>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500" b="1" dirty="0">
                <a:latin typeface="Times New Roman" panose="02020603050405020304" pitchFamily="18" charset="0"/>
                <a:cs typeface="Times New Roman" panose="02020603050405020304" pitchFamily="18" charset="0"/>
              </a:rPr>
              <a:t>ER Diagram:</a:t>
            </a:r>
            <a:endParaRPr lang="en-US" sz="1500" dirty="0">
              <a:latin typeface="Times New Roman" panose="02020603050405020304" pitchFamily="18" charset="0"/>
              <a:cs typeface="Times New Roman" panose="02020603050405020304" pitchFamily="18" charset="0"/>
            </a:endParaRPr>
          </a:p>
          <a:p>
            <a:pPr algn="just">
              <a:lnSpc>
                <a:spcPct val="150000"/>
              </a:lnSpc>
            </a:pPr>
            <a:r>
              <a:rPr lang="en-US" sz="1500" dirty="0">
                <a:latin typeface="Times New Roman" panose="02020603050405020304" pitchFamily="18" charset="0"/>
                <a:cs typeface="Times New Roman" panose="02020603050405020304" pitchFamily="18" charset="0"/>
              </a:rPr>
              <a:t>An Entity–relationship model (ER model) describes the structure of a database with the help of a diagram, which is known as Entity Relationship Diagram (ER Diagram). An ER model is a design or blueprint of a database that can later be implemented as a database. The main components of E-R model are: entity set and relationship set. </a:t>
            </a:r>
            <a:endParaRPr lang="en-IN" sz="1050" dirty="0">
              <a:latin typeface="Times New Roman" panose="02020603050405020304" pitchFamily="18" charset="0"/>
              <a:cs typeface="Times New Roman" panose="02020603050405020304" pitchFamily="18" charset="0"/>
            </a:endParaRPr>
          </a:p>
          <a:p>
            <a:pPr algn="just">
              <a:lnSpc>
                <a:spcPct val="150000"/>
              </a:lnSpc>
            </a:pPr>
            <a:r>
              <a:rPr lang="en-US" sz="1500" dirty="0">
                <a:latin typeface="Times New Roman" panose="02020603050405020304" pitchFamily="18" charset="0"/>
                <a:cs typeface="Times New Roman" panose="02020603050405020304" pitchFamily="18" charset="0"/>
              </a:rPr>
              <a:t>An ER diagram shows the relationship among entity sets. An entity set is a group of similar entities and these entities can have attributes. In terms of DBMS, an entity is a table or attribute of a table in database, so by showing relationship among tables and their attributes, ER diagram shows the complete logical structure of a database. Let’s have a look at a simple ER diagram to understand this concept.</a:t>
            </a:r>
            <a:endParaRPr lang="en-IN"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87041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95745" y="4324160"/>
            <a:ext cx="2752510" cy="323165"/>
          </a:xfrm>
          <a:prstGeom prst="rect">
            <a:avLst/>
          </a:prstGeom>
          <a:noFill/>
        </p:spPr>
        <p:txBody>
          <a:bodyPr wrap="square" rtlCol="0">
            <a:spAutoFit/>
          </a:bodyPr>
          <a:lstStyle/>
          <a:p>
            <a:pPr algn="ctr"/>
            <a:r>
              <a:rPr lang="en-US" sz="1500" b="1" dirty="0">
                <a:latin typeface="Times New Roman" panose="02020603050405020304" pitchFamily="18" charset="0"/>
                <a:cs typeface="Times New Roman" panose="02020603050405020304" pitchFamily="18" charset="0"/>
              </a:rPr>
              <a:t>Figure: ER diagram</a:t>
            </a:r>
          </a:p>
        </p:txBody>
      </p:sp>
      <p:pic>
        <p:nvPicPr>
          <p:cNvPr id="5" name="Picture 4"/>
          <p:cNvPicPr/>
          <p:nvPr/>
        </p:nvPicPr>
        <p:blipFill>
          <a:blip r:embed="rId2"/>
          <a:stretch>
            <a:fillRect/>
          </a:stretch>
        </p:blipFill>
        <p:spPr>
          <a:xfrm>
            <a:off x="1415845" y="846230"/>
            <a:ext cx="6100568" cy="2890028"/>
          </a:xfrm>
          <a:prstGeom prst="rect">
            <a:avLst/>
          </a:prstGeom>
        </p:spPr>
      </p:pic>
    </p:spTree>
    <p:extLst>
      <p:ext uri="{BB962C8B-B14F-4D97-AF65-F5344CB8AC3E}">
        <p14:creationId xmlns:p14="http://schemas.microsoft.com/office/powerpoint/2010/main" val="36004689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16102" y="305575"/>
            <a:ext cx="7302843" cy="2700739"/>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500" b="1" dirty="0">
                <a:latin typeface="Times New Roman" panose="02020603050405020304" pitchFamily="18" charset="0"/>
                <a:cs typeface="Times New Roman" panose="02020603050405020304" pitchFamily="18" charset="0"/>
              </a:rPr>
              <a:t>DFD Diagram:</a:t>
            </a:r>
            <a:endParaRPr lang="en-US" sz="1500" dirty="0">
              <a:latin typeface="Times New Roman" panose="02020603050405020304" pitchFamily="18" charset="0"/>
              <a:cs typeface="Times New Roman" panose="02020603050405020304" pitchFamily="18" charset="0"/>
            </a:endParaRPr>
          </a:p>
          <a:p>
            <a:pPr algn="just">
              <a:lnSpc>
                <a:spcPct val="150000"/>
              </a:lnSpc>
            </a:pPr>
            <a:r>
              <a:rPr lang="en-US" sz="1400" dirty="0">
                <a:latin typeface="Times New Roman" panose="02020603050405020304" pitchFamily="18" charset="0"/>
                <a:cs typeface="Times New Roman" panose="02020603050405020304" pitchFamily="18" charset="0"/>
              </a:rPr>
              <a:t>A Data Flow Diagram (DFD) is a traditional way to visualize the information flows within a system. A neat and clear DFD can depict a good amount of the system requirements graphically. It can be manual, automated, or a combination of both. It shows how information enters and leaves the system, what changes the information and where information is stored. The purpose of a DFD is to show the scope and boundaries of a system as a whole. It may be used as a communications tool between a systems analyst and any person who plays a part in the system that acts as the starting point for redesigning a system.</a:t>
            </a:r>
            <a:endParaRPr lang="en-IN" sz="1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431FDA1-BDE7-A222-55ED-5BE3DEB419BB}"/>
              </a:ext>
            </a:extLst>
          </p:cNvPr>
          <p:cNvSpPr txBox="1"/>
          <p:nvPr/>
        </p:nvSpPr>
        <p:spPr>
          <a:xfrm>
            <a:off x="3519775" y="4746364"/>
            <a:ext cx="2752510" cy="323165"/>
          </a:xfrm>
          <a:prstGeom prst="rect">
            <a:avLst/>
          </a:prstGeom>
          <a:noFill/>
        </p:spPr>
        <p:txBody>
          <a:bodyPr wrap="square" rtlCol="0">
            <a:spAutoFit/>
          </a:bodyPr>
          <a:lstStyle/>
          <a:p>
            <a:pPr algn="ctr"/>
            <a:r>
              <a:rPr lang="en-US" sz="1500" b="1" dirty="0">
                <a:latin typeface="Times New Roman" panose="02020603050405020304" pitchFamily="18" charset="0"/>
                <a:cs typeface="Times New Roman" panose="02020603050405020304" pitchFamily="18" charset="0"/>
              </a:rPr>
              <a:t>Figure: Context Level diagram</a:t>
            </a:r>
          </a:p>
        </p:txBody>
      </p:sp>
    </p:spTree>
    <p:extLst>
      <p:ext uri="{BB962C8B-B14F-4D97-AF65-F5344CB8AC3E}">
        <p14:creationId xmlns:p14="http://schemas.microsoft.com/office/powerpoint/2010/main" val="23097002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58093" y="4457076"/>
            <a:ext cx="2752510" cy="323165"/>
          </a:xfrm>
          <a:prstGeom prst="rect">
            <a:avLst/>
          </a:prstGeom>
          <a:noFill/>
        </p:spPr>
        <p:txBody>
          <a:bodyPr wrap="square" rtlCol="0">
            <a:spAutoFit/>
          </a:bodyPr>
          <a:lstStyle/>
          <a:p>
            <a:pPr algn="ctr"/>
            <a:r>
              <a:rPr lang="en-US" sz="1500" b="1" dirty="0">
                <a:latin typeface="Times New Roman" panose="02020603050405020304" pitchFamily="18" charset="0"/>
                <a:cs typeface="Times New Roman" panose="02020603050405020304" pitchFamily="18" charset="0"/>
              </a:rPr>
              <a:t>FigureLevel-1 diagram</a:t>
            </a:r>
          </a:p>
        </p:txBody>
      </p:sp>
      <p:pic>
        <p:nvPicPr>
          <p:cNvPr id="6" name="Picture 5"/>
          <p:cNvPicPr/>
          <p:nvPr/>
        </p:nvPicPr>
        <p:blipFill>
          <a:blip r:embed="rId2"/>
          <a:stretch>
            <a:fillRect/>
          </a:stretch>
        </p:blipFill>
        <p:spPr>
          <a:xfrm>
            <a:off x="1568593" y="512660"/>
            <a:ext cx="5731510" cy="3705225"/>
          </a:xfrm>
          <a:prstGeom prst="rect">
            <a:avLst/>
          </a:prstGeom>
        </p:spPr>
      </p:pic>
    </p:spTree>
    <p:extLst>
      <p:ext uri="{BB962C8B-B14F-4D97-AF65-F5344CB8AC3E}">
        <p14:creationId xmlns:p14="http://schemas.microsoft.com/office/powerpoint/2010/main" val="39416443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81307" y="4147107"/>
            <a:ext cx="2752510" cy="323165"/>
          </a:xfrm>
          <a:prstGeom prst="rect">
            <a:avLst/>
          </a:prstGeom>
          <a:noFill/>
        </p:spPr>
        <p:txBody>
          <a:bodyPr wrap="square" rtlCol="0">
            <a:spAutoFit/>
          </a:bodyPr>
          <a:lstStyle/>
          <a:p>
            <a:pPr algn="ctr"/>
            <a:r>
              <a:rPr lang="en-US" sz="1500" b="1" dirty="0">
                <a:latin typeface="Times New Roman" panose="02020603050405020304" pitchFamily="18" charset="0"/>
                <a:cs typeface="Times New Roman" panose="02020603050405020304" pitchFamily="18" charset="0"/>
              </a:rPr>
              <a:t>Figure:Level-2 diagram</a:t>
            </a:r>
          </a:p>
        </p:txBody>
      </p:sp>
      <p:pic>
        <p:nvPicPr>
          <p:cNvPr id="5" name="Picture 4"/>
          <p:cNvPicPr/>
          <p:nvPr/>
        </p:nvPicPr>
        <p:blipFill>
          <a:blip r:embed="rId2"/>
          <a:stretch>
            <a:fillRect/>
          </a:stretch>
        </p:blipFill>
        <p:spPr>
          <a:xfrm>
            <a:off x="1637419" y="632387"/>
            <a:ext cx="5731510" cy="3406775"/>
          </a:xfrm>
          <a:prstGeom prst="rect">
            <a:avLst/>
          </a:prstGeom>
        </p:spPr>
      </p:pic>
    </p:spTree>
    <p:extLst>
      <p:ext uri="{BB962C8B-B14F-4D97-AF65-F5344CB8AC3E}">
        <p14:creationId xmlns:p14="http://schemas.microsoft.com/office/powerpoint/2010/main" val="6514845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33"/>
          <p:cNvSpPr txBox="1">
            <a:spLocks noGrp="1"/>
          </p:cNvSpPr>
          <p:nvPr>
            <p:ph type="title"/>
          </p:nvPr>
        </p:nvSpPr>
        <p:spPr>
          <a:xfrm>
            <a:off x="642342" y="258417"/>
            <a:ext cx="7441663" cy="735496"/>
          </a:xfrm>
          <a:prstGeom prst="rect">
            <a:avLst/>
          </a:prstGeom>
        </p:spPr>
        <p:txBody>
          <a:bodyPr spcFirstLastPara="1" wrap="square" lIns="91425" tIns="91425" rIns="91425" bIns="91425" anchor="t" anchorCtr="0">
            <a:noAutofit/>
          </a:bodyPr>
          <a:lstStyle/>
          <a:p>
            <a:pPr algn="ctr">
              <a:lnSpc>
                <a:spcPct val="150000"/>
              </a:lnSpc>
            </a:pPr>
            <a:r>
              <a:rPr lang="en-US" sz="2400" b="1" dirty="0">
                <a:solidFill>
                  <a:schemeClr val="tx1"/>
                </a:solidFill>
                <a:latin typeface="Times New Roman" panose="02020603050405020304" pitchFamily="18" charset="0"/>
                <a:cs typeface="Times New Roman" panose="02020603050405020304" pitchFamily="18" charset="0"/>
              </a:rPr>
              <a:t>Research Gap analysis</a:t>
            </a:r>
          </a:p>
        </p:txBody>
      </p:sp>
      <p:sp>
        <p:nvSpPr>
          <p:cNvPr id="886" name="Google Shape;886;p33"/>
          <p:cNvSpPr txBox="1">
            <a:spLocks noGrp="1"/>
          </p:cNvSpPr>
          <p:nvPr>
            <p:ph type="body" idx="1"/>
          </p:nvPr>
        </p:nvSpPr>
        <p:spPr>
          <a:xfrm>
            <a:off x="483476" y="993913"/>
            <a:ext cx="8038307" cy="3584713"/>
          </a:xfrm>
          <a:prstGeom prst="rect">
            <a:avLst/>
          </a:prstGeom>
        </p:spPr>
        <p:txBody>
          <a:bodyPr spcFirstLastPara="1" wrap="square" lIns="91425" tIns="91425" rIns="91425" bIns="91425" anchor="t" anchorCtr="0">
            <a:noAutofit/>
          </a:bodyPr>
          <a:lstStyle/>
          <a:p>
            <a:pPr marL="431800" indent="-285750" algn="just">
              <a:buFont typeface="Wingdings" panose="05000000000000000000" pitchFamily="2" charset="2"/>
              <a:buChar char="Ø"/>
            </a:pPr>
            <a:r>
              <a:rPr lang="en-US" sz="1400" dirty="0">
                <a:solidFill>
                  <a:schemeClr val="tx1"/>
                </a:solidFill>
                <a:latin typeface="Times New Roman" panose="02020603050405020304" pitchFamily="18" charset="0"/>
                <a:cs typeface="Times New Roman" panose="02020603050405020304" pitchFamily="18" charset="0"/>
              </a:rPr>
              <a:t>Despite the growing body of research in 6G communication and federated learning (FL), several critical gaps remain that this project aims to address. Existing AI solutions for wireless environments are predominantly cloud-centric, requiring raw data to be transmitted to centralized servers. This architecture is not only bandwidth-intensive but also undermines user privacy, making it unfit for 6G use cases that demand ultra-low latency and data sovereignty. While FL has emerged as a promising alternative, most current implementations lack real-world prototyping, especially in the domain of 6G-specific tasks like beamforming prediction.</a:t>
            </a:r>
          </a:p>
          <a:p>
            <a:pPr algn="just">
              <a:buFont typeface="Wingdings" panose="05000000000000000000" pitchFamily="2" charset="2"/>
              <a:buChar char="Ø"/>
            </a:pPr>
            <a:endParaRPr lang="en-US" sz="1400" dirty="0">
              <a:solidFill>
                <a:schemeClr val="tx1"/>
              </a:solidFill>
              <a:latin typeface="Times New Roman" panose="02020603050405020304" pitchFamily="18" charset="0"/>
              <a:cs typeface="Times New Roman" panose="02020603050405020304" pitchFamily="18" charset="0"/>
            </a:endParaRPr>
          </a:p>
          <a:p>
            <a:pPr marL="431800" indent="-285750" algn="just">
              <a:buFont typeface="Wingdings" panose="05000000000000000000" pitchFamily="2" charset="2"/>
              <a:buChar char="Ø"/>
            </a:pPr>
            <a:r>
              <a:rPr lang="en-US" sz="1400" dirty="0">
                <a:solidFill>
                  <a:schemeClr val="tx1"/>
                </a:solidFill>
                <a:latin typeface="Times New Roman" panose="02020603050405020304" pitchFamily="18" charset="0"/>
                <a:cs typeface="Times New Roman" panose="02020603050405020304" pitchFamily="18" charset="0"/>
              </a:rPr>
              <a:t>A key gap lies in the </a:t>
            </a:r>
            <a:r>
              <a:rPr lang="en-US" sz="1400" b="1" dirty="0">
                <a:solidFill>
                  <a:schemeClr val="tx1"/>
                </a:solidFill>
                <a:latin typeface="Times New Roman" panose="02020603050405020304" pitchFamily="18" charset="0"/>
                <a:cs typeface="Times New Roman" panose="02020603050405020304" pitchFamily="18" charset="0"/>
              </a:rPr>
              <a:t>absence of practical, user-accessible FL simulation frameworks</a:t>
            </a:r>
            <a:r>
              <a:rPr lang="en-US" sz="1400" dirty="0">
                <a:solidFill>
                  <a:schemeClr val="tx1"/>
                </a:solidFill>
                <a:latin typeface="Times New Roman" panose="02020603050405020304" pitchFamily="18" charset="0"/>
                <a:cs typeface="Times New Roman" panose="02020603050405020304" pitchFamily="18" charset="0"/>
              </a:rPr>
              <a:t> that demonstrate the feasibility of real-time edge model training and decentralized inference. Most FL studies are either theoretical or limited to mobile keyboard prediction and healthcare use cases, with limited attention given to network-layer predictions such as beamforming.</a:t>
            </a:r>
          </a:p>
          <a:p>
            <a:pPr marL="146050" indent="0" algn="just">
              <a:lnSpc>
                <a:spcPct val="150000"/>
              </a:lnSpc>
              <a:buNone/>
            </a:pPr>
            <a:endParaRPr lang="en-US" sz="1400" b="1" dirty="0">
              <a:solidFill>
                <a:schemeClr val="tx1"/>
              </a:solidFill>
              <a:latin typeface="Times New Roman" panose="02020603050405020304" pitchFamily="18" charset="0"/>
              <a:cs typeface="Times New Roman" panose="02020603050405020304" pitchFamily="18" charset="0"/>
            </a:endParaRPr>
          </a:p>
        </p:txBody>
      </p:sp>
      <p:sp>
        <p:nvSpPr>
          <p:cNvPr id="6" name="Google Shape;894;p34"/>
          <p:cNvSpPr txBox="1"/>
          <p:nvPr/>
        </p:nvSpPr>
        <p:spPr>
          <a:xfrm>
            <a:off x="7951430" y="364019"/>
            <a:ext cx="644608" cy="940458"/>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3200" b="1" dirty="0">
              <a:solidFill>
                <a:schemeClr val="accent4"/>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34</a:t>
            </a:fld>
            <a:endParaRPr lang="en-US" dirty="0"/>
          </a:p>
        </p:txBody>
      </p:sp>
      <p:sp>
        <p:nvSpPr>
          <p:cNvPr id="3" name="Rectangle 2"/>
          <p:cNvSpPr/>
          <p:nvPr/>
        </p:nvSpPr>
        <p:spPr>
          <a:xfrm>
            <a:off x="776646" y="732758"/>
            <a:ext cx="7684851" cy="3970318"/>
          </a:xfrm>
          <a:prstGeom prst="rect">
            <a:avLst/>
          </a:prstGeom>
        </p:spPr>
        <p:txBody>
          <a:bodyPr wrap="square">
            <a:spAutoFit/>
          </a:bodyPr>
          <a:lstStyle/>
          <a:p>
            <a:pPr marL="285750" indent="-285750" algn="just">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Additionally, </a:t>
            </a:r>
            <a:r>
              <a:rPr lang="en-US" sz="1400" b="1" dirty="0">
                <a:latin typeface="Times New Roman" panose="02020603050405020304" pitchFamily="18" charset="0"/>
                <a:cs typeface="Times New Roman" panose="02020603050405020304" pitchFamily="18" charset="0"/>
              </a:rPr>
              <a:t>model accuracy under federated settings</a:t>
            </a:r>
            <a:r>
              <a:rPr lang="en-US" sz="1400" dirty="0">
                <a:latin typeface="Times New Roman" panose="02020603050405020304" pitchFamily="18" charset="0"/>
                <a:cs typeface="Times New Roman" panose="02020603050405020304" pitchFamily="18" charset="0"/>
              </a:rPr>
              <a:t>—especially for non-IID (non-independent and identically distributed) data—remains underexplored, making convergence and generalization difficult in real-world heterogeneous devices.</a:t>
            </a:r>
          </a:p>
          <a:p>
            <a:pPr algn="just"/>
            <a:endParaRPr lang="en-US" sz="14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Another major gap is the </a:t>
            </a:r>
            <a:r>
              <a:rPr lang="en-US" sz="1400" b="1" dirty="0">
                <a:latin typeface="Times New Roman" panose="02020603050405020304" pitchFamily="18" charset="0"/>
                <a:cs typeface="Times New Roman" panose="02020603050405020304" pitchFamily="18" charset="0"/>
              </a:rPr>
              <a:t>lack of privacy-preserving FL implementations that incorporate secure aggregation, differential privacy, or </a:t>
            </a:r>
            <a:r>
              <a:rPr lang="en-US" sz="1400" b="1" dirty="0" err="1">
                <a:latin typeface="Times New Roman" panose="02020603050405020304" pitchFamily="18" charset="0"/>
                <a:cs typeface="Times New Roman" panose="02020603050405020304" pitchFamily="18" charset="0"/>
              </a:rPr>
              <a:t>blockchain</a:t>
            </a:r>
            <a:r>
              <a:rPr lang="en-US" sz="1400" b="1" dirty="0">
                <a:latin typeface="Times New Roman" panose="02020603050405020304" pitchFamily="18" charset="0"/>
                <a:cs typeface="Times New Roman" panose="02020603050405020304" pitchFamily="18" charset="0"/>
              </a:rPr>
              <a:t>-based accountability</a:t>
            </a:r>
            <a:r>
              <a:rPr lang="en-US" sz="1400" dirty="0">
                <a:latin typeface="Times New Roman" panose="02020603050405020304" pitchFamily="18" charset="0"/>
                <a:cs typeface="Times New Roman" panose="02020603050405020304" pitchFamily="18" charset="0"/>
              </a:rPr>
              <a:t>. Although these techniques have been discussed conceptually, they are rarely integrated into experimental FL platforms. Moreover, </a:t>
            </a:r>
            <a:r>
              <a:rPr lang="en-US" sz="1400" b="1" dirty="0">
                <a:latin typeface="Times New Roman" panose="02020603050405020304" pitchFamily="18" charset="0"/>
                <a:cs typeface="Times New Roman" panose="02020603050405020304" pitchFamily="18" charset="0"/>
              </a:rPr>
              <a:t>performance trade-offs</a:t>
            </a:r>
            <a:r>
              <a:rPr lang="en-US" sz="1400" dirty="0">
                <a:latin typeface="Times New Roman" panose="02020603050405020304" pitchFamily="18" charset="0"/>
                <a:cs typeface="Times New Roman" panose="02020603050405020304" pitchFamily="18" charset="0"/>
              </a:rPr>
              <a:t>—including communication savings, latency reduction, and resistance to adversarial attacks—are seldom quantified side-by-side in prototype systems.</a:t>
            </a:r>
          </a:p>
          <a:p>
            <a:pPr marL="285750" indent="-285750" algn="just">
              <a:buFont typeface="Wingdings" panose="05000000000000000000" pitchFamily="2" charset="2"/>
              <a:buChar char="Ø"/>
            </a:pPr>
            <a:endParaRPr lang="en-US" sz="14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Lastly, the </a:t>
            </a:r>
            <a:r>
              <a:rPr lang="en-US" sz="1400" b="1" dirty="0">
                <a:latin typeface="Times New Roman" panose="02020603050405020304" pitchFamily="18" charset="0"/>
                <a:cs typeface="Times New Roman" panose="02020603050405020304" pitchFamily="18" charset="0"/>
              </a:rPr>
              <a:t>challenge of straggler clients, incentive mechanisms, and resource-aware scheduling</a:t>
            </a:r>
            <a:r>
              <a:rPr lang="en-US" sz="1400" dirty="0">
                <a:latin typeface="Times New Roman" panose="02020603050405020304" pitchFamily="18" charset="0"/>
                <a:cs typeface="Times New Roman" panose="02020603050405020304" pitchFamily="18" charset="0"/>
              </a:rPr>
              <a:t> in FL networks remains largely unaddressed in current literature. There is also a need for </a:t>
            </a:r>
            <a:r>
              <a:rPr lang="en-US" sz="1400" b="1" dirty="0">
                <a:latin typeface="Times New Roman" panose="02020603050405020304" pitchFamily="18" charset="0"/>
                <a:cs typeface="Times New Roman" panose="02020603050405020304" pitchFamily="18" charset="0"/>
              </a:rPr>
              <a:t>benchmark datasets and real-time feedback mechanisms</a:t>
            </a:r>
            <a:r>
              <a:rPr lang="en-US" sz="1400" dirty="0">
                <a:latin typeface="Times New Roman" panose="02020603050405020304" pitchFamily="18" charset="0"/>
                <a:cs typeface="Times New Roman" panose="02020603050405020304" pitchFamily="18" charset="0"/>
              </a:rPr>
              <a:t> tailored for 6G beamforming use cases.</a:t>
            </a:r>
          </a:p>
          <a:p>
            <a:pPr marL="285750" indent="-285750" algn="just">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This project fills these research gaps by building a prototype Flask application that simulates an FL round, integrates multiple models, supports user interaction, and sets the groundwork for privacy-enhancing and scalable FL in 6G environments.</a:t>
            </a:r>
          </a:p>
          <a:p>
            <a:pPr algn="just">
              <a:lnSpc>
                <a:spcPct val="200000"/>
              </a:lnSpc>
            </a:pP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81162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35</a:t>
            </a:fld>
            <a:endParaRPr lang="en-US" dirty="0"/>
          </a:p>
        </p:txBody>
      </p:sp>
      <p:sp>
        <p:nvSpPr>
          <p:cNvPr id="3" name="Rectangle 2"/>
          <p:cNvSpPr/>
          <p:nvPr/>
        </p:nvSpPr>
        <p:spPr>
          <a:xfrm>
            <a:off x="419927" y="282953"/>
            <a:ext cx="1409360" cy="376834"/>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Implementation</a:t>
            </a:r>
          </a:p>
        </p:txBody>
      </p:sp>
      <p:sp>
        <p:nvSpPr>
          <p:cNvPr id="4" name="Rectangle 3"/>
          <p:cNvSpPr/>
          <p:nvPr/>
        </p:nvSpPr>
        <p:spPr>
          <a:xfrm>
            <a:off x="419927" y="258893"/>
            <a:ext cx="8438754" cy="4884607"/>
          </a:xfrm>
          <a:prstGeom prst="rect">
            <a:avLst/>
          </a:prstGeom>
        </p:spPr>
        <p:txBody>
          <a:bodyPr wrap="square">
            <a:spAutoFit/>
          </a:bodyPr>
          <a:lstStyle/>
          <a:p>
            <a:pPr algn="just">
              <a:lnSpc>
                <a:spcPct val="107000"/>
              </a:lnSpc>
              <a:spcBef>
                <a:spcPts val="1200"/>
              </a:spcBef>
              <a:spcAft>
                <a:spcPts val="800"/>
              </a:spcAft>
            </a:pPr>
            <a:endParaRPr lang="en-US" sz="1600" b="1"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Bef>
                <a:spcPts val="1200"/>
              </a:spcBef>
              <a:spcAft>
                <a:spcPts val="800"/>
              </a:spcAft>
            </a:pPr>
            <a:r>
              <a:rPr lang="en-US" sz="1400" b="1" dirty="0">
                <a:latin typeface="Times New Roman" panose="02020603050405020304" pitchFamily="18" charset="0"/>
                <a:ea typeface="Calibri" panose="020F0502020204030204" pitchFamily="34" charset="0"/>
                <a:cs typeface="Times New Roman" panose="02020603050405020304" pitchFamily="18" charset="0"/>
              </a:rPr>
              <a:t>1. System:</a:t>
            </a:r>
          </a:p>
          <a:p>
            <a:pPr>
              <a:lnSpc>
                <a:spcPct val="150000"/>
              </a:lnSpc>
            </a:pPr>
            <a:r>
              <a:rPr lang="en-US" sz="1400" b="1" dirty="0">
                <a:latin typeface="Times New Roman" panose="02020603050405020304" pitchFamily="18" charset="0"/>
                <a:cs typeface="Times New Roman" panose="02020603050405020304" pitchFamily="18" charset="0"/>
              </a:rPr>
              <a:t>1.1 Data Upload and Acquisition Module</a:t>
            </a:r>
          </a:p>
          <a:p>
            <a:pPr>
              <a:lnSpc>
                <a:spcPct val="150000"/>
              </a:lnSpc>
            </a:pPr>
            <a:r>
              <a:rPr lang="en-US" sz="1400" dirty="0">
                <a:latin typeface="Times New Roman" panose="02020603050405020304" pitchFamily="18" charset="0"/>
                <a:cs typeface="Times New Roman" panose="02020603050405020304" pitchFamily="18" charset="0"/>
              </a:rPr>
              <a:t>Enables users to upload CSV files or manually enter beamforming features like mobility, latency, and gain. Pandas validates and displays uploaded data in a table for verification, supporting both batch and single-entry predictions.</a:t>
            </a:r>
          </a:p>
          <a:p>
            <a:pPr>
              <a:lnSpc>
                <a:spcPct val="150000"/>
              </a:lnSpc>
            </a:pPr>
            <a:endParaRPr lang="en-US" sz="1400" dirty="0">
              <a:latin typeface="Times New Roman" panose="02020603050405020304" pitchFamily="18" charset="0"/>
              <a:cs typeface="Times New Roman" panose="02020603050405020304" pitchFamily="18" charset="0"/>
            </a:endParaRPr>
          </a:p>
          <a:p>
            <a:pPr>
              <a:lnSpc>
                <a:spcPct val="150000"/>
              </a:lnSpc>
            </a:pPr>
            <a:r>
              <a:rPr lang="en-US" sz="1400" b="1" dirty="0">
                <a:latin typeface="Times New Roman" panose="02020603050405020304" pitchFamily="18" charset="0"/>
                <a:cs typeface="Times New Roman" panose="02020603050405020304" pitchFamily="18" charset="0"/>
              </a:rPr>
              <a:t>1.2 Data Validation and Preprocessing Module</a:t>
            </a:r>
          </a:p>
          <a:p>
            <a:pPr>
              <a:lnSpc>
                <a:spcPct val="150000"/>
              </a:lnSpc>
            </a:pPr>
            <a:r>
              <a:rPr lang="en-US" sz="1400" dirty="0">
                <a:latin typeface="Times New Roman" panose="02020603050405020304" pitchFamily="18" charset="0"/>
                <a:cs typeface="Times New Roman" panose="02020603050405020304" pitchFamily="18" charset="0"/>
              </a:rPr>
              <a:t>Ensures data quality by checking for missing, invalid, or out-of-range values. Converts valid inputs into model-compatible format, enhancing prediction accuracy and consistency.</a:t>
            </a:r>
          </a:p>
          <a:p>
            <a:pPr>
              <a:lnSpc>
                <a:spcPct val="150000"/>
              </a:lnSpc>
            </a:pPr>
            <a:endParaRPr lang="en-US" sz="1400" dirty="0">
              <a:latin typeface="Times New Roman" panose="02020603050405020304" pitchFamily="18" charset="0"/>
              <a:cs typeface="Times New Roman" panose="02020603050405020304" pitchFamily="18" charset="0"/>
            </a:endParaRPr>
          </a:p>
          <a:p>
            <a:pPr>
              <a:lnSpc>
                <a:spcPct val="150000"/>
              </a:lnSpc>
            </a:pPr>
            <a:r>
              <a:rPr lang="en-US" sz="1400" b="1" dirty="0">
                <a:latin typeface="Times New Roman" panose="02020603050405020304" pitchFamily="18" charset="0"/>
                <a:cs typeface="Times New Roman" panose="02020603050405020304" pitchFamily="18" charset="0"/>
              </a:rPr>
              <a:t>1.3 Model Selection and Evaluation Module</a:t>
            </a:r>
          </a:p>
          <a:p>
            <a:pPr>
              <a:lnSpc>
                <a:spcPct val="150000"/>
              </a:lnSpc>
            </a:pPr>
            <a:r>
              <a:rPr lang="en-US" sz="1400" dirty="0">
                <a:latin typeface="Times New Roman" panose="02020603050405020304" pitchFamily="18" charset="0"/>
                <a:cs typeface="Times New Roman" panose="02020603050405020304" pitchFamily="18" charset="0"/>
              </a:rPr>
              <a:t>Provides six model options (Random Forest, Decision Tree, Logistic Regression, KNN, Gradient Boosting,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with visible accuracy scores. Helps users select the best-performing model for their dataset</a:t>
            </a:r>
          </a:p>
          <a:p>
            <a:pPr algn="just">
              <a:lnSpc>
                <a:spcPct val="107000"/>
              </a:lnSpc>
              <a:spcBef>
                <a:spcPts val="1200"/>
              </a:spcBef>
              <a:spcAft>
                <a:spcPts val="800"/>
              </a:spcAft>
            </a:pPr>
            <a:endParaRPr lang="en-IN" sz="14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563156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36</a:t>
            </a:fld>
            <a:endParaRPr lang="en-US" dirty="0"/>
          </a:p>
        </p:txBody>
      </p:sp>
      <p:sp>
        <p:nvSpPr>
          <p:cNvPr id="3" name="Rectangle 2"/>
          <p:cNvSpPr/>
          <p:nvPr/>
        </p:nvSpPr>
        <p:spPr>
          <a:xfrm>
            <a:off x="483477" y="620109"/>
            <a:ext cx="8187559" cy="3800720"/>
          </a:xfrm>
          <a:prstGeom prst="rect">
            <a:avLst/>
          </a:prstGeom>
        </p:spPr>
        <p:txBody>
          <a:bodyPr wrap="square">
            <a:spAutoFit/>
          </a:bodyPr>
          <a:lstStyle/>
          <a:p>
            <a:pPr>
              <a:lnSpc>
                <a:spcPct val="150000"/>
              </a:lnSpc>
            </a:pPr>
            <a:r>
              <a:rPr lang="en-US" b="1" dirty="0">
                <a:latin typeface="Times New Roman" panose="02020603050405020304" pitchFamily="18" charset="0"/>
                <a:cs typeface="Times New Roman" panose="02020603050405020304" pitchFamily="18" charset="0"/>
              </a:rPr>
              <a:t>Implementation:</a:t>
            </a:r>
          </a:p>
          <a:p>
            <a:pPr>
              <a:lnSpc>
                <a:spcPct val="150000"/>
              </a:lnSpc>
            </a:pPr>
            <a:r>
              <a:rPr lang="en-US" sz="1400" b="1" dirty="0">
                <a:latin typeface="Times New Roman" panose="02020603050405020304" pitchFamily="18" charset="0"/>
                <a:ea typeface="Calibri" panose="020F0502020204030204" pitchFamily="34" charset="0"/>
                <a:cs typeface="Times New Roman" panose="02020603050405020304" pitchFamily="18" charset="0"/>
              </a:rPr>
              <a:t>1.System:</a:t>
            </a:r>
          </a:p>
          <a:p>
            <a:pPr>
              <a:lnSpc>
                <a:spcPct val="150000"/>
              </a:lnSpc>
            </a:pPr>
            <a:endParaRPr lang="en-US" sz="1400" b="1" dirty="0">
              <a:latin typeface="Times New Roman" panose="02020603050405020304" pitchFamily="18" charset="0"/>
              <a:cs typeface="Times New Roman" panose="02020603050405020304" pitchFamily="18" charset="0"/>
            </a:endParaRPr>
          </a:p>
          <a:p>
            <a:pPr>
              <a:lnSpc>
                <a:spcPct val="150000"/>
              </a:lnSpc>
            </a:pPr>
            <a:r>
              <a:rPr lang="en-US" sz="1400" b="1" dirty="0">
                <a:latin typeface="Times New Roman" panose="02020603050405020304" pitchFamily="18" charset="0"/>
                <a:cs typeface="Times New Roman" panose="02020603050405020304" pitchFamily="18" charset="0"/>
              </a:rPr>
              <a:t>1.4 Prediction and Inference Module</a:t>
            </a:r>
          </a:p>
          <a:p>
            <a:pPr>
              <a:lnSpc>
                <a:spcPct val="150000"/>
              </a:lnSpc>
            </a:pPr>
            <a:r>
              <a:rPr lang="en-US" sz="1400" dirty="0">
                <a:latin typeface="Times New Roman" panose="02020603050405020304" pitchFamily="18" charset="0"/>
                <a:cs typeface="Times New Roman" panose="02020603050405020304" pitchFamily="18" charset="0"/>
              </a:rPr>
              <a:t>Transforms input into an array and loads the selected model using </a:t>
            </a:r>
            <a:r>
              <a:rPr lang="en-US" sz="1400" dirty="0" err="1">
                <a:latin typeface="Times New Roman" panose="02020603050405020304" pitchFamily="18" charset="0"/>
                <a:cs typeface="Times New Roman" panose="02020603050405020304" pitchFamily="18" charset="0"/>
              </a:rPr>
              <a:t>joblib</a:t>
            </a:r>
            <a:r>
              <a:rPr lang="en-US" sz="1400" dirty="0">
                <a:latin typeface="Times New Roman" panose="02020603050405020304" pitchFamily="18" charset="0"/>
                <a:cs typeface="Times New Roman" panose="02020603050405020304" pitchFamily="18" charset="0"/>
              </a:rPr>
              <a:t>. Outputs real-time predictions as either "Success" or "Failure" for beamforming, shown instantly on the user interface.</a:t>
            </a:r>
          </a:p>
          <a:p>
            <a:pPr>
              <a:lnSpc>
                <a:spcPct val="150000"/>
              </a:lnSpc>
            </a:pPr>
            <a:endParaRPr lang="en-US" sz="1400" dirty="0">
              <a:latin typeface="Times New Roman" panose="02020603050405020304" pitchFamily="18" charset="0"/>
              <a:cs typeface="Times New Roman" panose="02020603050405020304" pitchFamily="18" charset="0"/>
            </a:endParaRPr>
          </a:p>
          <a:p>
            <a:pPr>
              <a:lnSpc>
                <a:spcPct val="150000"/>
              </a:lnSpc>
            </a:pPr>
            <a:r>
              <a:rPr lang="en-US" sz="1400" b="1" dirty="0">
                <a:latin typeface="Times New Roman" panose="02020603050405020304" pitchFamily="18" charset="0"/>
                <a:cs typeface="Times New Roman" panose="02020603050405020304" pitchFamily="18" charset="0"/>
              </a:rPr>
              <a:t>1.5 Model Assessment and Substitution Logic</a:t>
            </a:r>
          </a:p>
          <a:p>
            <a:pPr>
              <a:lnSpc>
                <a:spcPct val="150000"/>
              </a:lnSpc>
            </a:pPr>
            <a:r>
              <a:rPr lang="en-US" sz="1400" dirty="0">
                <a:latin typeface="Times New Roman" panose="02020603050405020304" pitchFamily="18" charset="0"/>
                <a:cs typeface="Times New Roman" panose="02020603050405020304" pitchFamily="18" charset="0"/>
              </a:rPr>
              <a:t>Planned enhancement to monitor model performance over time and auto-replace underperforming models, maintaining long-term accuracy and reliability.</a:t>
            </a:r>
          </a:p>
          <a:p>
            <a:pPr algn="just">
              <a:lnSpc>
                <a:spcPct val="107000"/>
              </a:lnSpc>
              <a:spcBef>
                <a:spcPts val="1200"/>
              </a:spcBef>
              <a:spcAft>
                <a:spcPts val="800"/>
              </a:spcAft>
            </a:pPr>
            <a:endParaRPr lang="en-IN" sz="14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704023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37</a:t>
            </a:fld>
            <a:endParaRPr lang="en-US" dirty="0"/>
          </a:p>
        </p:txBody>
      </p:sp>
      <p:sp>
        <p:nvSpPr>
          <p:cNvPr id="4" name="Rectangle 1"/>
          <p:cNvSpPr>
            <a:spLocks noChangeArrowheads="1"/>
          </p:cNvSpPr>
          <p:nvPr/>
        </p:nvSpPr>
        <p:spPr bwMode="auto">
          <a:xfrm>
            <a:off x="483477" y="809296"/>
            <a:ext cx="7924799" cy="3647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2.1 Registration</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register by providing personal details. The system ensures unique emails and password confirmation before securely storing credentials in the MySQL database.</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2.2 Login and Session Handling</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log in with valid credentials. A session is created to control access to protected routes like /home, ensuring only authenticated users can access predictions.</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2.3 Data Upload and Entry</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can upload CSV files or manually input feature data. Uploaded data is parsed and previewed for validation before further processing.</a:t>
            </a:r>
          </a:p>
        </p:txBody>
      </p:sp>
      <p:sp>
        <p:nvSpPr>
          <p:cNvPr id="5" name="Rectangle 4"/>
          <p:cNvSpPr/>
          <p:nvPr/>
        </p:nvSpPr>
        <p:spPr>
          <a:xfrm>
            <a:off x="396915" y="350927"/>
            <a:ext cx="1719381" cy="507831"/>
          </a:xfrm>
          <a:prstGeom prst="rect">
            <a:avLst/>
          </a:prstGeom>
        </p:spPr>
        <p:txBody>
          <a:bodyPr wrap="none">
            <a:spAutoFit/>
          </a:bodyPr>
          <a:lstStyle/>
          <a:p>
            <a:pPr marL="342900" lvl="0" indent="-342900" algn="just">
              <a:lnSpc>
                <a:spcPct val="150000"/>
              </a:lnSpc>
              <a:tabLst>
                <a:tab pos="457200" algn="l"/>
              </a:tabLst>
            </a:pPr>
            <a:r>
              <a:rPr lang="en-IN" b="1" dirty="0">
                <a:latin typeface="Times New Roman" panose="02020603050405020304" pitchFamily="18" charset="0"/>
                <a:ea typeface="Times New Roman" panose="02020603050405020304" pitchFamily="18" charset="0"/>
              </a:rPr>
              <a:t>2.User Modules</a:t>
            </a:r>
            <a:endParaRPr lang="en-IN"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0455398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38</a:t>
            </a:fld>
            <a:endParaRPr lang="en-US" dirty="0"/>
          </a:p>
        </p:txBody>
      </p:sp>
      <p:sp>
        <p:nvSpPr>
          <p:cNvPr id="4" name="Rectangle 1"/>
          <p:cNvSpPr>
            <a:spLocks noChangeArrowheads="1"/>
          </p:cNvSpPr>
          <p:nvPr/>
        </p:nvSpPr>
        <p:spPr bwMode="auto">
          <a:xfrm>
            <a:off x="483477" y="1052413"/>
            <a:ext cx="7924799" cy="360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en-US" sz="1400" b="1" dirty="0">
                <a:latin typeface="Times New Roman" panose="02020603050405020304" pitchFamily="18" charset="0"/>
                <a:cs typeface="Times New Roman" panose="02020603050405020304" pitchFamily="18" charset="0"/>
              </a:rPr>
              <a:t>2.4 Model Selection and Comparison</a:t>
            </a:r>
          </a:p>
          <a:p>
            <a:pPr algn="just">
              <a:lnSpc>
                <a:spcPct val="150000"/>
              </a:lnSpc>
            </a:pPr>
            <a:r>
              <a:rPr lang="en-US" sz="1400" dirty="0">
                <a:latin typeface="Times New Roman" panose="02020603050405020304" pitchFamily="18" charset="0"/>
                <a:cs typeface="Times New Roman" panose="02020603050405020304" pitchFamily="18" charset="0"/>
              </a:rPr>
              <a:t>Users choose from available models and view their accuracy scores. This helps in selecting the most suitable model for predictions.</a:t>
            </a:r>
          </a:p>
          <a:p>
            <a:pPr algn="just">
              <a:lnSpc>
                <a:spcPct val="150000"/>
              </a:lnSpc>
            </a:pPr>
            <a:endParaRPr lang="en-US" sz="1400" dirty="0">
              <a:latin typeface="Times New Roman" panose="02020603050405020304" pitchFamily="18" charset="0"/>
              <a:cs typeface="Times New Roman" panose="02020603050405020304" pitchFamily="18" charset="0"/>
            </a:endParaRPr>
          </a:p>
          <a:p>
            <a:pPr algn="just">
              <a:lnSpc>
                <a:spcPct val="150000"/>
              </a:lnSpc>
            </a:pPr>
            <a:r>
              <a:rPr lang="en-US" sz="1400" b="1" dirty="0">
                <a:latin typeface="Times New Roman" panose="02020603050405020304" pitchFamily="18" charset="0"/>
                <a:cs typeface="Times New Roman" panose="02020603050405020304" pitchFamily="18" charset="0"/>
              </a:rPr>
              <a:t>2.5 Prediction Output Visualization</a:t>
            </a:r>
          </a:p>
          <a:p>
            <a:pPr algn="just">
              <a:lnSpc>
                <a:spcPct val="150000"/>
              </a:lnSpc>
            </a:pPr>
            <a:r>
              <a:rPr lang="en-US" sz="1400" dirty="0">
                <a:latin typeface="Times New Roman" panose="02020603050405020304" pitchFamily="18" charset="0"/>
                <a:cs typeface="Times New Roman" panose="02020603050405020304" pitchFamily="18" charset="0"/>
              </a:rPr>
              <a:t>Predictions are displayed clearly as “Success” or “Failure” on the front-end, allowing easy interpretation through a user-friendly interface.</a:t>
            </a:r>
          </a:p>
          <a:p>
            <a:pPr algn="just">
              <a:lnSpc>
                <a:spcPct val="150000"/>
              </a:lnSpc>
            </a:pPr>
            <a:endParaRPr lang="en-US" sz="1400" dirty="0">
              <a:latin typeface="Times New Roman" panose="02020603050405020304" pitchFamily="18" charset="0"/>
              <a:cs typeface="Times New Roman" panose="02020603050405020304" pitchFamily="18" charset="0"/>
            </a:endParaRPr>
          </a:p>
          <a:p>
            <a:pPr algn="just">
              <a:lnSpc>
                <a:spcPct val="150000"/>
              </a:lnSpc>
            </a:pPr>
            <a:r>
              <a:rPr lang="en-US" sz="1400" b="1" dirty="0">
                <a:latin typeface="Times New Roman" panose="02020603050405020304" pitchFamily="18" charset="0"/>
                <a:cs typeface="Times New Roman" panose="02020603050405020304" pitchFamily="18" charset="0"/>
              </a:rPr>
              <a:t>2.6 Logout and Session Termination</a:t>
            </a:r>
          </a:p>
          <a:p>
            <a:pPr algn="just">
              <a:lnSpc>
                <a:spcPct val="150000"/>
              </a:lnSpc>
            </a:pPr>
            <a:r>
              <a:rPr lang="en-US" sz="1400" dirty="0">
                <a:latin typeface="Times New Roman" panose="02020603050405020304" pitchFamily="18" charset="0"/>
                <a:cs typeface="Times New Roman" panose="02020603050405020304" pitchFamily="18" charset="0"/>
              </a:rPr>
              <a:t>Secure logout ends the session, ensuring user data remains protected and inaccessible to unauthorized users.</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4"/>
          <p:cNvSpPr/>
          <p:nvPr/>
        </p:nvSpPr>
        <p:spPr>
          <a:xfrm>
            <a:off x="396915" y="350927"/>
            <a:ext cx="1719381" cy="507831"/>
          </a:xfrm>
          <a:prstGeom prst="rect">
            <a:avLst/>
          </a:prstGeom>
        </p:spPr>
        <p:txBody>
          <a:bodyPr wrap="none">
            <a:spAutoFit/>
          </a:bodyPr>
          <a:lstStyle/>
          <a:p>
            <a:pPr marL="342900" lvl="0" indent="-342900" algn="just">
              <a:lnSpc>
                <a:spcPct val="150000"/>
              </a:lnSpc>
              <a:tabLst>
                <a:tab pos="457200" algn="l"/>
              </a:tabLst>
            </a:pPr>
            <a:r>
              <a:rPr lang="en-IN" b="1" dirty="0">
                <a:latin typeface="Times New Roman" panose="02020603050405020304" pitchFamily="18" charset="0"/>
                <a:ea typeface="Times New Roman" panose="02020603050405020304" pitchFamily="18" charset="0"/>
              </a:rPr>
              <a:t>2.User Modules</a:t>
            </a:r>
            <a:endParaRPr lang="en-IN"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5380199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166"/>
        <p:cNvGrpSpPr/>
        <p:nvPr/>
      </p:nvGrpSpPr>
      <p:grpSpPr>
        <a:xfrm>
          <a:off x="0" y="0"/>
          <a:ext cx="0" cy="0"/>
          <a:chOff x="0" y="0"/>
          <a:chExt cx="0" cy="0"/>
        </a:xfrm>
      </p:grpSpPr>
      <p:sp>
        <p:nvSpPr>
          <p:cNvPr id="1167" name="Google Shape;1167;p36"/>
          <p:cNvSpPr txBox="1">
            <a:spLocks noGrp="1"/>
          </p:cNvSpPr>
          <p:nvPr>
            <p:ph type="title"/>
          </p:nvPr>
        </p:nvSpPr>
        <p:spPr>
          <a:prstGeom prst="rect">
            <a:avLst/>
          </a:prstGeom>
          <a:ln>
            <a:noFill/>
          </a:ln>
        </p:spPr>
        <p:txBody>
          <a:bodyPr spcFirstLastPara="1" wrap="square" lIns="91425" tIns="91425" rIns="91425" bIns="91425" anchor="t" anchorCtr="0">
            <a:noAutofit/>
          </a:bodyPr>
          <a:lstStyle/>
          <a:p>
            <a:pPr lvl="0"/>
            <a:r>
              <a:rPr lang="en-IN" sz="2400" b="1" dirty="0">
                <a:solidFill>
                  <a:schemeClr val="tx1"/>
                </a:solidFill>
                <a:latin typeface="Times New Roman" panose="02020603050405020304" pitchFamily="18" charset="0"/>
                <a:cs typeface="Times New Roman" panose="02020603050405020304" pitchFamily="18" charset="0"/>
              </a:rPr>
              <a:t>Implementation</a:t>
            </a:r>
          </a:p>
        </p:txBody>
      </p:sp>
      <p:sp>
        <p:nvSpPr>
          <p:cNvPr id="1168" name="Google Shape;1168;p36"/>
          <p:cNvSpPr txBox="1"/>
          <p:nvPr/>
        </p:nvSpPr>
        <p:spPr>
          <a:xfrm>
            <a:off x="1945500" y="1478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Data Description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69" name="Google Shape;1169;p36"/>
          <p:cNvSpPr/>
          <p:nvPr/>
        </p:nvSpPr>
        <p:spPr>
          <a:xfrm>
            <a:off x="1028700" y="1478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01</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0" name="Google Shape;1170;p36"/>
          <p:cNvSpPr txBox="1"/>
          <p:nvPr/>
        </p:nvSpPr>
        <p:spPr>
          <a:xfrm>
            <a:off x="1945500" y="24368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EDA Explanation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1" name="Google Shape;1171;p36"/>
          <p:cNvSpPr/>
          <p:nvPr/>
        </p:nvSpPr>
        <p:spPr>
          <a:xfrm>
            <a:off x="1028700" y="24368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02</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2" name="Google Shape;1172;p36"/>
          <p:cNvSpPr txBox="1"/>
          <p:nvPr/>
        </p:nvSpPr>
        <p:spPr>
          <a:xfrm>
            <a:off x="1945500" y="3395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Preprocessing steps</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3" name="Google Shape;1173;p36"/>
          <p:cNvSpPr/>
          <p:nvPr/>
        </p:nvSpPr>
        <p:spPr>
          <a:xfrm>
            <a:off x="1028700" y="3395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03</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4" name="Google Shape;1174;p36"/>
          <p:cNvSpPr txBox="1"/>
          <p:nvPr/>
        </p:nvSpPr>
        <p:spPr>
          <a:xfrm>
            <a:off x="5641200" y="1478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5" name="Google Shape;1175;p36"/>
          <p:cNvSpPr/>
          <p:nvPr/>
        </p:nvSpPr>
        <p:spPr>
          <a:xfrm>
            <a:off x="4724400" y="1478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04</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6" name="Google Shape;1176;p36"/>
          <p:cNvSpPr txBox="1"/>
          <p:nvPr/>
        </p:nvSpPr>
        <p:spPr>
          <a:xfrm>
            <a:off x="5641200" y="24368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Working Process </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7" name="Google Shape;1177;p36"/>
          <p:cNvSpPr/>
          <p:nvPr/>
        </p:nvSpPr>
        <p:spPr>
          <a:xfrm>
            <a:off x="4724400" y="24368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05</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8" name="Google Shape;1178;p36"/>
          <p:cNvSpPr txBox="1"/>
          <p:nvPr/>
        </p:nvSpPr>
        <p:spPr>
          <a:xfrm>
            <a:off x="5641200" y="3395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Results from Algorithm</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9" name="Google Shape;1179;p36"/>
          <p:cNvSpPr/>
          <p:nvPr/>
        </p:nvSpPr>
        <p:spPr>
          <a:xfrm>
            <a:off x="4724400" y="3395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06</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cxnSp>
        <p:nvCxnSpPr>
          <p:cNvPr id="1180" name="Google Shape;1180;p36"/>
          <p:cNvCxnSpPr>
            <a:stCxn id="1169" idx="4"/>
            <a:endCxn id="1171" idx="0"/>
          </p:cNvCxnSpPr>
          <p:nvPr/>
        </p:nvCxnSpPr>
        <p:spPr>
          <a:xfrm>
            <a:off x="1410900" y="22427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1" name="Google Shape;1181;p36"/>
          <p:cNvCxnSpPr>
            <a:stCxn id="1171" idx="4"/>
            <a:endCxn id="1173" idx="0"/>
          </p:cNvCxnSpPr>
          <p:nvPr/>
        </p:nvCxnSpPr>
        <p:spPr>
          <a:xfrm>
            <a:off x="1410900" y="32012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2" name="Google Shape;1182;p36"/>
          <p:cNvCxnSpPr>
            <a:stCxn id="1177" idx="0"/>
            <a:endCxn id="1175" idx="4"/>
          </p:cNvCxnSpPr>
          <p:nvPr/>
        </p:nvCxnSpPr>
        <p:spPr>
          <a:xfrm rot="10800000">
            <a:off x="5106600" y="22427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3" name="Google Shape;1183;p36"/>
          <p:cNvCxnSpPr>
            <a:stCxn id="1179" idx="0"/>
            <a:endCxn id="1177" idx="4"/>
          </p:cNvCxnSpPr>
          <p:nvPr/>
        </p:nvCxnSpPr>
        <p:spPr>
          <a:xfrm rot="10800000">
            <a:off x="5106600" y="3201275"/>
            <a:ext cx="0" cy="194100"/>
          </a:xfrm>
          <a:prstGeom prst="straightConnector1">
            <a:avLst/>
          </a:prstGeom>
          <a:noFill/>
          <a:ln w="19050" cap="flat" cmpd="sng">
            <a:solidFill>
              <a:schemeClr val="accent5"/>
            </a:solidFill>
            <a:prstDash val="dot"/>
            <a:round/>
            <a:headEnd type="none" w="med" len="med"/>
            <a:tailEnd type="none" w="med" len="med"/>
          </a:ln>
        </p:spPr>
      </p:cxnSp>
      <p:sp>
        <p:nvSpPr>
          <p:cNvPr id="2" name="TextBox 1"/>
          <p:cNvSpPr txBox="1"/>
          <p:nvPr/>
        </p:nvSpPr>
        <p:spPr>
          <a:xfrm>
            <a:off x="5420138" y="1170597"/>
            <a:ext cx="2206487"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Model Implementation</a:t>
            </a:r>
            <a:endParaRPr lang="en-IN" b="1" dirty="0">
              <a:latin typeface="Times New Roman" panose="02020603050405020304" pitchFamily="18" charset="0"/>
              <a:cs typeface="Times New Roman" panose="02020603050405020304" pitchFamily="18" charset="0"/>
            </a:endParaRPr>
          </a:p>
        </p:txBody>
      </p:sp>
      <p:sp>
        <p:nvSpPr>
          <p:cNvPr id="3" name="Rectangle 2"/>
          <p:cNvSpPr/>
          <p:nvPr/>
        </p:nvSpPr>
        <p:spPr>
          <a:xfrm>
            <a:off x="1906413" y="1105946"/>
            <a:ext cx="1537665" cy="458074"/>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Data Analysis</a:t>
            </a:r>
          </a:p>
        </p:txBody>
      </p:sp>
      <p:sp>
        <p:nvSpPr>
          <p:cNvPr id="23" name="Google Shape;894;p34"/>
          <p:cNvSpPr txBox="1"/>
          <p:nvPr/>
        </p:nvSpPr>
        <p:spPr>
          <a:xfrm>
            <a:off x="7951430" y="364019"/>
            <a:ext cx="644608" cy="940458"/>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3200" b="1" dirty="0">
              <a:solidFill>
                <a:schemeClr val="accent4"/>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40</a:t>
            </a:fld>
            <a:endParaRPr lang="en-US" dirty="0"/>
          </a:p>
        </p:txBody>
      </p:sp>
      <p:sp>
        <p:nvSpPr>
          <p:cNvPr id="5" name="Rectangle 1"/>
          <p:cNvSpPr>
            <a:spLocks noChangeArrowheads="1"/>
          </p:cNvSpPr>
          <p:nvPr/>
        </p:nvSpPr>
        <p:spPr bwMode="auto">
          <a:xfrm>
            <a:off x="525517" y="440550"/>
            <a:ext cx="18053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Columns Description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2"/>
          <p:cNvSpPr/>
          <p:nvPr/>
        </p:nvSpPr>
        <p:spPr>
          <a:xfrm>
            <a:off x="525517" y="790649"/>
            <a:ext cx="7882758" cy="4185761"/>
          </a:xfrm>
          <a:prstGeom prst="rect">
            <a:avLst/>
          </a:prstGeom>
        </p:spPr>
        <p:txBody>
          <a:bodyPr wrap="square">
            <a:spAutoFit/>
          </a:bodyPr>
          <a:lstStyle/>
          <a:p>
            <a:r>
              <a:rPr lang="en-US" sz="1400" b="1" dirty="0">
                <a:latin typeface="Times New Roman" panose="02020603050405020304" pitchFamily="18" charset="0"/>
                <a:cs typeface="Times New Roman" panose="02020603050405020304" pitchFamily="18" charset="0"/>
              </a:rPr>
              <a:t>Data Description</a:t>
            </a:r>
          </a:p>
          <a:p>
            <a:endParaRPr lang="en-US" sz="1400" b="1"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The dataset consists of several features related to wireless communication and network performance, focusing on mobility, antenna characteristics, beamforming, and other key metrics. Each row represents a sample of network conditions in an environment, with each sample containing a set of features along with an environment classification (Outdoor or not). Below are the columns and their descriptions:</a:t>
            </a:r>
          </a:p>
          <a:p>
            <a:endParaRPr lang="en-US"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Mobility (m/s)</a:t>
            </a:r>
            <a:r>
              <a:rPr lang="en-US" sz="1400" dirty="0">
                <a:latin typeface="Times New Roman" panose="02020603050405020304" pitchFamily="18" charset="0"/>
                <a:cs typeface="Times New Roman" panose="02020603050405020304" pitchFamily="18" charset="0"/>
              </a:rPr>
              <a:t>:</a:t>
            </a:r>
          </a:p>
          <a:p>
            <a:pPr algn="just"/>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This feature represents the speed of the mobile unit (in meters per second). Higher values indicate faster mobility, which can impact communication quality, signal strength, and network stability.</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Example: 2.745, 1.640, 2.077 (measured mobility in meters per second).</a:t>
            </a:r>
          </a:p>
          <a:p>
            <a:endParaRPr lang="en-US"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Number of Antennas</a:t>
            </a:r>
            <a:r>
              <a:rPr lang="en-US" sz="1400" dirty="0">
                <a:latin typeface="Times New Roman" panose="02020603050405020304" pitchFamily="18" charset="0"/>
                <a:cs typeface="Times New Roman" panose="02020603050405020304" pitchFamily="18" charset="0"/>
              </a:rPr>
              <a:t>:</a:t>
            </a:r>
          </a:p>
          <a:p>
            <a:pPr algn="just"/>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This indicates the number of antennas involved in the communication system. A higher number of antennas can potentially improve network performance by providing better coverage, signal quality, and capacity.</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Example: 512, 512, 256 (number of antennas used in each sample).</a:t>
            </a:r>
          </a:p>
          <a:p>
            <a:endParaRPr lang="en-US" sz="1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73546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424542" y="516544"/>
            <a:ext cx="18053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Columns Description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1"/>
          <p:cNvSpPr>
            <a:spLocks noChangeArrowheads="1"/>
          </p:cNvSpPr>
          <p:nvPr/>
        </p:nvSpPr>
        <p:spPr bwMode="auto">
          <a:xfrm>
            <a:off x="424542" y="925638"/>
            <a:ext cx="8376756"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Beamforming Gain (dB)</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tabLst/>
            </a:pPr>
            <a:b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Beamforming is a technique used in antenna arrays to focus the signal in specific directions. This feature measures the gain in decibels (dB), which indicates how effectively the antenna system focuses the signal.</a:t>
            </a:r>
            <a:b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17.85, 15.40, 16.12 (beamforming gain in decibels).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Latency (</a:t>
            </a:r>
            <a:r>
              <a:rPr kumimoji="0" lang="en-US" altLang="en-US" sz="1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ms</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tabLst/>
            </a:pPr>
            <a:b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Latency refers to the delay in the network communication, typically measured in milliseconds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Low latency is crucial for time-sensitive applications.</a:t>
            </a:r>
            <a:b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1.78, 1.35, 3.93 (network latency in milliseconds).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Throughput (Mbps)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tabLst/>
            </a:pPr>
            <a:b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feature represents the rate at which data is transmitted over the network, measured in Megabits per second (Mbps). Higher throughput indicates a more efficient network with better data transfer capabilities.</a:t>
            </a:r>
            <a:b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367.25, 539.60, 820.32 (network throughput in Mbps).</a:t>
            </a:r>
          </a:p>
        </p:txBody>
      </p:sp>
    </p:spTree>
    <p:extLst>
      <p:ext uri="{BB962C8B-B14F-4D97-AF65-F5344CB8AC3E}">
        <p14:creationId xmlns:p14="http://schemas.microsoft.com/office/powerpoint/2010/main" val="26428086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424542" y="516544"/>
            <a:ext cx="18053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Columns Description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 name="Rectangle 1"/>
          <p:cNvSpPr/>
          <p:nvPr/>
        </p:nvSpPr>
        <p:spPr>
          <a:xfrm>
            <a:off x="424542" y="1039764"/>
            <a:ext cx="8109858" cy="3539430"/>
          </a:xfrm>
          <a:prstGeom prst="rect">
            <a:avLst/>
          </a:prstGeom>
        </p:spPr>
        <p:txBody>
          <a:bodyPr wrap="square">
            <a:spAutoFit/>
          </a:bodyPr>
          <a:lstStyle/>
          <a:p>
            <a:pPr>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Beam Training Time (s)</a:t>
            </a:r>
            <a:r>
              <a:rPr lang="en-US" sz="1400" dirty="0">
                <a:latin typeface="Times New Roman" panose="02020603050405020304" pitchFamily="18" charset="0"/>
                <a:cs typeface="Times New Roman" panose="02020603050405020304" pitchFamily="18" charset="0"/>
              </a:rPr>
              <a:t>:</a:t>
            </a:r>
          </a:p>
          <a:p>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The time required for beamforming to be trained for optimal signal transmission. This value can influence how quickly a network adapts to mobility and signal changes.</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Example: 0.033, 0.058, 0.141 (beamforming training time in seconds).</a:t>
            </a:r>
          </a:p>
          <a:p>
            <a:pPr>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400" b="1" dirty="0" err="1">
                <a:latin typeface="Times New Roman" panose="02020603050405020304" pitchFamily="18" charset="0"/>
                <a:cs typeface="Times New Roman" panose="02020603050405020304" pitchFamily="18" charset="0"/>
              </a:rPr>
              <a:t>Environment_Outdoor</a:t>
            </a:r>
            <a:r>
              <a:rPr lang="en-US" sz="1400" dirty="0">
                <a:latin typeface="Times New Roman" panose="02020603050405020304" pitchFamily="18" charset="0"/>
                <a:cs typeface="Times New Roman" panose="02020603050405020304" pitchFamily="18" charset="0"/>
              </a:rPr>
              <a:t>:</a:t>
            </a:r>
          </a:p>
          <a:p>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This binary feature indicates whether the network operates in an outdoor environment (TRUE) or otherwise (FALSE). The environment type can affect signal propagation, interference, and network performance.</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Example: FALSE, FALSE, FALSE (indicating all samples are not in an outdoor environment).</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This dataset is useful for understanding various factors that influence wireless communication performance, such as mobility, beamforming, and environmental conditions. The target variable (not explicitly listed here) could likely be related to performance metrics like network reliability or signal strength in a given environment.</a:t>
            </a:r>
          </a:p>
        </p:txBody>
      </p:sp>
    </p:spTree>
    <p:extLst>
      <p:ext uri="{BB962C8B-B14F-4D97-AF65-F5344CB8AC3E}">
        <p14:creationId xmlns:p14="http://schemas.microsoft.com/office/powerpoint/2010/main" val="4230331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354849"/>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Exploratory Data Analysis </a:t>
            </a:r>
          </a:p>
        </p:txBody>
      </p:sp>
      <p:sp>
        <p:nvSpPr>
          <p:cNvPr id="4" name="Google Shape;892;p34"/>
          <p:cNvSpPr/>
          <p:nvPr/>
        </p:nvSpPr>
        <p:spPr>
          <a:xfrm>
            <a:off x="7628201" y="721556"/>
            <a:ext cx="884318" cy="895887"/>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894;p34"/>
          <p:cNvSpPr txBox="1"/>
          <p:nvPr/>
        </p:nvSpPr>
        <p:spPr>
          <a:xfrm>
            <a:off x="7561445" y="825504"/>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9" name="Rectangle 8"/>
          <p:cNvSpPr/>
          <p:nvPr/>
        </p:nvSpPr>
        <p:spPr>
          <a:xfrm>
            <a:off x="509691" y="1085692"/>
            <a:ext cx="5718232" cy="307777"/>
          </a:xfrm>
          <a:prstGeom prst="rect">
            <a:avLst/>
          </a:prstGeom>
        </p:spPr>
        <p:txBody>
          <a:bodyPr wrap="none">
            <a:spAutoFit/>
          </a:bodyPr>
          <a:lstStyle/>
          <a:p>
            <a:r>
              <a:rPr lang="en-US" sz="1400"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This the top 5 rows of the dataset here we see the how was the dataset values.</a:t>
            </a:r>
            <a:endParaRPr lang="en-IN" sz="1400" dirty="0"/>
          </a:p>
        </p:txBody>
      </p:sp>
      <p:pic>
        <p:nvPicPr>
          <p:cNvPr id="2" name="Picture 1"/>
          <p:cNvPicPr>
            <a:picLocks noChangeAspect="1"/>
          </p:cNvPicPr>
          <p:nvPr/>
        </p:nvPicPr>
        <p:blipFill>
          <a:blip r:embed="rId3"/>
          <a:stretch>
            <a:fillRect/>
          </a:stretch>
        </p:blipFill>
        <p:spPr>
          <a:xfrm>
            <a:off x="509691" y="1581011"/>
            <a:ext cx="8227909" cy="2899549"/>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354849"/>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Exploratory Data Analysis </a:t>
            </a:r>
          </a:p>
        </p:txBody>
      </p:sp>
      <p:sp>
        <p:nvSpPr>
          <p:cNvPr id="4" name="Google Shape;892;p34"/>
          <p:cNvSpPr/>
          <p:nvPr/>
        </p:nvSpPr>
        <p:spPr>
          <a:xfrm>
            <a:off x="7628201" y="721556"/>
            <a:ext cx="884318" cy="895887"/>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894;p34"/>
          <p:cNvSpPr txBox="1"/>
          <p:nvPr/>
        </p:nvSpPr>
        <p:spPr>
          <a:xfrm>
            <a:off x="7561445" y="825504"/>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10" name="Rectangle 9"/>
          <p:cNvSpPr/>
          <p:nvPr/>
        </p:nvSpPr>
        <p:spPr>
          <a:xfrm>
            <a:off x="509691" y="1013936"/>
            <a:ext cx="6844747" cy="307777"/>
          </a:xfrm>
          <a:prstGeom prst="rect">
            <a:avLst/>
          </a:prstGeom>
        </p:spPr>
        <p:txBody>
          <a:bodyPr wrap="square">
            <a:spAutoFit/>
          </a:bodyPr>
          <a:lstStyle/>
          <a:p>
            <a:r>
              <a:rPr lang="en-US" sz="1400"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This the Bottom 5 rows of the dataset here we see the how was the dataset values.</a:t>
            </a:r>
            <a:endParaRPr lang="en-IN" sz="1400" dirty="0"/>
          </a:p>
        </p:txBody>
      </p:sp>
      <p:pic>
        <p:nvPicPr>
          <p:cNvPr id="3" name="Picture 2"/>
          <p:cNvPicPr>
            <a:picLocks noChangeAspect="1"/>
          </p:cNvPicPr>
          <p:nvPr/>
        </p:nvPicPr>
        <p:blipFill>
          <a:blip r:embed="rId3"/>
          <a:stretch>
            <a:fillRect/>
          </a:stretch>
        </p:blipFill>
        <p:spPr>
          <a:xfrm>
            <a:off x="509691" y="1513493"/>
            <a:ext cx="8232203" cy="2954559"/>
          </a:xfrm>
          <a:prstGeom prst="rect">
            <a:avLst/>
          </a:prstGeom>
        </p:spPr>
      </p:pic>
    </p:spTree>
    <p:extLst>
      <p:ext uri="{BB962C8B-B14F-4D97-AF65-F5344CB8AC3E}">
        <p14:creationId xmlns:p14="http://schemas.microsoft.com/office/powerpoint/2010/main" val="23613643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5" name="Google Shape;894;p34"/>
          <p:cNvSpPr txBox="1"/>
          <p:nvPr/>
        </p:nvSpPr>
        <p:spPr>
          <a:xfrm>
            <a:off x="7803460" y="319591"/>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7" name="Google Shape;1561;p39"/>
          <p:cNvSpPr txBox="1"/>
          <p:nvPr/>
        </p:nvSpPr>
        <p:spPr>
          <a:xfrm>
            <a:off x="0" y="335665"/>
            <a:ext cx="2399655" cy="55189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15000"/>
              </a:lnSpc>
              <a:spcBef>
                <a:spcPts val="0"/>
              </a:spcBef>
              <a:spcAft>
                <a:spcPts val="0"/>
              </a:spcAft>
              <a:buClr>
                <a:schemeClr val="dk1"/>
              </a:buClr>
              <a:buSzPts val="3500"/>
              <a:buFont typeface="Poppins Black" panose="00000800000000000000"/>
              <a:buNone/>
              <a:defRPr sz="33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marR="0" lvl="1" algn="ctr" rtl="0">
              <a:lnSpc>
                <a:spcPct val="115000"/>
              </a:lnSpc>
              <a:spcBef>
                <a:spcPts val="0"/>
              </a:spcBef>
              <a:spcAft>
                <a:spcPts val="0"/>
              </a:spcAft>
              <a:buClr>
                <a:schemeClr val="dk1"/>
              </a:buClr>
              <a:buSzPts val="3500"/>
              <a:buFont typeface="Poppins Black" panose="00000800000000000000"/>
              <a:buNone/>
              <a:defRPr sz="35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marR="0" lvl="2" algn="ctr" rtl="0">
              <a:lnSpc>
                <a:spcPct val="115000"/>
              </a:lnSpc>
              <a:spcBef>
                <a:spcPts val="0"/>
              </a:spcBef>
              <a:spcAft>
                <a:spcPts val="0"/>
              </a:spcAft>
              <a:buClr>
                <a:schemeClr val="dk1"/>
              </a:buClr>
              <a:buSzPts val="3500"/>
              <a:buFont typeface="Poppins Black" panose="00000800000000000000"/>
              <a:buNone/>
              <a:defRPr sz="35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marR="0" lvl="3" algn="ctr" rtl="0">
              <a:lnSpc>
                <a:spcPct val="115000"/>
              </a:lnSpc>
              <a:spcBef>
                <a:spcPts val="0"/>
              </a:spcBef>
              <a:spcAft>
                <a:spcPts val="0"/>
              </a:spcAft>
              <a:buClr>
                <a:schemeClr val="dk1"/>
              </a:buClr>
              <a:buSzPts val="3500"/>
              <a:buFont typeface="Poppins Black" panose="00000800000000000000"/>
              <a:buNone/>
              <a:defRPr sz="35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marR="0" lvl="4" algn="ctr" rtl="0">
              <a:lnSpc>
                <a:spcPct val="115000"/>
              </a:lnSpc>
              <a:spcBef>
                <a:spcPts val="0"/>
              </a:spcBef>
              <a:spcAft>
                <a:spcPts val="0"/>
              </a:spcAft>
              <a:buClr>
                <a:schemeClr val="dk1"/>
              </a:buClr>
              <a:buSzPts val="3500"/>
              <a:buFont typeface="Poppins Black" panose="00000800000000000000"/>
              <a:buNone/>
              <a:defRPr sz="35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marR="0" lvl="5" algn="ctr" rtl="0">
              <a:lnSpc>
                <a:spcPct val="115000"/>
              </a:lnSpc>
              <a:spcBef>
                <a:spcPts val="0"/>
              </a:spcBef>
              <a:spcAft>
                <a:spcPts val="0"/>
              </a:spcAft>
              <a:buClr>
                <a:schemeClr val="dk1"/>
              </a:buClr>
              <a:buSzPts val="3500"/>
              <a:buFont typeface="Poppins Black" panose="00000800000000000000"/>
              <a:buNone/>
              <a:defRPr sz="35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marR="0" lvl="6" algn="ctr" rtl="0">
              <a:lnSpc>
                <a:spcPct val="115000"/>
              </a:lnSpc>
              <a:spcBef>
                <a:spcPts val="0"/>
              </a:spcBef>
              <a:spcAft>
                <a:spcPts val="0"/>
              </a:spcAft>
              <a:buClr>
                <a:schemeClr val="dk1"/>
              </a:buClr>
              <a:buSzPts val="3500"/>
              <a:buFont typeface="Poppins Black" panose="00000800000000000000"/>
              <a:buNone/>
              <a:defRPr sz="35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marR="0" lvl="7" algn="ctr" rtl="0">
              <a:lnSpc>
                <a:spcPct val="115000"/>
              </a:lnSpc>
              <a:spcBef>
                <a:spcPts val="0"/>
              </a:spcBef>
              <a:spcAft>
                <a:spcPts val="0"/>
              </a:spcAft>
              <a:buClr>
                <a:schemeClr val="dk1"/>
              </a:buClr>
              <a:buSzPts val="3500"/>
              <a:buFont typeface="Poppins Black" panose="00000800000000000000"/>
              <a:buNone/>
              <a:defRPr sz="35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marR="0" lvl="8" algn="ctr" rtl="0">
              <a:lnSpc>
                <a:spcPct val="115000"/>
              </a:lnSpc>
              <a:spcBef>
                <a:spcPts val="0"/>
              </a:spcBef>
              <a:spcAft>
                <a:spcPts val="0"/>
              </a:spcAft>
              <a:buClr>
                <a:schemeClr val="dk1"/>
              </a:buClr>
              <a:buSzPts val="3500"/>
              <a:buFont typeface="Poppins Black" panose="00000800000000000000"/>
              <a:buNone/>
              <a:defRPr sz="35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r>
              <a:rPr lang="en-IN" sz="1800" b="1" dirty="0">
                <a:solidFill>
                  <a:schemeClr val="tx1"/>
                </a:solidFill>
                <a:latin typeface="Times New Roman" panose="02020603050405020304" pitchFamily="18" charset="0"/>
                <a:ea typeface="Poppins" panose="00000500000000000000"/>
                <a:cs typeface="Times New Roman" panose="02020603050405020304" pitchFamily="18" charset="0"/>
                <a:sym typeface="Poppins" panose="00000500000000000000"/>
              </a:rPr>
              <a:t>Correlation</a:t>
            </a:r>
          </a:p>
        </p:txBody>
      </p:sp>
      <p:pic>
        <p:nvPicPr>
          <p:cNvPr id="3" name="Picture 2"/>
          <p:cNvPicPr>
            <a:picLocks noChangeAspect="1"/>
          </p:cNvPicPr>
          <p:nvPr/>
        </p:nvPicPr>
        <p:blipFill>
          <a:blip r:embed="rId3"/>
          <a:stretch>
            <a:fillRect/>
          </a:stretch>
        </p:blipFill>
        <p:spPr>
          <a:xfrm>
            <a:off x="1278194" y="887558"/>
            <a:ext cx="6150651" cy="3379907"/>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7F1E4F-1CFF-5643-939E-217C01CDF565}" type="slidenum">
              <a:rPr lang="en-US" smtClean="0"/>
              <a:pPr/>
              <a:t>46</a:t>
            </a:fld>
            <a:endParaRPr lang="en-US" dirty="0"/>
          </a:p>
        </p:txBody>
      </p:sp>
      <p:sp>
        <p:nvSpPr>
          <p:cNvPr id="2" name="Rectangle 1"/>
          <p:cNvSpPr/>
          <p:nvPr/>
        </p:nvSpPr>
        <p:spPr>
          <a:xfrm>
            <a:off x="567560" y="519041"/>
            <a:ext cx="7914289" cy="4078039"/>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The image presents a correlation matrix that shows the relationships between several numerical features related to wireless communication and network performance. The dataset includes variables such as </a:t>
            </a:r>
            <a:r>
              <a:rPr lang="en-US" sz="1400" b="1" dirty="0">
                <a:latin typeface="Times New Roman" panose="02020603050405020304" pitchFamily="18" charset="0"/>
                <a:cs typeface="Times New Roman" panose="02020603050405020304" pitchFamily="18" charset="0"/>
              </a:rPr>
              <a:t>Obstacle Density</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Mobility (m/s)</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Frequency (GHz)</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Transmit Power (</a:t>
            </a:r>
            <a:r>
              <a:rPr lang="en-US" sz="1400" b="1" dirty="0" err="1">
                <a:latin typeface="Times New Roman" panose="02020603050405020304" pitchFamily="18" charset="0"/>
                <a:cs typeface="Times New Roman" panose="02020603050405020304" pitchFamily="18" charset="0"/>
              </a:rPr>
              <a:t>dBm</a:t>
            </a:r>
            <a:r>
              <a:rPr lang="en-US" sz="1400" b="1" dirty="0">
                <a:latin typeface="Times New Roman" panose="02020603050405020304" pitchFamily="18" charset="0"/>
                <a:cs typeface="Times New Roman" panose="02020603050405020304" pitchFamily="18" charset="0"/>
              </a:rPr>
              <a:t>)</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Number of Antennas</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Codebook Size</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Bandwidth (MHz)</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Interference Level (dB)</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SIFT </a:t>
            </a:r>
            <a:r>
              <a:rPr lang="en-US" sz="1400" b="1" dirty="0" err="1">
                <a:latin typeface="Times New Roman" panose="02020603050405020304" pitchFamily="18" charset="0"/>
                <a:cs typeface="Times New Roman" panose="02020603050405020304" pitchFamily="18" charset="0"/>
              </a:rPr>
              <a:t>Keypoints</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Beamforming Gain (dB)</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Latency (</a:t>
            </a:r>
            <a:r>
              <a:rPr lang="en-US" sz="1400" b="1" dirty="0" err="1">
                <a:latin typeface="Times New Roman" panose="02020603050405020304" pitchFamily="18" charset="0"/>
                <a:cs typeface="Times New Roman" panose="02020603050405020304" pitchFamily="18" charset="0"/>
              </a:rPr>
              <a:t>ms</a:t>
            </a:r>
            <a:r>
              <a:rPr lang="en-US" sz="1400" b="1" dirty="0">
                <a:latin typeface="Times New Roman" panose="02020603050405020304" pitchFamily="18" charset="0"/>
                <a:cs typeface="Times New Roman" panose="02020603050405020304" pitchFamily="18" charset="0"/>
              </a:rPr>
              <a:t>)</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Energy Consumption (kWh/Gb)</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Throughput (Mbps)</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Beam Training Time (s)</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SNR Improvement (dB)</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Processing Time (</a:t>
            </a:r>
            <a:r>
              <a:rPr lang="en-US" sz="1400" b="1" dirty="0" err="1">
                <a:latin typeface="Times New Roman" panose="02020603050405020304" pitchFamily="18" charset="0"/>
                <a:cs typeface="Times New Roman" panose="02020603050405020304" pitchFamily="18" charset="0"/>
              </a:rPr>
              <a:t>ms</a:t>
            </a:r>
            <a:r>
              <a:rPr lang="en-US" sz="1400" b="1" dirty="0">
                <a:latin typeface="Times New Roman" panose="02020603050405020304" pitchFamily="18" charset="0"/>
                <a:cs typeface="Times New Roman" panose="02020603050405020304" pitchFamily="18" charset="0"/>
              </a:rPr>
              <a:t>)</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Memory Usage (MB)</a:t>
            </a:r>
            <a:r>
              <a:rPr lang="en-US" sz="1400" dirty="0">
                <a:latin typeface="Times New Roman" panose="02020603050405020304" pitchFamily="18" charset="0"/>
                <a:cs typeface="Times New Roman" panose="02020603050405020304" pitchFamily="18" charset="0"/>
              </a:rPr>
              <a:t>, and </a:t>
            </a:r>
            <a:r>
              <a:rPr lang="en-US" sz="1400" b="1" dirty="0">
                <a:latin typeface="Times New Roman" panose="02020603050405020304" pitchFamily="18" charset="0"/>
                <a:cs typeface="Times New Roman" panose="02020603050405020304" pitchFamily="18" charset="0"/>
              </a:rPr>
              <a:t>Optimized</a:t>
            </a:r>
            <a:r>
              <a:rPr lang="en-US" sz="1400" dirty="0">
                <a:latin typeface="Times New Roman" panose="02020603050405020304" pitchFamily="18" charset="0"/>
                <a:cs typeface="Times New Roman" panose="02020603050405020304" pitchFamily="18" charset="0"/>
              </a:rPr>
              <a:t>. The matrix helps in identifying the strength and direction of the relationships between these features, offering insights into how certain factors might influence one another in the context of wireless systems.</a:t>
            </a:r>
          </a:p>
          <a:p>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One notable insight is the very weak positive correlation between </a:t>
            </a:r>
            <a:r>
              <a:rPr lang="en-US" sz="1400" b="1" dirty="0">
                <a:latin typeface="Times New Roman" panose="02020603050405020304" pitchFamily="18" charset="0"/>
                <a:cs typeface="Times New Roman" panose="02020603050405020304" pitchFamily="18" charset="0"/>
              </a:rPr>
              <a:t>Mobility (m/s)</a:t>
            </a:r>
            <a:r>
              <a:rPr lang="en-US" sz="1400" dirty="0">
                <a:latin typeface="Times New Roman" panose="02020603050405020304" pitchFamily="18" charset="0"/>
                <a:cs typeface="Times New Roman" panose="02020603050405020304" pitchFamily="18" charset="0"/>
              </a:rPr>
              <a:t> and </a:t>
            </a:r>
            <a:r>
              <a:rPr lang="en-US" sz="1400" b="1" dirty="0">
                <a:latin typeface="Times New Roman" panose="02020603050405020304" pitchFamily="18" charset="0"/>
                <a:cs typeface="Times New Roman" panose="02020603050405020304" pitchFamily="18" charset="0"/>
              </a:rPr>
              <a:t>Frequency (GHz)</a:t>
            </a:r>
            <a:r>
              <a:rPr lang="en-US" sz="1400" dirty="0">
                <a:latin typeface="Times New Roman" panose="02020603050405020304" pitchFamily="18" charset="0"/>
                <a:cs typeface="Times New Roman" panose="02020603050405020304" pitchFamily="18" charset="0"/>
              </a:rPr>
              <a:t> (0.03), which indicates that changes in mobility marginally impact the frequency usage, though the relationship is not strong enough to be considered significant. Similarly, </a:t>
            </a:r>
            <a:r>
              <a:rPr lang="en-US" sz="1400" b="1" dirty="0">
                <a:latin typeface="Times New Roman" panose="02020603050405020304" pitchFamily="18" charset="0"/>
                <a:cs typeface="Times New Roman" panose="02020603050405020304" pitchFamily="18" charset="0"/>
              </a:rPr>
              <a:t>Beamforming Gain (dB)</a:t>
            </a:r>
            <a:r>
              <a:rPr lang="en-US" sz="1400" dirty="0">
                <a:latin typeface="Times New Roman" panose="02020603050405020304" pitchFamily="18" charset="0"/>
                <a:cs typeface="Times New Roman" panose="02020603050405020304" pitchFamily="18" charset="0"/>
              </a:rPr>
              <a:t> and </a:t>
            </a:r>
            <a:r>
              <a:rPr lang="en-US" sz="1400" b="1" dirty="0">
                <a:latin typeface="Times New Roman" panose="02020603050405020304" pitchFamily="18" charset="0"/>
                <a:cs typeface="Times New Roman" panose="02020603050405020304" pitchFamily="18" charset="0"/>
              </a:rPr>
              <a:t>SIFT </a:t>
            </a:r>
            <a:r>
              <a:rPr lang="en-US" sz="1400" b="1" dirty="0" err="1">
                <a:latin typeface="Times New Roman" panose="02020603050405020304" pitchFamily="18" charset="0"/>
                <a:cs typeface="Times New Roman" panose="02020603050405020304" pitchFamily="18" charset="0"/>
              </a:rPr>
              <a:t>Keypoints</a:t>
            </a:r>
            <a:r>
              <a:rPr lang="en-US" sz="1400" dirty="0">
                <a:latin typeface="Times New Roman" panose="02020603050405020304" pitchFamily="18" charset="0"/>
                <a:cs typeface="Times New Roman" panose="02020603050405020304" pitchFamily="18" charset="0"/>
              </a:rPr>
              <a:t> exhibit a moderate positive correlation of 0.10, suggesting that as the number of </a:t>
            </a:r>
            <a:r>
              <a:rPr lang="en-US" sz="1400" dirty="0" err="1">
                <a:latin typeface="Times New Roman" panose="02020603050405020304" pitchFamily="18" charset="0"/>
                <a:cs typeface="Times New Roman" panose="02020603050405020304" pitchFamily="18" charset="0"/>
              </a:rPr>
              <a:t>keypoints</a:t>
            </a:r>
            <a:r>
              <a:rPr lang="en-US" sz="1400" dirty="0">
                <a:latin typeface="Times New Roman" panose="02020603050405020304" pitchFamily="18" charset="0"/>
                <a:cs typeface="Times New Roman" panose="02020603050405020304" pitchFamily="18" charset="0"/>
              </a:rPr>
              <a:t> detected in a given network environment increases, the effectiveness of beamforming techniques could also improve slightly. This relationship may point toward how advanced image-processing or feature-detection techniques in the environment could play a role in the network’s ability to focus and direct signals more efficiently.</a:t>
            </a:r>
          </a:p>
          <a:p>
            <a:pPr algn="just">
              <a:lnSpc>
                <a:spcPct val="150000"/>
              </a:lnSpc>
            </a:pP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33499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7F1E4F-1CFF-5643-939E-217C01CDF565}" type="slidenum">
              <a:rPr lang="en-US" smtClean="0"/>
              <a:pPr/>
              <a:t>47</a:t>
            </a:fld>
            <a:endParaRPr lang="en-US" dirty="0"/>
          </a:p>
        </p:txBody>
      </p:sp>
      <p:sp>
        <p:nvSpPr>
          <p:cNvPr id="2" name="Rectangle 1"/>
          <p:cNvSpPr/>
          <p:nvPr/>
        </p:nvSpPr>
        <p:spPr>
          <a:xfrm>
            <a:off x="567560" y="814009"/>
            <a:ext cx="7914289" cy="3431709"/>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A key takeaway from the matrix is the negative correlation between </a:t>
            </a:r>
            <a:r>
              <a:rPr lang="en-US" sz="1400" b="1" dirty="0">
                <a:latin typeface="Times New Roman" panose="02020603050405020304" pitchFamily="18" charset="0"/>
                <a:cs typeface="Times New Roman" panose="02020603050405020304" pitchFamily="18" charset="0"/>
              </a:rPr>
              <a:t>Latency (</a:t>
            </a:r>
            <a:r>
              <a:rPr lang="en-US" sz="1400" b="1" dirty="0" err="1">
                <a:latin typeface="Times New Roman" panose="02020603050405020304" pitchFamily="18" charset="0"/>
                <a:cs typeface="Times New Roman" panose="02020603050405020304" pitchFamily="18" charset="0"/>
              </a:rPr>
              <a:t>ms</a:t>
            </a:r>
            <a:r>
              <a:rPr lang="en-US" sz="1400" b="1" dirty="0">
                <a:latin typeface="Times New Roman" panose="02020603050405020304" pitchFamily="18" charset="0"/>
                <a:cs typeface="Times New Roman" panose="02020603050405020304" pitchFamily="18" charset="0"/>
              </a:rPr>
              <a:t>)</a:t>
            </a:r>
            <a:r>
              <a:rPr lang="en-US" sz="1400" dirty="0">
                <a:latin typeface="Times New Roman" panose="02020603050405020304" pitchFamily="18" charset="0"/>
                <a:cs typeface="Times New Roman" panose="02020603050405020304" pitchFamily="18" charset="0"/>
              </a:rPr>
              <a:t> and </a:t>
            </a:r>
            <a:r>
              <a:rPr lang="en-US" sz="1400" b="1" dirty="0">
                <a:latin typeface="Times New Roman" panose="02020603050405020304" pitchFamily="18" charset="0"/>
                <a:cs typeface="Times New Roman" panose="02020603050405020304" pitchFamily="18" charset="0"/>
              </a:rPr>
              <a:t>Throughput (Mbps)</a:t>
            </a:r>
            <a:r>
              <a:rPr lang="en-US" sz="1400" dirty="0">
                <a:latin typeface="Times New Roman" panose="02020603050405020304" pitchFamily="18" charset="0"/>
                <a:cs typeface="Times New Roman" panose="02020603050405020304" pitchFamily="18" charset="0"/>
              </a:rPr>
              <a:t> (-0.42), which highlights a common characteristic in networking systems: as latency increases, throughput tends to decrease. This makes sense, as higher latency often introduces delays in data transfer, impacting the overall speed or capacity of the network to handle traffic. The negative correlation underscores the importance of minimizing latency in ensuring that throughput remains high and efficient, particularly for time-sensitive applications or networks demanding high-speed data transfer.</a:t>
            </a:r>
          </a:p>
          <a:p>
            <a:pPr algn="just"/>
            <a:endParaRPr lang="en-US" sz="1400" dirty="0">
              <a:latin typeface="Times New Roman" panose="02020603050405020304" pitchFamily="18" charset="0"/>
              <a:cs typeface="Times New Roman" panose="02020603050405020304" pitchFamily="18" charset="0"/>
            </a:endParaRPr>
          </a:p>
          <a:p>
            <a:pPr algn="just"/>
            <a:r>
              <a:rPr lang="en-US" sz="1400" b="1" dirty="0">
                <a:latin typeface="Times New Roman" panose="02020603050405020304" pitchFamily="18" charset="0"/>
                <a:cs typeface="Times New Roman" panose="02020603050405020304" pitchFamily="18" charset="0"/>
              </a:rPr>
              <a:t>Energy Consumption (kWh/Gb)</a:t>
            </a:r>
            <a:r>
              <a:rPr lang="en-US" sz="1400" dirty="0">
                <a:latin typeface="Times New Roman" panose="02020603050405020304" pitchFamily="18" charset="0"/>
                <a:cs typeface="Times New Roman" panose="02020603050405020304" pitchFamily="18" charset="0"/>
              </a:rPr>
              <a:t> exhibits a weak negative correlation with </a:t>
            </a:r>
            <a:r>
              <a:rPr lang="en-US" sz="1400" b="1" dirty="0">
                <a:latin typeface="Times New Roman" panose="02020603050405020304" pitchFamily="18" charset="0"/>
                <a:cs typeface="Times New Roman" panose="02020603050405020304" pitchFamily="18" charset="0"/>
              </a:rPr>
              <a:t>SNR Improvement (dB)</a:t>
            </a:r>
            <a:r>
              <a:rPr lang="en-US" sz="1400" dirty="0">
                <a:latin typeface="Times New Roman" panose="02020603050405020304" pitchFamily="18" charset="0"/>
                <a:cs typeface="Times New Roman" panose="02020603050405020304" pitchFamily="18" charset="0"/>
              </a:rPr>
              <a:t> (-0.06), suggesting that as energy consumption rises, the improvement in the signal-to-noise ratio (SNR) slightly decreases. This relationship is crucial for optimizing network systems, as it indicates that increasing energy consumption, likely from more power-intensive equipment or network processes, may have diminishing returns on improving signal clarity. For energy-efficient systems, it’s essential to strike a balance where signal strength is maximized without consuming excessive power, which could otherwise hinder overall system efficiency.</a:t>
            </a:r>
          </a:p>
          <a:p>
            <a:pPr algn="just">
              <a:lnSpc>
                <a:spcPct val="150000"/>
              </a:lnSpc>
            </a:pP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93766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7F1E4F-1CFF-5643-939E-217C01CDF565}" type="slidenum">
              <a:rPr lang="en-US" smtClean="0"/>
              <a:pPr/>
              <a:t>48</a:t>
            </a:fld>
            <a:endParaRPr lang="en-US" dirty="0"/>
          </a:p>
        </p:txBody>
      </p:sp>
      <p:sp>
        <p:nvSpPr>
          <p:cNvPr id="2" name="Rectangle 1"/>
          <p:cNvSpPr/>
          <p:nvPr/>
        </p:nvSpPr>
        <p:spPr>
          <a:xfrm>
            <a:off x="567560" y="814009"/>
            <a:ext cx="7914289" cy="3608488"/>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The </a:t>
            </a:r>
            <a:r>
              <a:rPr lang="en-US" sz="1400" b="1" dirty="0">
                <a:latin typeface="Times New Roman" panose="02020603050405020304" pitchFamily="18" charset="0"/>
                <a:cs typeface="Times New Roman" panose="02020603050405020304" pitchFamily="18" charset="0"/>
              </a:rPr>
              <a:t>Optimized</a:t>
            </a:r>
            <a:r>
              <a:rPr lang="en-US" sz="1400" dirty="0">
                <a:latin typeface="Times New Roman" panose="02020603050405020304" pitchFamily="18" charset="0"/>
                <a:cs typeface="Times New Roman" panose="02020603050405020304" pitchFamily="18" charset="0"/>
              </a:rPr>
              <a:t> feature, which likely indicates whether the system or network configuration has undergone optimization, shows weak correlations with several other variables. It demonstrates a minor negative correlation with </a:t>
            </a:r>
            <a:r>
              <a:rPr lang="en-US" sz="1400" b="1" dirty="0">
                <a:latin typeface="Times New Roman" panose="02020603050405020304" pitchFamily="18" charset="0"/>
                <a:cs typeface="Times New Roman" panose="02020603050405020304" pitchFamily="18" charset="0"/>
              </a:rPr>
              <a:t>Obstacle Density</a:t>
            </a:r>
            <a:r>
              <a:rPr lang="en-US" sz="1400" dirty="0">
                <a:latin typeface="Times New Roman" panose="02020603050405020304" pitchFamily="18" charset="0"/>
                <a:cs typeface="Times New Roman" panose="02020603050405020304" pitchFamily="18" charset="0"/>
              </a:rPr>
              <a:t> (-0.04) and </a:t>
            </a:r>
            <a:r>
              <a:rPr lang="en-US" sz="1400" b="1" dirty="0">
                <a:latin typeface="Times New Roman" panose="02020603050405020304" pitchFamily="18" charset="0"/>
                <a:cs typeface="Times New Roman" panose="02020603050405020304" pitchFamily="18" charset="0"/>
              </a:rPr>
              <a:t>Energy Consumption (kWh/Gb)</a:t>
            </a:r>
            <a:r>
              <a:rPr lang="en-US" sz="1400" dirty="0">
                <a:latin typeface="Times New Roman" panose="02020603050405020304" pitchFamily="18" charset="0"/>
                <a:cs typeface="Times New Roman" panose="02020603050405020304" pitchFamily="18" charset="0"/>
              </a:rPr>
              <a:t> (-0.02). These results suggest that optimization efforts may lead to slight improvements in energy efficiency and performance, potentially by reducing unnecessary power usage or better adapting to obstacles in the environment, leading to an overall more efficient system.</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This correlation matrix is highly valuable for understanding how different factors influence network performance. It highlights the importance of balancing features like mobility, latency, energy consumption, and beamforming capabilities in optimizing wireless systems. For system designers, the matrix provides clear guidance on which variables might require more attention during optimization efforts. The weak correlations also point to areas where the relationships are not strong enough to warrant a significant focus, helping to prioritize which features should be optimized for better performance. Overall, the matrix offers an essential tool for feature engineering, guiding future research and system optimization efforts in wireless communication networks.</a:t>
            </a:r>
          </a:p>
          <a:p>
            <a:pPr algn="just">
              <a:lnSpc>
                <a:spcPct val="150000"/>
              </a:lnSpc>
            </a:pP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12971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499418"/>
            <a:ext cx="7713900" cy="710700"/>
          </a:xfrm>
          <a:prstGeom prst="rect">
            <a:avLst/>
          </a:prstGeom>
          <a:ln>
            <a:noFill/>
          </a:ln>
        </p:spPr>
        <p:txBody>
          <a:bodyPr spcFirstLastPara="1" wrap="square" lIns="91425" tIns="91425" rIns="91425" bIns="91425" anchor="t" anchorCtr="0">
            <a:noAutofit/>
          </a:bodyPr>
          <a:lstStyle/>
          <a:p>
            <a:pPr lvl="0"/>
            <a:r>
              <a:rPr lang="en-IN" sz="1400" b="1" dirty="0">
                <a:latin typeface="Times New Roman" panose="02020603050405020304" pitchFamily="18" charset="0"/>
                <a:ea typeface="Poppins" panose="00000500000000000000"/>
                <a:cs typeface="Times New Roman" panose="02020603050405020304" pitchFamily="18" charset="0"/>
                <a:sym typeface="Poppins" panose="00000500000000000000"/>
              </a:rPr>
              <a:t>Model training steps</a:t>
            </a:r>
          </a:p>
        </p:txBody>
      </p:sp>
      <p:sp>
        <p:nvSpPr>
          <p:cNvPr id="1562" name="Google Shape;1562;p39"/>
          <p:cNvSpPr txBox="1"/>
          <p:nvPr/>
        </p:nvSpPr>
        <p:spPr>
          <a:xfrm>
            <a:off x="677331" y="1653344"/>
            <a:ext cx="7713900" cy="2845909"/>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3" name="Rectangle 1"/>
          <p:cNvSpPr>
            <a:spLocks noChangeArrowheads="1"/>
          </p:cNvSpPr>
          <p:nvPr/>
        </p:nvSpPr>
        <p:spPr bwMode="auto">
          <a:xfrm rot="10800000" flipV="1">
            <a:off x="492429" y="983417"/>
            <a:ext cx="8083703"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Collection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Collect Dataset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Collect relevant data for model training, which could come from uploaded datasets (like CSV files). Ensure the data has the necessary features required by the model (e.g.,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Mobility</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Number of Antennas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SIFT </a:t>
            </a:r>
            <a:r>
              <a:rPr kumimoji="0" lang="en-US" altLang="en-US" sz="1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Keypoints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Beamforming Gain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etc.).</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Preprocessing</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Cleaning</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Remove any missing, duplicate, or irrelevant data before feeding it into the model. This may involve checking for missing values, handling them appropriately (e.g., imputation or removal), and removing duplicate entries.</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 Engineering</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Extract and prepare relevant features from the raw dataset. This includes scaling, normalization, encoding categorical variables, and handling any data imbalances (e.g., oversampling the minority class if necessary).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Splitting</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Split the dataset into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training</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validation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test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sets. This can be done manually or using a package like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train_test_split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from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sklearn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typical split might be 70% for training, 15% for validation, and 15% for testing.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50</a:t>
            </a:fld>
            <a:endParaRPr lang="en-US" dirty="0"/>
          </a:p>
        </p:txBody>
      </p:sp>
      <p:sp>
        <p:nvSpPr>
          <p:cNvPr id="4" name="Rectangle 1"/>
          <p:cNvSpPr>
            <a:spLocks noChangeArrowheads="1"/>
          </p:cNvSpPr>
          <p:nvPr/>
        </p:nvSpPr>
        <p:spPr bwMode="auto">
          <a:xfrm>
            <a:off x="534875" y="606283"/>
            <a:ext cx="8206004"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Selection and Training</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Initialization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Depending on the use case, select a machine learning algorithm for training. Common choices include: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Random Forest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ensemble methods)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Decision Trees (DT)</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Feedforward Neural Networks (FNN)</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Convolutional Neural Networks (CNN)</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 Vector Machines (SVM)</a:t>
            </a:r>
          </a:p>
          <a:p>
            <a:pPr marL="457200" marR="0" lvl="1" indent="0" algn="just"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Training</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Initialize the model (e.g.,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RandomForestClassifier</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MLPClassifier</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etc.), and train it on the preprocessed training data. This includes using the training dataset to adjust the model's parameters using algorithms like Gradient Descent or other optimization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techniques.For</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example,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RandomForestClassifier.fit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X_train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y_train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training Random Forest.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Cross-Validation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Optionally, perform cross-validation using techniques like K-fold cross-validation to ensure the model generalizes well to unseen data and avoid overfitting.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26558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51</a:t>
            </a:fld>
            <a:endParaRPr lang="en-US" dirty="0"/>
          </a:p>
        </p:txBody>
      </p:sp>
      <p:sp>
        <p:nvSpPr>
          <p:cNvPr id="4" name="Rectangle 1"/>
          <p:cNvSpPr>
            <a:spLocks noChangeArrowheads="1"/>
          </p:cNvSpPr>
          <p:nvPr/>
        </p:nvSpPr>
        <p:spPr bwMode="auto">
          <a:xfrm rot="10800000" flipV="1">
            <a:off x="440157" y="706069"/>
            <a:ext cx="8143404"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Evaluation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Accuracy and Metrics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After training the model, evaluate its performance on the validation dataset to ensure it is not overfitting or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underfitting</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 metrics like accuracy, precision, recall, F1-score, and confusion matrix to assess the model’s performance.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example,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accuracy_score</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y_test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y_pred</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confusion_matrix</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y_test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y_pred</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evaluating performance.</a:t>
            </a:r>
          </a:p>
          <a:p>
            <a:pPr marL="457200" marR="0" lvl="1" indent="0" algn="just"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Hyperparameter</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Tuning</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Adjust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hyperparameters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(like number of trees in Random Forest or learning rate in neural networks) to optimize the model's performance using techniques such as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GridSearchCV</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RandomizedSearchCV</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Saving</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Serialization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Once the model is trained and evaluated successfully, save it to disk using serialization methods such as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joblib</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pickle. This allows the model to be loaded later for predictions without needing to retrain it.</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joblib.dump</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model_name.joblib</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32576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52</a:t>
            </a:fld>
            <a:endParaRPr lang="en-US" dirty="0"/>
          </a:p>
        </p:txBody>
      </p:sp>
      <p:sp>
        <p:nvSpPr>
          <p:cNvPr id="4" name="Rectangle 1"/>
          <p:cNvSpPr>
            <a:spLocks noChangeArrowheads="1"/>
          </p:cNvSpPr>
          <p:nvPr/>
        </p:nvSpPr>
        <p:spPr bwMode="auto">
          <a:xfrm rot="10800000" flipV="1">
            <a:off x="347898" y="426577"/>
            <a:ext cx="8143404"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Evaluation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1"/>
          <p:cNvSpPr>
            <a:spLocks noChangeArrowheads="1"/>
          </p:cNvSpPr>
          <p:nvPr/>
        </p:nvSpPr>
        <p:spPr bwMode="auto">
          <a:xfrm rot="10800000" flipV="1">
            <a:off x="347898" y="1008359"/>
            <a:ext cx="8245496"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Deployment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Integration in Flask App</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trained model is then integrated into the Flask application. The trained model file (e.g.,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model_name.joblib</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stored in a directory where it can be accessed when making predictions.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Prediction Endpoint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/prediction route is where user input is accepted, passed to the model for prediction, and the result is returned. The model is loaded using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joblib.load</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used to predict the user’s input.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model =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joblib.load</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model_name.joblib</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then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model.predict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input_data</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making predictions.</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Backend Flow for Training Trigger</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Trigger Training (Optional)</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some cases, a specific route or command can be created for triggering model training. For instance, an admin user can request to retrain the model with new data by uploading a fresh dataset. This would start the entire training pipeline again from data collection to model evaluation.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Create a /train route where an admin can upload a new dataset, triggering the training process.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17004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499418"/>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p>
        </p:txBody>
      </p:sp>
      <p:sp>
        <p:nvSpPr>
          <p:cNvPr id="1562" name="Google Shape;1562;p39"/>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4" name="Google Shape;892;p34"/>
          <p:cNvSpPr/>
          <p:nvPr/>
        </p:nvSpPr>
        <p:spPr>
          <a:xfrm>
            <a:off x="7694956" y="549559"/>
            <a:ext cx="884318" cy="895887"/>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894;p34"/>
          <p:cNvSpPr txBox="1"/>
          <p:nvPr/>
        </p:nvSpPr>
        <p:spPr>
          <a:xfrm>
            <a:off x="7616580" y="757457"/>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2" name="Rectangle 1"/>
          <p:cNvSpPr/>
          <p:nvPr/>
        </p:nvSpPr>
        <p:spPr>
          <a:xfrm>
            <a:off x="1380007" y="3562071"/>
            <a:ext cx="6995983" cy="307777"/>
          </a:xfrm>
          <a:prstGeom prst="rect">
            <a:avLst/>
          </a:prstGeom>
        </p:spPr>
        <p:txBody>
          <a:bodyPr wrap="square">
            <a:spAutoFit/>
          </a:bodyPr>
          <a:lstStyle/>
          <a:p>
            <a:pPr algn="just"/>
            <a:endParaRPr lang="en-IN" sz="1400" dirty="0">
              <a:latin typeface="Times New Roman" panose="02020603050405020304" pitchFamily="18" charset="0"/>
              <a:cs typeface="Times New Roman" panose="02020603050405020304" pitchFamily="18" charset="0"/>
            </a:endParaRPr>
          </a:p>
        </p:txBody>
      </p:sp>
      <p:sp>
        <p:nvSpPr>
          <p:cNvPr id="3" name="Rectangle 1"/>
          <p:cNvSpPr>
            <a:spLocks noChangeArrowheads="1"/>
          </p:cNvSpPr>
          <p:nvPr/>
        </p:nvSpPr>
        <p:spPr bwMode="auto">
          <a:xfrm>
            <a:off x="546453" y="1316894"/>
            <a:ext cx="7854979"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tabLst/>
            </a:pPr>
            <a:r>
              <a:rPr lang="en-US" altLang="en-US" sz="1400" b="1" dirty="0">
                <a:latin typeface="Times New Roman" panose="02020603050405020304" pitchFamily="18" charset="0"/>
                <a:cs typeface="Times New Roman" panose="02020603050405020304" pitchFamily="18" charset="0"/>
              </a:rPr>
              <a:t>F</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NN</a:t>
            </a:r>
          </a:p>
          <a:p>
            <a:pPr lvl="0" algn="just" defTabSz="914400" eaLnBrk="0" fontAlgn="base" hangingPunct="0">
              <a:spcBef>
                <a:spcPct val="0"/>
              </a:spcBef>
              <a:spcAft>
                <a:spcPct val="0"/>
              </a:spcAft>
            </a:pPr>
            <a:r>
              <a:rPr lang="en-US" sz="1400" dirty="0">
                <a:latin typeface="Times New Roman" panose="02020603050405020304" pitchFamily="18" charset="0"/>
                <a:cs typeface="Times New Roman" panose="02020603050405020304" pitchFamily="18" charset="0"/>
              </a:rPr>
              <a:t>A Feedforward Neural Network (FNN) is a type of artificial neural network where information moves in one direction, from the input layer to the output layer, passing through hidden layers. In FNN, each neuron in a layer is connected to every neuron in the next layer. It is trained using backpropagation, where the network adjusts its weights based on the error of the predictions. The training process involves optimizing the weights by minimizing the error function using an optimization algorithm, typically stochastic gradient descent. This model is suitable for tasks such as classification, regression, and pattern recognition. FNNs are powerful models that can capture complex relationships in data. The architecture consists of an input layer, one or more hidden layers, and an output layer. The hidden layers allow FNNs to model non-linear functions, making them versatile for various tasks. During the training phase, the network uses an activation function (like </a:t>
            </a:r>
            <a:r>
              <a:rPr lang="en-US" sz="1400" dirty="0" err="1">
                <a:latin typeface="Times New Roman" panose="02020603050405020304" pitchFamily="18" charset="0"/>
                <a:cs typeface="Times New Roman" panose="02020603050405020304" pitchFamily="18" charset="0"/>
              </a:rPr>
              <a:t>ReLU</a:t>
            </a:r>
            <a:r>
              <a:rPr lang="en-US" sz="1400" dirty="0">
                <a:latin typeface="Times New Roman" panose="02020603050405020304" pitchFamily="18" charset="0"/>
                <a:cs typeface="Times New Roman" panose="02020603050405020304" pitchFamily="18" charset="0"/>
              </a:rPr>
              <a:t> or sigmoid) to introduce non-linearity. After training, the FNN model is used for prediction tasks, where the trained weights determine the output. The network’s learning ability allows it to generalize well from training data to unseen data, making it a useful tool for machine learning.</a:t>
            </a:r>
          </a:p>
          <a:p>
            <a:pPr lvl="0" defTabSz="914400" eaLnBrk="0" fontAlgn="base" hangingPunct="0">
              <a:lnSpc>
                <a:spcPct val="150000"/>
              </a:lnSpc>
              <a:spcBef>
                <a:spcPct val="0"/>
              </a:spcBef>
              <a:spcAft>
                <a:spcPct val="0"/>
              </a:spcAft>
            </a:pP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54</a:t>
            </a:fld>
            <a:endParaRPr lang="en-US" dirty="0"/>
          </a:p>
        </p:txBody>
      </p:sp>
      <p:sp>
        <p:nvSpPr>
          <p:cNvPr id="5" name="Rectangle 4"/>
          <p:cNvSpPr/>
          <p:nvPr/>
        </p:nvSpPr>
        <p:spPr>
          <a:xfrm>
            <a:off x="534333" y="993537"/>
            <a:ext cx="3647090" cy="2893100"/>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The Feedforward Neural Network (FNN) classification report shows excellent results. Precision, recall, and f1-score for both classes (0 and 1) are very high, with class 0 achieving 1.00 precision, 0.98 recall, and 0.99 f1-score. Class 1 shows similarly strong performance, with 0.98 precision and perfect recall at 1.00. The overall accuracy is 0.99, indicating that the model is nearly perfect. This shows that the FNN model performs very well in distinguishing between the two classes, with minimal error. Both macro and weighted averages are also 0.99, further confirming the model's consistency.</a:t>
            </a:r>
          </a:p>
        </p:txBody>
      </p:sp>
      <p:sp>
        <p:nvSpPr>
          <p:cNvPr id="7" name="Rectangle 6"/>
          <p:cNvSpPr/>
          <p:nvPr/>
        </p:nvSpPr>
        <p:spPr>
          <a:xfrm>
            <a:off x="534333" y="624134"/>
            <a:ext cx="4572000" cy="646331"/>
          </a:xfrm>
          <a:prstGeom prst="rect">
            <a:avLst/>
          </a:prstGeom>
        </p:spPr>
        <p:txBody>
          <a:bodyPr>
            <a:spAutoFit/>
          </a:bodyPr>
          <a:lstStyle/>
          <a:p>
            <a:pPr algn="just"/>
            <a:r>
              <a:rPr lang="en-US" sz="1200" b="1" dirty="0"/>
              <a:t>📊 Classification Report :</a:t>
            </a:r>
          </a:p>
          <a:p>
            <a:pPr algn="just"/>
            <a:br>
              <a:rPr lang="en-US" sz="1200" dirty="0">
                <a:latin typeface="Times New Roman" panose="02020603050405020304" pitchFamily="18" charset="0"/>
                <a:cs typeface="Times New Roman" panose="02020603050405020304" pitchFamily="18" charset="0"/>
              </a:rPr>
            </a:br>
            <a:endParaRPr lang="en-US" sz="1200" dirty="0">
              <a:latin typeface="Times New Roman" panose="02020603050405020304" pitchFamily="18" charset="0"/>
              <a:cs typeface="Times New Roman" panose="02020603050405020304" pitchFamily="18" charset="0"/>
            </a:endParaRPr>
          </a:p>
        </p:txBody>
      </p:sp>
      <p:pic>
        <p:nvPicPr>
          <p:cNvPr id="8" name="Picture 7"/>
          <p:cNvPicPr/>
          <p:nvPr/>
        </p:nvPicPr>
        <p:blipFill>
          <a:blip r:embed="rId2"/>
          <a:stretch>
            <a:fillRect/>
          </a:stretch>
        </p:blipFill>
        <p:spPr>
          <a:xfrm>
            <a:off x="4529598" y="779666"/>
            <a:ext cx="3945808" cy="3322414"/>
          </a:xfrm>
          <a:prstGeom prst="rect">
            <a:avLst/>
          </a:prstGeom>
        </p:spPr>
      </p:pic>
    </p:spTree>
    <p:extLst>
      <p:ext uri="{BB962C8B-B14F-4D97-AF65-F5344CB8AC3E}">
        <p14:creationId xmlns:p14="http://schemas.microsoft.com/office/powerpoint/2010/main" val="35931645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55</a:t>
            </a:fld>
            <a:endParaRPr lang="en-US" dirty="0"/>
          </a:p>
        </p:txBody>
      </p:sp>
      <p:sp>
        <p:nvSpPr>
          <p:cNvPr id="3" name="Rectangle 1"/>
          <p:cNvSpPr>
            <a:spLocks noChangeArrowheads="1"/>
          </p:cNvSpPr>
          <p:nvPr/>
        </p:nvSpPr>
        <p:spPr bwMode="auto">
          <a:xfrm rot="10800000" flipV="1">
            <a:off x="450589" y="1050997"/>
            <a:ext cx="3796946"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spcBef>
                <a:spcPct val="0"/>
              </a:spcBef>
              <a:spcAft>
                <a:spcPct val="0"/>
              </a:spcAft>
            </a:pPr>
            <a:r>
              <a:rPr lang="en-US" sz="1400" dirty="0">
                <a:latin typeface="Times New Roman" panose="02020603050405020304" pitchFamily="18" charset="0"/>
                <a:cs typeface="Times New Roman" panose="02020603050405020304" pitchFamily="18" charset="0"/>
              </a:rPr>
              <a:t>The confusion matrix for the Feedforward Neural Network (FNN) model demonstrates good performance but with a small error. The matrix indicates that 236 true positives were predicted for class 0, and 4 were misclassified as class 1. Class 1 has perfect classification with 260 true positives and no misclassifications. This matrix suggests that while the FNN model correctly classifies most instances, a few instances of class 0 are mistakenly predicted as class 1. Despite this, the overall performance remains strong, with a small number of errors indicating that the model works well in practice.</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5" name="Picture 4"/>
          <p:cNvPicPr/>
          <p:nvPr/>
        </p:nvPicPr>
        <p:blipFill>
          <a:blip r:embed="rId2"/>
          <a:stretch>
            <a:fillRect/>
          </a:stretch>
        </p:blipFill>
        <p:spPr>
          <a:xfrm>
            <a:off x="4473676" y="727894"/>
            <a:ext cx="4159987" cy="3539306"/>
          </a:xfrm>
          <a:prstGeom prst="rect">
            <a:avLst/>
          </a:prstGeom>
        </p:spPr>
      </p:pic>
    </p:spTree>
    <p:extLst>
      <p:ext uri="{BB962C8B-B14F-4D97-AF65-F5344CB8AC3E}">
        <p14:creationId xmlns:p14="http://schemas.microsoft.com/office/powerpoint/2010/main" val="35823847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lnSpc>
                <a:spcPct val="150000"/>
              </a:lnSpc>
            </a:pPr>
            <a:fld id="{D57F1E4F-1CFF-5643-939E-217C01CDF565}" type="slidenum">
              <a:rPr lang="en-US" sz="1400" smtClean="0">
                <a:latin typeface="Times New Roman" panose="02020603050405020304" pitchFamily="18" charset="0"/>
                <a:cs typeface="Times New Roman" panose="02020603050405020304" pitchFamily="18" charset="0"/>
              </a:rPr>
              <a:pPr>
                <a:lnSpc>
                  <a:spcPct val="150000"/>
                </a:lnSpc>
              </a:pPr>
              <a:t>56</a:t>
            </a:fld>
            <a:endParaRPr lang="en-US" sz="1400" dirty="0">
              <a:latin typeface="Times New Roman" panose="02020603050405020304" pitchFamily="18" charset="0"/>
              <a:cs typeface="Times New Roman" panose="02020603050405020304" pitchFamily="18" charset="0"/>
            </a:endParaRPr>
          </a:p>
        </p:txBody>
      </p:sp>
      <p:sp>
        <p:nvSpPr>
          <p:cNvPr id="4" name="Rectangle 3"/>
          <p:cNvSpPr/>
          <p:nvPr/>
        </p:nvSpPr>
        <p:spPr>
          <a:xfrm>
            <a:off x="483213" y="646092"/>
            <a:ext cx="2481770" cy="498663"/>
          </a:xfrm>
          <a:prstGeom prst="rect">
            <a:avLst/>
          </a:prstGeom>
        </p:spPr>
        <p:txBody>
          <a:bodyPr wrap="none">
            <a:spAutoFit/>
          </a:bodyPr>
          <a:lstStyle/>
          <a:p>
            <a:pPr>
              <a:lnSpc>
                <a:spcPct val="150000"/>
              </a:lnSpc>
            </a:pPr>
            <a:r>
              <a:rPr lang="en-IN" sz="2000" b="1"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endParaRPr lang="en-IN" sz="2000" dirty="0">
              <a:latin typeface="Times New Roman" panose="02020603050405020304" pitchFamily="18" charset="0"/>
              <a:cs typeface="Times New Roman" panose="02020603050405020304" pitchFamily="18" charset="0"/>
            </a:endParaRPr>
          </a:p>
        </p:txBody>
      </p:sp>
      <p:sp>
        <p:nvSpPr>
          <p:cNvPr id="5" name="Rectangle 1"/>
          <p:cNvSpPr>
            <a:spLocks noChangeArrowheads="1"/>
          </p:cNvSpPr>
          <p:nvPr/>
        </p:nvSpPr>
        <p:spPr bwMode="auto">
          <a:xfrm>
            <a:off x="483213" y="1247295"/>
            <a:ext cx="7826828" cy="3000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Decision Tree</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Decision Tree classifier is a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tree-structured model</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where internal nodes represent decisions based on feature values, and leaf nodes represent output classes. The tree is built by recursively splitting the dataset based on criteria like Gini Index or Information Gain.</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Your model shows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100% accuracy</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suggesting the tree may have </a:t>
            </a:r>
            <a:r>
              <a:rPr kumimoji="0" lang="en-US" altLang="en-US" sz="1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overfit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training data. While Decision Trees are powerful and interpretable, they are prone to overfitting if not pruned. Constraints like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max_depth</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min_samples_split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post-pruning should be applied to prevent the tree from memorizing the training data. Despite this, Decision Trees are a good choice for datasets where feature interactions are important, and interpretability is desired.</a:t>
            </a:r>
          </a:p>
        </p:txBody>
      </p:sp>
    </p:spTree>
    <p:extLst>
      <p:ext uri="{BB962C8B-B14F-4D97-AF65-F5344CB8AC3E}">
        <p14:creationId xmlns:p14="http://schemas.microsoft.com/office/powerpoint/2010/main" val="42663779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57</a:t>
            </a:fld>
            <a:endParaRPr lang="en-US" dirty="0"/>
          </a:p>
        </p:txBody>
      </p:sp>
      <p:sp>
        <p:nvSpPr>
          <p:cNvPr id="5" name="Rectangle 4"/>
          <p:cNvSpPr/>
          <p:nvPr/>
        </p:nvSpPr>
        <p:spPr>
          <a:xfrm>
            <a:off x="534333" y="993537"/>
            <a:ext cx="3647090" cy="3108543"/>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The Decision Tree model delivers exceptional results, with perfect precision, recall, and f1-score values of 1.00 for both classes (0 and 1). This demonstrates the model’s ability to classify all instances without error, offering a perfect fit for the task. It achieves an accuracy of 1.00, indicating that every prediction is correct. The balanced support of 240 for class 0 and 260 for class 1 further supports the model’s strong performance across both classes. The Decision Tree’s flawless classification shows that it is an excellent model for this classification task, efficiently handling data without any need for further optimization or adjustments.</a:t>
            </a:r>
          </a:p>
        </p:txBody>
      </p:sp>
      <p:pic>
        <p:nvPicPr>
          <p:cNvPr id="6" name="Picture 5"/>
          <p:cNvPicPr/>
          <p:nvPr/>
        </p:nvPicPr>
        <p:blipFill>
          <a:blip r:embed="rId2"/>
          <a:stretch>
            <a:fillRect/>
          </a:stretch>
        </p:blipFill>
        <p:spPr>
          <a:xfrm>
            <a:off x="4700701" y="914878"/>
            <a:ext cx="3609340" cy="3108543"/>
          </a:xfrm>
          <a:prstGeom prst="rect">
            <a:avLst/>
          </a:prstGeom>
        </p:spPr>
      </p:pic>
      <p:sp>
        <p:nvSpPr>
          <p:cNvPr id="7" name="Rectangle 6"/>
          <p:cNvSpPr/>
          <p:nvPr/>
        </p:nvSpPr>
        <p:spPr>
          <a:xfrm>
            <a:off x="534333" y="624134"/>
            <a:ext cx="4572000" cy="646331"/>
          </a:xfrm>
          <a:prstGeom prst="rect">
            <a:avLst/>
          </a:prstGeom>
        </p:spPr>
        <p:txBody>
          <a:bodyPr>
            <a:spAutoFit/>
          </a:bodyPr>
          <a:lstStyle/>
          <a:p>
            <a:pPr algn="just"/>
            <a:r>
              <a:rPr lang="en-US" sz="1200" b="1" dirty="0"/>
              <a:t>📊 Classification Report :</a:t>
            </a:r>
          </a:p>
          <a:p>
            <a:pPr algn="just"/>
            <a:br>
              <a:rPr lang="en-US" sz="1200" dirty="0">
                <a:latin typeface="Times New Roman" panose="02020603050405020304" pitchFamily="18" charset="0"/>
                <a:cs typeface="Times New Roman" panose="02020603050405020304" pitchFamily="18" charset="0"/>
              </a:rPr>
            </a:b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993493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58</a:t>
            </a:fld>
            <a:endParaRPr lang="en-US" dirty="0"/>
          </a:p>
        </p:txBody>
      </p:sp>
      <p:pic>
        <p:nvPicPr>
          <p:cNvPr id="6" name="Picture 5"/>
          <p:cNvPicPr/>
          <p:nvPr/>
        </p:nvPicPr>
        <p:blipFill>
          <a:blip r:embed="rId2"/>
          <a:stretch>
            <a:fillRect/>
          </a:stretch>
        </p:blipFill>
        <p:spPr>
          <a:xfrm>
            <a:off x="4562168" y="555676"/>
            <a:ext cx="4050890" cy="3933825"/>
          </a:xfrm>
          <a:prstGeom prst="rect">
            <a:avLst/>
          </a:prstGeom>
        </p:spPr>
      </p:pic>
      <p:sp>
        <p:nvSpPr>
          <p:cNvPr id="3" name="Rectangle 1"/>
          <p:cNvSpPr>
            <a:spLocks noChangeArrowheads="1"/>
          </p:cNvSpPr>
          <p:nvPr/>
        </p:nvSpPr>
        <p:spPr bwMode="auto">
          <a:xfrm rot="10800000" flipV="1">
            <a:off x="440757" y="1086287"/>
            <a:ext cx="3796946"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confusion matrix for the Decision Tree classifier further validates its performance, showing no errors in prediction. With 240 true positives for class 0 and 260 true positives for class 1, the model demonstrates perfect classification. There are no false positives or false negatives, confirming that the model predicts both classes with perfect accuracy. This flawless matrix reinforces the Decision Tree's high efficiency and suitability for applications that require high classification precision. The complete accuracy of this model underscores its strong ability to handle classification tasks without any misclassifications, ensuring the utmost reliability in predictions.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8083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2" name="Google Shape;1562;p39"/>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4" name="Google Shape;892;p34"/>
          <p:cNvSpPr/>
          <p:nvPr/>
        </p:nvSpPr>
        <p:spPr>
          <a:xfrm>
            <a:off x="7694956" y="549559"/>
            <a:ext cx="884318" cy="895887"/>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Rectangle 4"/>
          <p:cNvSpPr/>
          <p:nvPr/>
        </p:nvSpPr>
        <p:spPr>
          <a:xfrm>
            <a:off x="511741" y="549559"/>
            <a:ext cx="2255746" cy="369332"/>
          </a:xfrm>
          <a:prstGeom prst="rect">
            <a:avLst/>
          </a:prstGeom>
        </p:spPr>
        <p:txBody>
          <a:bodyPr wrap="none">
            <a:spAutoFit/>
          </a:bodyPr>
          <a:lstStyle/>
          <a:p>
            <a:r>
              <a:rPr lang="en-IN" b="1"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endParaRPr lang="en-IN" dirty="0"/>
          </a:p>
        </p:txBody>
      </p:sp>
      <p:sp>
        <p:nvSpPr>
          <p:cNvPr id="2" name="Rectangle 1"/>
          <p:cNvSpPr/>
          <p:nvPr/>
        </p:nvSpPr>
        <p:spPr>
          <a:xfrm>
            <a:off x="511741" y="1287727"/>
            <a:ext cx="7865004" cy="3000821"/>
          </a:xfrm>
          <a:prstGeom prst="rect">
            <a:avLst/>
          </a:prstGeom>
        </p:spPr>
        <p:txBody>
          <a:bodyPr wrap="square">
            <a:spAutoFit/>
          </a:bodyPr>
          <a:lstStyle/>
          <a:p>
            <a:pPr>
              <a:lnSpc>
                <a:spcPct val="150000"/>
              </a:lnSpc>
            </a:pPr>
            <a:r>
              <a:rPr lang="en-US" sz="1400" b="1" dirty="0">
                <a:latin typeface="Times New Roman" panose="02020603050405020304" pitchFamily="18" charset="0"/>
                <a:cs typeface="Times New Roman" panose="02020603050405020304" pitchFamily="18" charset="0"/>
              </a:rPr>
              <a:t>Random Forest</a:t>
            </a:r>
          </a:p>
          <a:p>
            <a:pPr>
              <a:lnSpc>
                <a:spcPct val="150000"/>
              </a:lnSpc>
            </a:pPr>
            <a:r>
              <a:rPr lang="en-US" sz="1400" dirty="0">
                <a:latin typeface="Times New Roman" panose="02020603050405020304" pitchFamily="18" charset="0"/>
                <a:cs typeface="Times New Roman" panose="02020603050405020304" pitchFamily="18" charset="0"/>
              </a:rPr>
              <a:t>Random Forest is an </a:t>
            </a:r>
            <a:r>
              <a:rPr lang="en-US" sz="1400" b="1" dirty="0">
                <a:latin typeface="Times New Roman" panose="02020603050405020304" pitchFamily="18" charset="0"/>
                <a:cs typeface="Times New Roman" panose="02020603050405020304" pitchFamily="18" charset="0"/>
              </a:rPr>
              <a:t>ensemble method</a:t>
            </a:r>
            <a:r>
              <a:rPr lang="en-US" sz="1400" dirty="0">
                <a:latin typeface="Times New Roman" panose="02020603050405020304" pitchFamily="18" charset="0"/>
                <a:cs typeface="Times New Roman" panose="02020603050405020304" pitchFamily="18" charset="0"/>
              </a:rPr>
              <a:t> that builds multiple decision trees on random subsets of the data and averages their results (or takes the majority vote for classification). It’s based on the concept of bagging (Bootstrap Aggregating), which reduces variance and increases robustness.</a:t>
            </a:r>
          </a:p>
          <a:p>
            <a:pPr>
              <a:lnSpc>
                <a:spcPct val="150000"/>
              </a:lnSpc>
            </a:pPr>
            <a:r>
              <a:rPr lang="en-US" sz="1400" dirty="0">
                <a:latin typeface="Times New Roman" panose="02020603050405020304" pitchFamily="18" charset="0"/>
                <a:cs typeface="Times New Roman" panose="02020603050405020304" pitchFamily="18" charset="0"/>
              </a:rPr>
              <a:t>Your model reports </a:t>
            </a:r>
            <a:r>
              <a:rPr lang="en-US" sz="1400" b="1" dirty="0">
                <a:latin typeface="Times New Roman" panose="02020603050405020304" pitchFamily="18" charset="0"/>
                <a:cs typeface="Times New Roman" panose="02020603050405020304" pitchFamily="18" charset="0"/>
              </a:rPr>
              <a:t>100% accuracy</a:t>
            </a:r>
            <a:r>
              <a:rPr lang="en-US" sz="1400" dirty="0">
                <a:latin typeface="Times New Roman" panose="02020603050405020304" pitchFamily="18" charset="0"/>
                <a:cs typeface="Times New Roman" panose="02020603050405020304" pitchFamily="18" charset="0"/>
              </a:rPr>
              <a:t>, showcasing its strong generalization on the current dataset. However, such high accuracy also raises concerns about potential </a:t>
            </a:r>
            <a:r>
              <a:rPr lang="en-US" sz="1400" b="1" dirty="0">
                <a:latin typeface="Times New Roman" panose="02020603050405020304" pitchFamily="18" charset="0"/>
                <a:cs typeface="Times New Roman" panose="02020603050405020304" pitchFamily="18" charset="0"/>
              </a:rPr>
              <a:t>overfitting</a:t>
            </a:r>
            <a:r>
              <a:rPr lang="en-US" sz="1400" dirty="0">
                <a:latin typeface="Times New Roman" panose="02020603050405020304" pitchFamily="18" charset="0"/>
                <a:cs typeface="Times New Roman" panose="02020603050405020304" pitchFamily="18" charset="0"/>
              </a:rPr>
              <a:t>, especially if not validated on unseen test data. Random Forests handle missing values, outliers, and feature importance effectively, making them highly versatile. They are particularly suitable for datasets with mixed data types and can work well with minimal preprocessing.</a:t>
            </a:r>
          </a:p>
        </p:txBody>
      </p:sp>
    </p:spTree>
    <p:extLst>
      <p:ext uri="{BB962C8B-B14F-4D97-AF65-F5344CB8AC3E}">
        <p14:creationId xmlns:p14="http://schemas.microsoft.com/office/powerpoint/2010/main" val="161537866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2" name="Google Shape;1562;p39"/>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4" name="Google Shape;892;p34"/>
          <p:cNvSpPr/>
          <p:nvPr/>
        </p:nvSpPr>
        <p:spPr>
          <a:xfrm>
            <a:off x="7694956" y="549559"/>
            <a:ext cx="884318" cy="895887"/>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p:cNvSpPr/>
          <p:nvPr/>
        </p:nvSpPr>
        <p:spPr>
          <a:xfrm>
            <a:off x="373626" y="802998"/>
            <a:ext cx="3854688" cy="707886"/>
          </a:xfrm>
          <a:prstGeom prst="rect">
            <a:avLst/>
          </a:prstGeom>
        </p:spPr>
        <p:txBody>
          <a:bodyPr wrap="square">
            <a:spAutoFit/>
          </a:bodyPr>
          <a:lstStyle/>
          <a:p>
            <a:pPr algn="just"/>
            <a:r>
              <a:rPr lang="en-US" sz="1200" b="1" dirty="0"/>
              <a:t>📊 Classification Report :</a:t>
            </a:r>
          </a:p>
          <a:p>
            <a:pPr algn="just"/>
            <a:br>
              <a:rPr lang="en-US" sz="1400" dirty="0">
                <a:latin typeface="Times New Roman" panose="02020603050405020304" pitchFamily="18" charset="0"/>
                <a:cs typeface="Times New Roman" panose="02020603050405020304" pitchFamily="18" charset="0"/>
              </a:rPr>
            </a:br>
            <a:endParaRPr lang="en-US" sz="1400" dirty="0">
              <a:latin typeface="Times New Roman" panose="02020603050405020304" pitchFamily="18" charset="0"/>
              <a:cs typeface="Times New Roman" panose="02020603050405020304" pitchFamily="18" charset="0"/>
            </a:endParaRPr>
          </a:p>
        </p:txBody>
      </p:sp>
      <p:pic>
        <p:nvPicPr>
          <p:cNvPr id="6" name="Picture 5"/>
          <p:cNvPicPr/>
          <p:nvPr/>
        </p:nvPicPr>
        <p:blipFill>
          <a:blip r:embed="rId3"/>
          <a:stretch>
            <a:fillRect/>
          </a:stretch>
        </p:blipFill>
        <p:spPr>
          <a:xfrm>
            <a:off x="4463845" y="997502"/>
            <a:ext cx="4115430" cy="3456039"/>
          </a:xfrm>
          <a:prstGeom prst="rect">
            <a:avLst/>
          </a:prstGeom>
        </p:spPr>
      </p:pic>
      <p:sp>
        <p:nvSpPr>
          <p:cNvPr id="5" name="Rectangle 4"/>
          <p:cNvSpPr/>
          <p:nvPr/>
        </p:nvSpPr>
        <p:spPr>
          <a:xfrm>
            <a:off x="373627" y="1278971"/>
            <a:ext cx="4009187" cy="3108543"/>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The Random Forest classifier performs exceptionally well, with perfect precision, recall, and f1-score for both classes (0 and 1), all standing at 1.00. This indicates flawless classification of the data, where the model identifies all instances correctly. The support for each class is 240 for class 0 and 260 for class 1, showing a balanced distribution of the dataset. The overall accuracy of the model is also 1.00, further highlighting its reliability and robustness. This suggests that the Random Forest model has no misclassifications, making it an ideal model for this classification task. The model's ability to handle complex data while maintaining a perfect performance is evident from this report.</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05742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2" name="Google Shape;1562;p39"/>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4" name="Google Shape;892;p34"/>
          <p:cNvSpPr/>
          <p:nvPr/>
        </p:nvSpPr>
        <p:spPr>
          <a:xfrm>
            <a:off x="7694956" y="549559"/>
            <a:ext cx="884318" cy="895887"/>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Rectangle 4"/>
          <p:cNvSpPr/>
          <p:nvPr/>
        </p:nvSpPr>
        <p:spPr>
          <a:xfrm>
            <a:off x="463473" y="757171"/>
            <a:ext cx="3941380" cy="738664"/>
          </a:xfrm>
          <a:prstGeom prst="rect">
            <a:avLst/>
          </a:prstGeom>
        </p:spPr>
        <p:txBody>
          <a:bodyPr wrap="square">
            <a:spAutoFit/>
          </a:bodyPr>
          <a:lstStyle/>
          <a:p>
            <a:r>
              <a:rPr lang="en-US" sz="1400" b="1" dirty="0">
                <a:latin typeface="Times New Roman" panose="02020603050405020304" pitchFamily="18" charset="0"/>
                <a:cs typeface="Times New Roman" panose="02020603050405020304" pitchFamily="18" charset="0"/>
              </a:rPr>
              <a:t>📉 Confusion Matrix :</a:t>
            </a:r>
          </a:p>
          <a:p>
            <a:endParaRPr lang="en-US" sz="1400" b="1" dirty="0">
              <a:latin typeface="Times New Roman" panose="02020603050405020304" pitchFamily="18" charset="0"/>
              <a:cs typeface="Times New Roman" panose="02020603050405020304" pitchFamily="18" charset="0"/>
            </a:endParaRPr>
          </a:p>
          <a:p>
            <a:endParaRPr lang="en-US" sz="1400" b="1" dirty="0">
              <a:latin typeface="Times New Roman" panose="02020603050405020304" pitchFamily="18" charset="0"/>
              <a:cs typeface="Times New Roman" panose="02020603050405020304" pitchFamily="18" charset="0"/>
            </a:endParaRPr>
          </a:p>
        </p:txBody>
      </p:sp>
      <p:sp>
        <p:nvSpPr>
          <p:cNvPr id="3" name="Rectangle 2"/>
          <p:cNvSpPr/>
          <p:nvPr/>
        </p:nvSpPr>
        <p:spPr>
          <a:xfrm>
            <a:off x="428621" y="1163628"/>
            <a:ext cx="3976232" cy="3108543"/>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The confusion matrix for the Random Forest model showcases perfect results, with 240 true positives for class 0 and 260 true positives for class 1. There are no false positives or false negatives in the matrix, demonstrating that the model has correctly predicted all instances without any errors. This matrix reinforces the high accuracy of the Random Forest model, supporting its flawless classification performance. The lack of misclassifications highlights the effectiveness of the Random Forest algorithm in accurately classifying data. Such perfect performance is ideal for situations where high reliability is critical, as the model has exhibited no errors in its predictions for either class.</a:t>
            </a:r>
            <a:endParaRPr lang="en-IN" sz="1400" dirty="0">
              <a:latin typeface="Times New Roman" panose="02020603050405020304" pitchFamily="18" charset="0"/>
              <a:cs typeface="Times New Roman" panose="02020603050405020304" pitchFamily="18" charset="0"/>
            </a:endParaRPr>
          </a:p>
        </p:txBody>
      </p:sp>
      <p:pic>
        <p:nvPicPr>
          <p:cNvPr id="7" name="Picture 6"/>
          <p:cNvPicPr/>
          <p:nvPr/>
        </p:nvPicPr>
        <p:blipFill>
          <a:blip r:embed="rId3"/>
          <a:stretch>
            <a:fillRect/>
          </a:stretch>
        </p:blipFill>
        <p:spPr>
          <a:xfrm>
            <a:off x="4439705" y="549559"/>
            <a:ext cx="4209240" cy="4095750"/>
          </a:xfrm>
          <a:prstGeom prst="rect">
            <a:avLst/>
          </a:prstGeom>
        </p:spPr>
      </p:pic>
    </p:spTree>
    <p:extLst>
      <p:ext uri="{BB962C8B-B14F-4D97-AF65-F5344CB8AC3E}">
        <p14:creationId xmlns:p14="http://schemas.microsoft.com/office/powerpoint/2010/main" val="10416680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2" name="Google Shape;1562;p39"/>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4" name="Google Shape;892;p34"/>
          <p:cNvSpPr/>
          <p:nvPr/>
        </p:nvSpPr>
        <p:spPr>
          <a:xfrm>
            <a:off x="7694956" y="549559"/>
            <a:ext cx="884318" cy="895887"/>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Rectangle 4"/>
          <p:cNvSpPr/>
          <p:nvPr/>
        </p:nvSpPr>
        <p:spPr>
          <a:xfrm>
            <a:off x="511741" y="549559"/>
            <a:ext cx="2255746" cy="369332"/>
          </a:xfrm>
          <a:prstGeom prst="rect">
            <a:avLst/>
          </a:prstGeom>
        </p:spPr>
        <p:txBody>
          <a:bodyPr wrap="none">
            <a:spAutoFit/>
          </a:bodyPr>
          <a:lstStyle/>
          <a:p>
            <a:r>
              <a:rPr lang="en-IN" b="1"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endParaRPr lang="en-IN" dirty="0"/>
          </a:p>
        </p:txBody>
      </p:sp>
      <p:sp>
        <p:nvSpPr>
          <p:cNvPr id="2" name="Rectangle 1"/>
          <p:cNvSpPr/>
          <p:nvPr/>
        </p:nvSpPr>
        <p:spPr>
          <a:xfrm>
            <a:off x="609599" y="1287727"/>
            <a:ext cx="7767146" cy="415498"/>
          </a:xfrm>
          <a:prstGeom prst="rect">
            <a:avLst/>
          </a:prstGeom>
        </p:spPr>
        <p:txBody>
          <a:bodyPr wrap="square">
            <a:spAutoFit/>
          </a:bodyPr>
          <a:lstStyle/>
          <a:p>
            <a:pPr>
              <a:lnSpc>
                <a:spcPct val="150000"/>
              </a:lnSpc>
            </a:pPr>
            <a:r>
              <a:rPr lang="en-US" sz="1400" b="1" dirty="0">
                <a:latin typeface="Times New Roman" panose="02020603050405020304" pitchFamily="18" charset="0"/>
                <a:cs typeface="Times New Roman" panose="02020603050405020304" pitchFamily="18" charset="0"/>
              </a:rPr>
              <a:t>MLP:</a:t>
            </a:r>
          </a:p>
        </p:txBody>
      </p:sp>
      <p:sp>
        <p:nvSpPr>
          <p:cNvPr id="3" name="Rectangle 2"/>
          <p:cNvSpPr/>
          <p:nvPr/>
        </p:nvSpPr>
        <p:spPr>
          <a:xfrm>
            <a:off x="609599" y="1814282"/>
            <a:ext cx="7851227" cy="1992661"/>
          </a:xfrm>
          <a:prstGeom prst="rect">
            <a:avLst/>
          </a:prstGeom>
        </p:spPr>
        <p:txBody>
          <a:bodyPr wrap="square">
            <a:spAutoFit/>
          </a:bodyPr>
          <a:lstStyle/>
          <a:p>
            <a:pPr algn="just">
              <a:lnSpc>
                <a:spcPct val="150000"/>
              </a:lnSpc>
            </a:pPr>
            <a:r>
              <a:rPr lang="en-US" sz="1400" dirty="0">
                <a:latin typeface="Times New Roman" panose="02020603050405020304" pitchFamily="18" charset="0"/>
                <a:cs typeface="Times New Roman" panose="02020603050405020304" pitchFamily="18" charset="0"/>
              </a:rPr>
              <a:t>The MLP classifier presents solid performance but with slightly lower precision and recall for class 0. Precision for class 0 stands at 0.99, and recall for class 1 is perfect at 1.00, indicating that class 1 is identified flawlessly. The f1-score is high for class 1 (0.86), though it drops for class 0 (0.79). Overall, the model achieves an accuracy of 0.84, suggesting that while the MLP model performs well, it isn’t as perfect as Random Forest. There is a slight imbalance in classification performance, especially for class 0, as precision and recall are not as high for this class. However, the model remains useful for most task</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43796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2" name="Google Shape;1562;p39"/>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4" name="Google Shape;892;p34"/>
          <p:cNvSpPr/>
          <p:nvPr/>
        </p:nvSpPr>
        <p:spPr>
          <a:xfrm>
            <a:off x="7694956" y="549559"/>
            <a:ext cx="884318" cy="895887"/>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p:cNvSpPr/>
          <p:nvPr/>
        </p:nvSpPr>
        <p:spPr>
          <a:xfrm>
            <a:off x="411639" y="692703"/>
            <a:ext cx="4076278" cy="3262432"/>
          </a:xfrm>
          <a:prstGeom prst="rect">
            <a:avLst/>
          </a:prstGeom>
        </p:spPr>
        <p:txBody>
          <a:bodyPr wrap="square">
            <a:spAutoFit/>
          </a:bodyPr>
          <a:lstStyle/>
          <a:p>
            <a:pPr algn="just"/>
            <a:r>
              <a:rPr lang="en-US" sz="1200" b="1" dirty="0"/>
              <a:t>📊 Classification Report :</a:t>
            </a:r>
          </a:p>
          <a:p>
            <a:pPr algn="just"/>
            <a:endParaRPr lang="en-US" sz="1400" b="1"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The MLP classifier presents solid performance but with slightly lower precision and recall for class 0. Precision for class 0 stands at 0.99, and recall for class 1 is perfect at 1.00, indicating that class 1 is identified flawlessly. The f1-score is high for class 1 (0.86), though it drops for class 0 (0.79). Overall, the model achieves an accuracy of 0.84, suggesting that while the MLP model performs well, it isn’t as perfect as Random Forest. There is a slight imbalance in classification performance, especially for class 0, as precision and recall are not as high for this class. However, the model remains useful for most task</a:t>
            </a:r>
            <a:endParaRPr lang="en-IN" sz="1400" dirty="0">
              <a:latin typeface="Times New Roman" panose="02020603050405020304" pitchFamily="18" charset="0"/>
              <a:cs typeface="Times New Roman" panose="02020603050405020304" pitchFamily="18" charset="0"/>
            </a:endParaRPr>
          </a:p>
          <a:p>
            <a:pPr algn="just"/>
            <a:endParaRPr lang="en-US" sz="1200" b="1" dirty="0"/>
          </a:p>
        </p:txBody>
      </p:sp>
      <p:pic>
        <p:nvPicPr>
          <p:cNvPr id="6" name="Picture 5"/>
          <p:cNvPicPr/>
          <p:nvPr/>
        </p:nvPicPr>
        <p:blipFill>
          <a:blip r:embed="rId3"/>
          <a:stretch>
            <a:fillRect/>
          </a:stretch>
        </p:blipFill>
        <p:spPr>
          <a:xfrm>
            <a:off x="4788503" y="750402"/>
            <a:ext cx="3533140" cy="3300487"/>
          </a:xfrm>
          <a:prstGeom prst="rect">
            <a:avLst/>
          </a:prstGeom>
        </p:spPr>
      </p:pic>
    </p:spTree>
    <p:extLst>
      <p:ext uri="{BB962C8B-B14F-4D97-AF65-F5344CB8AC3E}">
        <p14:creationId xmlns:p14="http://schemas.microsoft.com/office/powerpoint/2010/main" val="261963984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2" name="Google Shape;1562;p39"/>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4" name="Google Shape;892;p34"/>
          <p:cNvSpPr/>
          <p:nvPr/>
        </p:nvSpPr>
        <p:spPr>
          <a:xfrm>
            <a:off x="7694956" y="549559"/>
            <a:ext cx="884318" cy="895887"/>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Rectangle 4"/>
          <p:cNvSpPr/>
          <p:nvPr/>
        </p:nvSpPr>
        <p:spPr>
          <a:xfrm>
            <a:off x="445080" y="658882"/>
            <a:ext cx="4032327" cy="3539430"/>
          </a:xfrm>
          <a:prstGeom prst="rect">
            <a:avLst/>
          </a:prstGeom>
        </p:spPr>
        <p:txBody>
          <a:bodyPr wrap="square">
            <a:spAutoFit/>
          </a:bodyPr>
          <a:lstStyle/>
          <a:p>
            <a:pPr algn="just"/>
            <a:r>
              <a:rPr lang="en-US" sz="1400" b="1" dirty="0">
                <a:latin typeface="Times New Roman" panose="02020603050405020304" pitchFamily="18" charset="0"/>
                <a:cs typeface="Times New Roman" panose="02020603050405020304" pitchFamily="18" charset="0"/>
              </a:rPr>
              <a:t>📉 Confusion Matrix :</a:t>
            </a:r>
          </a:p>
          <a:p>
            <a:pPr algn="just"/>
            <a:endParaRPr lang="en-US" sz="1400" b="1"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The MLP confusion matrix highlights the model's performance, showing that 159 instances of class 0 were correctly classified, while 81 instances were misclassified as class 1. For class 1, the model performed well with only 1 false positive and 259 true positives. Despite the high number of true positives, the 81 false negatives for class 0 suggest that the model struggles with predicting this class. This indicates a slight weakness in the MLP’s ability to classify class 0 accurately. However, the model’s performance with class 1 is strong, as it achieves perfect classification for most of the instances, reinforcing its utility despite minor misclassifications for class 0.</a:t>
            </a:r>
            <a:endParaRPr lang="en-US" sz="1400" b="1" dirty="0">
              <a:latin typeface="Times New Roman" panose="02020603050405020304" pitchFamily="18" charset="0"/>
              <a:cs typeface="Times New Roman" panose="02020603050405020304" pitchFamily="18" charset="0"/>
            </a:endParaRPr>
          </a:p>
        </p:txBody>
      </p:sp>
      <p:pic>
        <p:nvPicPr>
          <p:cNvPr id="6" name="Picture 5"/>
          <p:cNvPicPr/>
          <p:nvPr/>
        </p:nvPicPr>
        <p:blipFill>
          <a:blip r:embed="rId3"/>
          <a:stretch>
            <a:fillRect/>
          </a:stretch>
        </p:blipFill>
        <p:spPr>
          <a:xfrm>
            <a:off x="4654388" y="658882"/>
            <a:ext cx="4023209" cy="3509996"/>
          </a:xfrm>
          <a:prstGeom prst="rect">
            <a:avLst/>
          </a:prstGeom>
        </p:spPr>
      </p:pic>
    </p:spTree>
    <p:extLst>
      <p:ext uri="{BB962C8B-B14F-4D97-AF65-F5344CB8AC3E}">
        <p14:creationId xmlns:p14="http://schemas.microsoft.com/office/powerpoint/2010/main" val="178562898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2" name="Google Shape;1562;p39"/>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4" name="Google Shape;892;p34"/>
          <p:cNvSpPr/>
          <p:nvPr/>
        </p:nvSpPr>
        <p:spPr>
          <a:xfrm>
            <a:off x="7694956" y="549559"/>
            <a:ext cx="884318" cy="895887"/>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Rectangle 4"/>
          <p:cNvSpPr/>
          <p:nvPr/>
        </p:nvSpPr>
        <p:spPr>
          <a:xfrm>
            <a:off x="511741" y="549559"/>
            <a:ext cx="2255746" cy="369332"/>
          </a:xfrm>
          <a:prstGeom prst="rect">
            <a:avLst/>
          </a:prstGeom>
        </p:spPr>
        <p:txBody>
          <a:bodyPr wrap="none">
            <a:spAutoFit/>
          </a:bodyPr>
          <a:lstStyle/>
          <a:p>
            <a:r>
              <a:rPr lang="en-IN" b="1"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endParaRPr lang="en-IN" dirty="0"/>
          </a:p>
        </p:txBody>
      </p:sp>
      <p:sp>
        <p:nvSpPr>
          <p:cNvPr id="2" name="Rectangle 1"/>
          <p:cNvSpPr/>
          <p:nvPr/>
        </p:nvSpPr>
        <p:spPr>
          <a:xfrm>
            <a:off x="511741" y="1287727"/>
            <a:ext cx="7865004" cy="415498"/>
          </a:xfrm>
          <a:prstGeom prst="rect">
            <a:avLst/>
          </a:prstGeom>
        </p:spPr>
        <p:txBody>
          <a:bodyPr wrap="square">
            <a:spAutoFit/>
          </a:bodyPr>
          <a:lstStyle/>
          <a:p>
            <a:pPr>
              <a:lnSpc>
                <a:spcPct val="150000"/>
              </a:lnSpc>
            </a:pP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XGBoost</a:t>
            </a:r>
            <a:r>
              <a:rPr lang="en-US" sz="1400" b="1" dirty="0">
                <a:latin typeface="Times New Roman" panose="02020603050405020304" pitchFamily="18" charset="0"/>
                <a:cs typeface="Times New Roman" panose="02020603050405020304" pitchFamily="18" charset="0"/>
              </a:rPr>
              <a:t>:</a:t>
            </a:r>
          </a:p>
        </p:txBody>
      </p:sp>
      <p:sp>
        <p:nvSpPr>
          <p:cNvPr id="3" name="Rectangle 2"/>
          <p:cNvSpPr/>
          <p:nvPr/>
        </p:nvSpPr>
        <p:spPr>
          <a:xfrm>
            <a:off x="609599" y="1814282"/>
            <a:ext cx="7851227" cy="2677656"/>
          </a:xfrm>
          <a:prstGeom prst="rect">
            <a:avLst/>
          </a:prstGeom>
        </p:spPr>
        <p:txBody>
          <a:bodyPr wrap="square">
            <a:spAutoFit/>
          </a:bodyPr>
          <a:lstStyle/>
          <a:p>
            <a:pPr algn="just"/>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is a gradient boosting algorithm that is widely used for classification and regression problems. It is based on decision trees and uses an ensemble approach where multiple models (trees) are trained sequentially to correct the errors of previous models.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builds trees in a way that minimizes the loss function by adjusting the weights of the misclassified data points. It also incorporates techniques like regularization and pruning to improve model performance and avoid overfitting. The algorithm’s speed and accuracy make it one of the most powerful machine learning algorithms available. The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algorithm works by building an ensemble of decision trees in a sequential manner. Each tree is built to correct the errors made by the previous one, and the model’s predictions are made by aggregating the results of all trees. The boosting process involves fitting the model to the residuals (errors) of the previous trees.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also includes several optimization techniques, such as handling missing values and regularizing the trees to prevent overfitting. This makes it one of the most effective and efficient algorithms for solving both regression and classification problems.</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290700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2" name="Google Shape;1562;p39"/>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4" name="Google Shape;892;p34"/>
          <p:cNvSpPr/>
          <p:nvPr/>
        </p:nvSpPr>
        <p:spPr>
          <a:xfrm>
            <a:off x="7694956" y="549559"/>
            <a:ext cx="884318" cy="895887"/>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p:cNvSpPr/>
          <p:nvPr/>
        </p:nvSpPr>
        <p:spPr>
          <a:xfrm>
            <a:off x="505265" y="997502"/>
            <a:ext cx="4147172" cy="646331"/>
          </a:xfrm>
          <a:prstGeom prst="rect">
            <a:avLst/>
          </a:prstGeom>
        </p:spPr>
        <p:txBody>
          <a:bodyPr wrap="square">
            <a:spAutoFit/>
          </a:bodyPr>
          <a:lstStyle/>
          <a:p>
            <a:pPr algn="just"/>
            <a:r>
              <a:rPr lang="en-US" sz="1200" b="1" dirty="0">
                <a:latin typeface="Times New Roman" panose="02020603050405020304" pitchFamily="18" charset="0"/>
                <a:cs typeface="Times New Roman" panose="02020603050405020304" pitchFamily="18" charset="0"/>
              </a:rPr>
              <a:t>📊 Classification Report :</a:t>
            </a:r>
          </a:p>
          <a:p>
            <a:pPr algn="just"/>
            <a:br>
              <a:rPr lang="en-US" sz="1200" dirty="0">
                <a:latin typeface="Times New Roman" panose="02020603050405020304" pitchFamily="18" charset="0"/>
                <a:cs typeface="Times New Roman" panose="02020603050405020304" pitchFamily="18" charset="0"/>
              </a:rPr>
            </a:br>
            <a:endParaRPr lang="en-US" sz="1200" dirty="0">
              <a:latin typeface="Times New Roman" panose="02020603050405020304" pitchFamily="18" charset="0"/>
              <a:cs typeface="Times New Roman" panose="02020603050405020304" pitchFamily="18" charset="0"/>
            </a:endParaRPr>
          </a:p>
        </p:txBody>
      </p:sp>
      <p:sp>
        <p:nvSpPr>
          <p:cNvPr id="2" name="Rectangle 1"/>
          <p:cNvSpPr/>
          <p:nvPr/>
        </p:nvSpPr>
        <p:spPr>
          <a:xfrm>
            <a:off x="505265" y="1445446"/>
            <a:ext cx="3861376" cy="2677656"/>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The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(XGB) classifier shows perfect performance in both precision, recall, and f1-score for both classes. For class 0, precision, recall, and f1-score are all 1.00, and the same holds true for class 1. The overall accuracy is also 1.00, indicating flawless classification of the data. The macro and weighted averages for all metrics are 1.00, reinforcing the fact that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has correctly classified all instances. This high performance reflects the model’s ability to handle complex datasets and is particularly useful for problems where perfect classification is desired.</a:t>
            </a:r>
            <a:endParaRPr lang="en-US" sz="1400" dirty="0">
              <a:effectLst/>
              <a:latin typeface="Times New Roman" panose="02020603050405020304" pitchFamily="18" charset="0"/>
              <a:cs typeface="Times New Roman" panose="02020603050405020304" pitchFamily="18" charset="0"/>
            </a:endParaRPr>
          </a:p>
        </p:txBody>
      </p:sp>
      <p:pic>
        <p:nvPicPr>
          <p:cNvPr id="8" name="Picture 7"/>
          <p:cNvPicPr/>
          <p:nvPr/>
        </p:nvPicPr>
        <p:blipFill>
          <a:blip r:embed="rId3"/>
          <a:stretch>
            <a:fillRect/>
          </a:stretch>
        </p:blipFill>
        <p:spPr>
          <a:xfrm>
            <a:off x="4652436" y="950564"/>
            <a:ext cx="3744311" cy="3375630"/>
          </a:xfrm>
          <a:prstGeom prst="rect">
            <a:avLst/>
          </a:prstGeom>
        </p:spPr>
      </p:pic>
    </p:spTree>
    <p:extLst>
      <p:ext uri="{BB962C8B-B14F-4D97-AF65-F5344CB8AC3E}">
        <p14:creationId xmlns:p14="http://schemas.microsoft.com/office/powerpoint/2010/main" val="296190973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2" name="Google Shape;1562;p39"/>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4" name="Google Shape;892;p34"/>
          <p:cNvSpPr/>
          <p:nvPr/>
        </p:nvSpPr>
        <p:spPr>
          <a:xfrm>
            <a:off x="7694956" y="549559"/>
            <a:ext cx="884318" cy="895887"/>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Rectangle 4"/>
          <p:cNvSpPr/>
          <p:nvPr/>
        </p:nvSpPr>
        <p:spPr>
          <a:xfrm>
            <a:off x="508741" y="917581"/>
            <a:ext cx="2150376" cy="738664"/>
          </a:xfrm>
          <a:prstGeom prst="rect">
            <a:avLst/>
          </a:prstGeom>
        </p:spPr>
        <p:txBody>
          <a:bodyPr wrap="square">
            <a:spAutoFit/>
          </a:bodyPr>
          <a:lstStyle/>
          <a:p>
            <a:pPr algn="just"/>
            <a:r>
              <a:rPr lang="en-US" sz="1400" b="1" dirty="0">
                <a:latin typeface="Times New Roman" panose="02020603050405020304" pitchFamily="18" charset="0"/>
                <a:cs typeface="Times New Roman" panose="02020603050405020304" pitchFamily="18" charset="0"/>
              </a:rPr>
              <a:t>📉 Confusion Matrix :</a:t>
            </a:r>
          </a:p>
          <a:p>
            <a:pPr algn="just"/>
            <a:endParaRPr lang="en-US" sz="1400" b="1" dirty="0">
              <a:latin typeface="Times New Roman" panose="02020603050405020304" pitchFamily="18" charset="0"/>
              <a:cs typeface="Times New Roman" panose="02020603050405020304" pitchFamily="18" charset="0"/>
            </a:endParaRPr>
          </a:p>
          <a:p>
            <a:pPr algn="just"/>
            <a:endParaRPr lang="en-US" sz="1400" b="1" dirty="0">
              <a:latin typeface="Times New Roman" panose="02020603050405020304" pitchFamily="18" charset="0"/>
              <a:cs typeface="Times New Roman" panose="02020603050405020304" pitchFamily="18" charset="0"/>
            </a:endParaRPr>
          </a:p>
        </p:txBody>
      </p:sp>
      <p:pic>
        <p:nvPicPr>
          <p:cNvPr id="8" name="Picture 7"/>
          <p:cNvPicPr/>
          <p:nvPr/>
        </p:nvPicPr>
        <p:blipFill>
          <a:blip r:embed="rId3"/>
          <a:stretch>
            <a:fillRect/>
          </a:stretch>
        </p:blipFill>
        <p:spPr>
          <a:xfrm>
            <a:off x="4778477" y="549559"/>
            <a:ext cx="3913149" cy="3725965"/>
          </a:xfrm>
          <a:prstGeom prst="rect">
            <a:avLst/>
          </a:prstGeom>
        </p:spPr>
      </p:pic>
      <p:sp>
        <p:nvSpPr>
          <p:cNvPr id="2" name="Rectangle 1"/>
          <p:cNvSpPr/>
          <p:nvPr/>
        </p:nvSpPr>
        <p:spPr>
          <a:xfrm>
            <a:off x="508741" y="1361296"/>
            <a:ext cx="3964936" cy="2462213"/>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The confusion matrix for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displays flawless classification, with 240 true positives for class 0 and 260 true positives for class 1. There are no false positives or false negatives, which reflects the model’s perfect performance. The matrix indicates that the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model has accurately classified every instance in both classes, showcasing its high precision and reliability. This perfect classification performance makes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highly suitable for applications requiring high accuracy, as it ensures no misclassifications or errors in predictions.</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831827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235644"/>
            <a:ext cx="8445843" cy="1341649"/>
          </a:xfrm>
          <a:prstGeom prst="rect">
            <a:avLst/>
          </a:prstGeom>
        </p:spPr>
        <p:txBody>
          <a:bodyPr wrap="square">
            <a:spAutoFit/>
          </a:bodyPr>
          <a:lstStyle/>
          <a:p>
            <a:pPr algn="ctr">
              <a:lnSpc>
                <a:spcPct val="115000"/>
              </a:lnSpc>
              <a:spcAft>
                <a:spcPts val="750"/>
              </a:spcAft>
            </a:pPr>
            <a:r>
              <a:rPr lang="en-IN" b="1" dirty="0">
                <a:latin typeface="Times New Roman" panose="02020603050405020304" pitchFamily="18" charset="0"/>
                <a:ea typeface="Calibri" panose="020F0502020204030204" pitchFamily="34" charset="0"/>
                <a:cs typeface="Times New Roman" panose="02020603050405020304" pitchFamily="18" charset="0"/>
              </a:rPr>
              <a:t>OUTPUT SCREEN SHOTS WITH DESCRIPTION.</a:t>
            </a:r>
            <a:endParaRPr lang="en-US"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750"/>
              </a:spcAft>
            </a:pPr>
            <a:r>
              <a:rPr lang="en-IN" sz="1100" b="1" dirty="0">
                <a:latin typeface="Times New Roman" panose="02020603050405020304" pitchFamily="18" charset="0"/>
                <a:ea typeface="Calibri" panose="020F0502020204030204" pitchFamily="34" charset="0"/>
                <a:cs typeface="Times New Roman" panose="02020603050405020304" pitchFamily="18" charset="0"/>
              </a:rPr>
              <a:t>Home Page:</a:t>
            </a:r>
            <a:r>
              <a:rPr lang="en-US" sz="1100" dirty="0">
                <a:latin typeface="Times New Roman" panose="02020603050405020304" pitchFamily="18" charset="0"/>
                <a:cs typeface="Times New Roman" panose="02020603050405020304" pitchFamily="18" charset="0"/>
              </a:rPr>
              <a:t>The </a:t>
            </a:r>
            <a:r>
              <a:rPr lang="en-US" sz="1100" dirty="0" err="1">
                <a:latin typeface="Times New Roman" panose="02020603050405020304" pitchFamily="18" charset="0"/>
                <a:cs typeface="Times New Roman" panose="02020603050405020304" pitchFamily="18" charset="0"/>
              </a:rPr>
              <a:t>HomePage</a:t>
            </a:r>
            <a:r>
              <a:rPr lang="en-US" sz="1100" dirty="0">
                <a:latin typeface="Times New Roman" panose="02020603050405020304" pitchFamily="18" charset="0"/>
                <a:cs typeface="Times New Roman" panose="02020603050405020304" pitchFamily="18" charset="0"/>
              </a:rPr>
              <a:t> serves as the landing page of your application. It provides an overview of the project's features, objectives, and benefits</a:t>
            </a:r>
            <a:r>
              <a:rPr lang="en-US" dirty="0"/>
              <a:t>. </a:t>
            </a:r>
            <a:r>
              <a:rPr lang="en-US" sz="1100" dirty="0">
                <a:latin typeface="Times New Roman" panose="02020603050405020304" pitchFamily="18" charset="0"/>
                <a:cs typeface="Times New Roman" panose="02020603050405020304" pitchFamily="18" charset="0"/>
              </a:rPr>
              <a:t>Users can navigate to other sections of the application from this page.</a:t>
            </a:r>
            <a:endParaRPr lang="en-IN" sz="1100" dirty="0">
              <a:latin typeface="Times New Roman" panose="02020603050405020304" pitchFamily="18" charset="0"/>
              <a:cs typeface="Times New Roman" panose="02020603050405020304" pitchFamily="18" charset="0"/>
            </a:endParaRPr>
          </a:p>
          <a:p>
            <a:pPr algn="just">
              <a:lnSpc>
                <a:spcPct val="115000"/>
              </a:lnSpc>
              <a:spcAft>
                <a:spcPts val="750"/>
              </a:spcAft>
            </a:pPr>
            <a:endParaRPr lang="en-IN" sz="12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p:cNvPicPr/>
          <p:nvPr/>
        </p:nvPicPr>
        <p:blipFill>
          <a:blip r:embed="rId2"/>
          <a:stretch>
            <a:fillRect/>
          </a:stretch>
        </p:blipFill>
        <p:spPr>
          <a:xfrm>
            <a:off x="1324303" y="1247119"/>
            <a:ext cx="6111214" cy="3366922"/>
          </a:xfrm>
          <a:prstGeom prst="rect">
            <a:avLst/>
          </a:prstGeom>
        </p:spPr>
      </p:pic>
    </p:spTree>
    <p:extLst>
      <p:ext uri="{BB962C8B-B14F-4D97-AF65-F5344CB8AC3E}">
        <p14:creationId xmlns:p14="http://schemas.microsoft.com/office/powerpoint/2010/main" val="419464394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1591" y="451443"/>
            <a:ext cx="8404697" cy="600164"/>
          </a:xfrm>
          <a:prstGeom prst="rect">
            <a:avLst/>
          </a:prstGeom>
        </p:spPr>
        <p:txBody>
          <a:bodyPr wrap="square">
            <a:spAutoFit/>
          </a:bodyPr>
          <a:lstStyle/>
          <a:p>
            <a:r>
              <a:rPr lang="en-US" sz="1100" b="1" dirty="0">
                <a:latin typeface="Times New Roman" panose="02020603050405020304" pitchFamily="18" charset="0"/>
                <a:cs typeface="Times New Roman" panose="02020603050405020304" pitchFamily="18" charset="0"/>
              </a:rPr>
              <a:t>Registration Page:</a:t>
            </a:r>
            <a:r>
              <a:rPr lang="en-US" sz="1100" dirty="0">
                <a:latin typeface="Times New Roman" panose="02020603050405020304" pitchFamily="18" charset="0"/>
                <a:cs typeface="Times New Roman" panose="02020603050405020304" pitchFamily="18" charset="0"/>
              </a:rPr>
              <a:t> The Registration Page allows new users to create an account with the application. It typically includes fields for entering personal information such as name, email, password, and possibly other details like phone number or address. Users need to fill out this form to gain access to the application's features.</a:t>
            </a:r>
            <a:endParaRPr lang="en-IN" sz="1100" dirty="0">
              <a:latin typeface="Times New Roman" panose="02020603050405020304" pitchFamily="18" charset="0"/>
              <a:cs typeface="Times New Roman" panose="02020603050405020304" pitchFamily="18" charset="0"/>
            </a:endParaRPr>
          </a:p>
        </p:txBody>
      </p:sp>
      <p:pic>
        <p:nvPicPr>
          <p:cNvPr id="5" name="Picture 4"/>
          <p:cNvPicPr/>
          <p:nvPr/>
        </p:nvPicPr>
        <p:blipFill>
          <a:blip r:embed="rId2"/>
          <a:stretch>
            <a:fillRect/>
          </a:stretch>
        </p:blipFill>
        <p:spPr>
          <a:xfrm>
            <a:off x="1706245" y="1157287"/>
            <a:ext cx="5731510" cy="3393692"/>
          </a:xfrm>
          <a:prstGeom prst="rect">
            <a:avLst/>
          </a:prstGeom>
        </p:spPr>
      </p:pic>
    </p:spTree>
    <p:extLst>
      <p:ext uri="{BB962C8B-B14F-4D97-AF65-F5344CB8AC3E}">
        <p14:creationId xmlns:p14="http://schemas.microsoft.com/office/powerpoint/2010/main" val="68609745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42A9E29-4D9A-4AEF-1D67-681B0A118FB1}"/>
              </a:ext>
            </a:extLst>
          </p:cNvPr>
          <p:cNvSpPr txBox="1"/>
          <p:nvPr/>
        </p:nvSpPr>
        <p:spPr>
          <a:xfrm>
            <a:off x="532231" y="295869"/>
            <a:ext cx="7367573" cy="715581"/>
          </a:xfrm>
          <a:prstGeom prst="rect">
            <a:avLst/>
          </a:prstGeom>
          <a:noFill/>
        </p:spPr>
        <p:txBody>
          <a:bodyPr wrap="square">
            <a:spAutoFit/>
          </a:bodyPr>
          <a:lstStyle/>
          <a:p>
            <a:pPr>
              <a:lnSpc>
                <a:spcPct val="150000"/>
              </a:lnSpc>
              <a:spcAft>
                <a:spcPts val="750"/>
              </a:spcAft>
            </a:pPr>
            <a:r>
              <a:rPr lang="en-IN" sz="1350" b="1" dirty="0">
                <a:latin typeface="Times New Roman" panose="02020603050405020304" pitchFamily="18" charset="0"/>
                <a:ea typeface="Calibri" panose="020F0502020204030204" pitchFamily="34" charset="0"/>
                <a:cs typeface="Times New Roman" panose="02020603050405020304" pitchFamily="18" charset="0"/>
              </a:rPr>
              <a:t>Login: </a:t>
            </a:r>
            <a:r>
              <a:rPr lang="en-US" sz="1350" dirty="0">
                <a:latin typeface="Times New Roman" panose="02020603050405020304" pitchFamily="18" charset="0"/>
                <a:ea typeface="Calibri" panose="020F0502020204030204" pitchFamily="34" charset="0"/>
                <a:cs typeface="Times New Roman" panose="02020603050405020304" pitchFamily="18" charset="0"/>
              </a:rPr>
              <a:t>The login page allows registered users to securely access the application. User have to provide register email and password.</a:t>
            </a:r>
            <a:endParaRPr lang="en-IN" sz="12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p:cNvPicPr/>
          <p:nvPr/>
        </p:nvPicPr>
        <p:blipFill>
          <a:blip r:embed="rId2"/>
          <a:stretch>
            <a:fillRect/>
          </a:stretch>
        </p:blipFill>
        <p:spPr>
          <a:xfrm>
            <a:off x="1706245" y="933450"/>
            <a:ext cx="5731510" cy="3276600"/>
          </a:xfrm>
          <a:prstGeom prst="rect">
            <a:avLst/>
          </a:prstGeom>
        </p:spPr>
      </p:pic>
    </p:spTree>
    <p:extLst>
      <p:ext uri="{BB962C8B-B14F-4D97-AF65-F5344CB8AC3E}">
        <p14:creationId xmlns:p14="http://schemas.microsoft.com/office/powerpoint/2010/main" val="21720419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42A9E29-4D9A-4AEF-1D67-681B0A118FB1}"/>
              </a:ext>
            </a:extLst>
          </p:cNvPr>
          <p:cNvSpPr txBox="1"/>
          <p:nvPr/>
        </p:nvSpPr>
        <p:spPr>
          <a:xfrm>
            <a:off x="490189" y="379952"/>
            <a:ext cx="7367573" cy="340734"/>
          </a:xfrm>
          <a:prstGeom prst="rect">
            <a:avLst/>
          </a:prstGeom>
          <a:noFill/>
        </p:spPr>
        <p:txBody>
          <a:bodyPr wrap="square">
            <a:spAutoFit/>
          </a:bodyPr>
          <a:lstStyle/>
          <a:p>
            <a:pPr>
              <a:lnSpc>
                <a:spcPct val="150000"/>
              </a:lnSpc>
              <a:spcAft>
                <a:spcPts val="750"/>
              </a:spcAft>
            </a:pPr>
            <a:r>
              <a:rPr lang="en-US" sz="1200" dirty="0">
                <a:latin typeface="Times New Roman" panose="02020603050405020304" pitchFamily="18" charset="0"/>
                <a:ea typeface="Calibri" panose="020F0502020204030204" pitchFamily="34" charset="0"/>
                <a:cs typeface="Times New Roman" panose="02020603050405020304" pitchFamily="18" charset="0"/>
              </a:rPr>
              <a:t>Home page after login</a:t>
            </a:r>
            <a:endParaRPr lang="en-IN" sz="1200" dirty="0">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4" name="Picture 3"/>
          <p:cNvPicPr/>
          <p:nvPr/>
        </p:nvPicPr>
        <p:blipFill>
          <a:blip r:embed="rId2"/>
          <a:stretch>
            <a:fillRect/>
          </a:stretch>
        </p:blipFill>
        <p:spPr>
          <a:xfrm>
            <a:off x="1423833" y="920147"/>
            <a:ext cx="5731510" cy="3725425"/>
          </a:xfrm>
          <a:prstGeom prst="rect">
            <a:avLst/>
          </a:prstGeom>
        </p:spPr>
      </p:pic>
    </p:spTree>
    <p:extLst>
      <p:ext uri="{BB962C8B-B14F-4D97-AF65-F5344CB8AC3E}">
        <p14:creationId xmlns:p14="http://schemas.microsoft.com/office/powerpoint/2010/main" val="402867651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69363" y="372523"/>
            <a:ext cx="7529348" cy="339388"/>
          </a:xfrm>
          <a:prstGeom prst="rect">
            <a:avLst/>
          </a:prstGeom>
        </p:spPr>
        <p:txBody>
          <a:bodyPr wrap="square">
            <a:spAutoFit/>
          </a:bodyPr>
          <a:lstStyle/>
          <a:p>
            <a:pPr>
              <a:lnSpc>
                <a:spcPct val="150000"/>
              </a:lnSpc>
              <a:spcAft>
                <a:spcPts val="1000"/>
              </a:spcAft>
            </a:pPr>
            <a:r>
              <a:rPr lang="en-IN" sz="1200" b="1" dirty="0" err="1">
                <a:latin typeface="Times New Roman" panose="02020603050405020304" pitchFamily="18" charset="0"/>
                <a:ea typeface="Calibri" panose="020F0502020204030204" pitchFamily="34" charset="0"/>
                <a:cs typeface="Times New Roman" panose="02020603050405020304" pitchFamily="18" charset="0"/>
              </a:rPr>
              <a:t>Upload:</a:t>
            </a:r>
            <a:r>
              <a:rPr lang="en-IN" sz="1200" dirty="0" err="1">
                <a:latin typeface="Times New Roman" panose="02020603050405020304" pitchFamily="18" charset="0"/>
                <a:cs typeface="Times New Roman" panose="02020603050405020304" pitchFamily="18" charset="0"/>
              </a:rPr>
              <a:t>Here</a:t>
            </a:r>
            <a:r>
              <a:rPr lang="en-IN" sz="1200" dirty="0">
                <a:latin typeface="Times New Roman" panose="02020603050405020304" pitchFamily="18" charset="0"/>
                <a:cs typeface="Times New Roman" panose="02020603050405020304" pitchFamily="18" charset="0"/>
              </a:rPr>
              <a:t> you can upload the dataset and view the dataset</a:t>
            </a: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4" name="Picture 3"/>
          <p:cNvPicPr/>
          <p:nvPr/>
        </p:nvPicPr>
        <p:blipFill>
          <a:blip r:embed="rId2"/>
          <a:stretch>
            <a:fillRect/>
          </a:stretch>
        </p:blipFill>
        <p:spPr>
          <a:xfrm>
            <a:off x="1695734" y="963339"/>
            <a:ext cx="5731510" cy="3448050"/>
          </a:xfrm>
          <a:prstGeom prst="rect">
            <a:avLst/>
          </a:prstGeom>
        </p:spPr>
      </p:pic>
    </p:spTree>
    <p:extLst>
      <p:ext uri="{BB962C8B-B14F-4D97-AF65-F5344CB8AC3E}">
        <p14:creationId xmlns:p14="http://schemas.microsoft.com/office/powerpoint/2010/main" val="49549763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69363" y="372523"/>
            <a:ext cx="7529348" cy="339388"/>
          </a:xfrm>
          <a:prstGeom prst="rect">
            <a:avLst/>
          </a:prstGeom>
        </p:spPr>
        <p:txBody>
          <a:bodyPr wrap="square">
            <a:spAutoFit/>
          </a:bodyPr>
          <a:lstStyle/>
          <a:p>
            <a:pPr>
              <a:lnSpc>
                <a:spcPct val="150000"/>
              </a:lnSpc>
              <a:spcAft>
                <a:spcPts val="1000"/>
              </a:spcAft>
            </a:pPr>
            <a:r>
              <a:rPr lang="en-IN" sz="1200" b="1" dirty="0" err="1">
                <a:latin typeface="Times New Roman" panose="02020603050405020304" pitchFamily="18" charset="0"/>
                <a:ea typeface="Calibri" panose="020F0502020204030204" pitchFamily="34" charset="0"/>
                <a:cs typeface="Times New Roman" panose="02020603050405020304" pitchFamily="18" charset="0"/>
              </a:rPr>
              <a:t>Upload:</a:t>
            </a:r>
            <a:r>
              <a:rPr lang="en-IN" sz="1200" dirty="0" err="1">
                <a:latin typeface="Times New Roman" panose="02020603050405020304" pitchFamily="18" charset="0"/>
                <a:cs typeface="Times New Roman" panose="02020603050405020304" pitchFamily="18" charset="0"/>
              </a:rPr>
              <a:t>Here</a:t>
            </a:r>
            <a:r>
              <a:rPr lang="en-IN" sz="1200" dirty="0">
                <a:latin typeface="Times New Roman" panose="02020603050405020304" pitchFamily="18" charset="0"/>
                <a:cs typeface="Times New Roman" panose="02020603050405020304" pitchFamily="18" charset="0"/>
              </a:rPr>
              <a:t> you can upload the dataset and view the dataset</a:t>
            </a: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5" name="Picture 4"/>
          <p:cNvPicPr/>
          <p:nvPr/>
        </p:nvPicPr>
        <p:blipFill>
          <a:blip r:embed="rId2"/>
          <a:stretch>
            <a:fillRect/>
          </a:stretch>
        </p:blipFill>
        <p:spPr>
          <a:xfrm>
            <a:off x="1647251" y="1020097"/>
            <a:ext cx="5731510" cy="3162300"/>
          </a:xfrm>
          <a:prstGeom prst="rect">
            <a:avLst/>
          </a:prstGeom>
        </p:spPr>
      </p:pic>
    </p:spTree>
    <p:extLst>
      <p:ext uri="{BB962C8B-B14F-4D97-AF65-F5344CB8AC3E}">
        <p14:creationId xmlns:p14="http://schemas.microsoft.com/office/powerpoint/2010/main" val="103153524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712831" y="405586"/>
            <a:ext cx="7160054" cy="4078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defTabSz="685800" eaLnBrk="0" fontAlgn="base" hangingPunct="0">
              <a:spcBef>
                <a:spcPct val="0"/>
              </a:spcBef>
              <a:spcAft>
                <a:spcPct val="0"/>
              </a:spcAft>
              <a:buClrTx/>
            </a:pPr>
            <a:r>
              <a:rPr lang="en-US" sz="11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Model Selection:</a:t>
            </a:r>
            <a:r>
              <a:rPr lang="en-US" sz="1100" dirty="0">
                <a:latin typeface="Times New Roman" panose="02020603050405020304" pitchFamily="18" charset="0"/>
                <a:cs typeface="Times New Roman" panose="02020603050405020304" pitchFamily="18" charset="0"/>
              </a:rPr>
              <a:t> </a:t>
            </a:r>
            <a:r>
              <a:rPr lang="en-IN" sz="1100" dirty="0">
                <a:latin typeface="Times New Roman" panose="02020603050405020304" pitchFamily="18" charset="0"/>
                <a:cs typeface="Times New Roman" panose="02020603050405020304" pitchFamily="18" charset="0"/>
              </a:rPr>
              <a:t>Here user have to select the model and </a:t>
            </a:r>
            <a:r>
              <a:rPr lang="en-IN" sz="1100" dirty="0" err="1">
                <a:latin typeface="Times New Roman" panose="02020603050405020304" pitchFamily="18" charset="0"/>
                <a:cs typeface="Times New Roman" panose="02020603050405020304" pitchFamily="18" charset="0"/>
              </a:rPr>
              <a:t>and</a:t>
            </a:r>
            <a:r>
              <a:rPr lang="en-IN" sz="1100" dirty="0">
                <a:latin typeface="Times New Roman" panose="02020603050405020304" pitchFamily="18" charset="0"/>
                <a:cs typeface="Times New Roman" panose="02020603050405020304" pitchFamily="18" charset="0"/>
              </a:rPr>
              <a:t> view the accuracy so that we know which algorithm is giving the highest accuracy.</a:t>
            </a:r>
            <a:endParaRPr lang="en-US" sz="1100"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p:nvPr/>
        </p:nvPicPr>
        <p:blipFill>
          <a:blip r:embed="rId2"/>
          <a:stretch>
            <a:fillRect/>
          </a:stretch>
        </p:blipFill>
        <p:spPr>
          <a:xfrm>
            <a:off x="1657083" y="1085388"/>
            <a:ext cx="5731510" cy="3248025"/>
          </a:xfrm>
          <a:prstGeom prst="rect">
            <a:avLst/>
          </a:prstGeom>
        </p:spPr>
      </p:pic>
    </p:spTree>
    <p:extLst>
      <p:ext uri="{BB962C8B-B14F-4D97-AF65-F5344CB8AC3E}">
        <p14:creationId xmlns:p14="http://schemas.microsoft.com/office/powerpoint/2010/main" val="320618052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712831" y="405586"/>
            <a:ext cx="7160054" cy="4078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defTabSz="685800" eaLnBrk="0" fontAlgn="base" hangingPunct="0">
              <a:spcBef>
                <a:spcPct val="0"/>
              </a:spcBef>
              <a:spcAft>
                <a:spcPct val="0"/>
              </a:spcAft>
              <a:buClrTx/>
            </a:pPr>
            <a:r>
              <a:rPr lang="en-US" sz="11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Model Selection:</a:t>
            </a:r>
            <a:r>
              <a:rPr lang="en-US" sz="1100" dirty="0">
                <a:latin typeface="Times New Roman" panose="02020603050405020304" pitchFamily="18" charset="0"/>
                <a:cs typeface="Times New Roman" panose="02020603050405020304" pitchFamily="18" charset="0"/>
              </a:rPr>
              <a:t> </a:t>
            </a:r>
            <a:r>
              <a:rPr lang="en-IN" sz="1100" dirty="0">
                <a:latin typeface="Times New Roman" panose="02020603050405020304" pitchFamily="18" charset="0"/>
                <a:cs typeface="Times New Roman" panose="02020603050405020304" pitchFamily="18" charset="0"/>
              </a:rPr>
              <a:t>Here user have to select the model and </a:t>
            </a:r>
            <a:r>
              <a:rPr lang="en-IN" sz="1100" dirty="0" err="1">
                <a:latin typeface="Times New Roman" panose="02020603050405020304" pitchFamily="18" charset="0"/>
                <a:cs typeface="Times New Roman" panose="02020603050405020304" pitchFamily="18" charset="0"/>
              </a:rPr>
              <a:t>and</a:t>
            </a:r>
            <a:r>
              <a:rPr lang="en-IN" sz="1100" dirty="0">
                <a:latin typeface="Times New Roman" panose="02020603050405020304" pitchFamily="18" charset="0"/>
                <a:cs typeface="Times New Roman" panose="02020603050405020304" pitchFamily="18" charset="0"/>
              </a:rPr>
              <a:t> view the accuracy so that we know which algorithm is giving the highest accuracy.</a:t>
            </a:r>
            <a:endParaRPr lang="en-US" sz="1100" dirty="0">
              <a:solidFill>
                <a:schemeClr val="tx1"/>
              </a:solidFill>
              <a:latin typeface="Times New Roman" panose="02020603050405020304" pitchFamily="18" charset="0"/>
              <a:cs typeface="Times New Roman" panose="02020603050405020304" pitchFamily="18" charset="0"/>
            </a:endParaRPr>
          </a:p>
        </p:txBody>
      </p:sp>
      <p:pic>
        <p:nvPicPr>
          <p:cNvPr id="5" name="Picture 4"/>
          <p:cNvPicPr/>
          <p:nvPr/>
        </p:nvPicPr>
        <p:blipFill>
          <a:blip r:embed="rId2"/>
          <a:stretch>
            <a:fillRect/>
          </a:stretch>
        </p:blipFill>
        <p:spPr>
          <a:xfrm>
            <a:off x="1637420" y="1091380"/>
            <a:ext cx="5731510" cy="3438064"/>
          </a:xfrm>
          <a:prstGeom prst="rect">
            <a:avLst/>
          </a:prstGeom>
        </p:spPr>
      </p:pic>
    </p:spTree>
    <p:extLst>
      <p:ext uri="{BB962C8B-B14F-4D97-AF65-F5344CB8AC3E}">
        <p14:creationId xmlns:p14="http://schemas.microsoft.com/office/powerpoint/2010/main" val="40101892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385598" y="366413"/>
            <a:ext cx="8197710" cy="692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algn="just">
              <a:lnSpc>
                <a:spcPct val="150000"/>
              </a:lnSpc>
              <a:spcAft>
                <a:spcPts val="600"/>
              </a:spcAft>
            </a:pPr>
            <a:r>
              <a:rPr lang="en-US" sz="1350" b="1" dirty="0">
                <a:latin typeface="Times New Roman" panose="02020603050405020304" pitchFamily="18" charset="0"/>
                <a:ea typeface="Calibri" panose="020F0502020204030204" pitchFamily="34" charset="0"/>
                <a:cs typeface="Times New Roman" panose="02020603050405020304" pitchFamily="18" charset="0"/>
              </a:rPr>
              <a:t>Prediction:</a:t>
            </a:r>
            <a:r>
              <a:rPr lang="en-US" sz="1350" dirty="0">
                <a:latin typeface="Times New Roman" panose="02020603050405020304" pitchFamily="18" charset="0"/>
                <a:ea typeface="Calibri" panose="020F0502020204030204" pitchFamily="34" charset="0"/>
                <a:cs typeface="Times New Roman" panose="02020603050405020304" pitchFamily="18" charset="0"/>
              </a:rPr>
              <a:t> </a:t>
            </a:r>
            <a:r>
              <a:rPr lang="en-US" sz="1350" dirty="0">
                <a:latin typeface="Times New Roman" panose="02020603050405020304" pitchFamily="18" charset="0"/>
                <a:ea typeface="Calibri" panose="020F0502020204030204" pitchFamily="34" charset="0"/>
              </a:rPr>
              <a:t>This is the prediction page here user have to provide values of a 20 features and our model is predict the final output.</a:t>
            </a:r>
            <a:endParaRPr lang="en-IN" sz="1350" dirty="0">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3"/>
          <p:cNvSpPr>
            <a:spLocks noChangeArrowheads="1"/>
          </p:cNvSpPr>
          <p:nvPr/>
        </p:nvSpPr>
        <p:spPr bwMode="auto">
          <a:xfrm>
            <a:off x="4744963" y="4664718"/>
            <a:ext cx="65" cy="2308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algn="ctr" defTabSz="685800" eaLnBrk="0" fontAlgn="base" hangingPunct="0">
              <a:spcBef>
                <a:spcPct val="0"/>
              </a:spcBef>
              <a:spcAft>
                <a:spcPct val="0"/>
              </a:spcAft>
              <a:buClrTx/>
            </a:pPr>
            <a:endParaRPr lang="en-US" sz="1500" dirty="0">
              <a:solidFill>
                <a:schemeClr val="tx1"/>
              </a:solidFill>
              <a:latin typeface="Arial" panose="020B0604020202020204" pitchFamily="34" charset="0"/>
            </a:endParaRPr>
          </a:p>
        </p:txBody>
      </p:sp>
      <p:pic>
        <p:nvPicPr>
          <p:cNvPr id="5" name="Picture 4"/>
          <p:cNvPicPr/>
          <p:nvPr/>
        </p:nvPicPr>
        <p:blipFill>
          <a:blip r:embed="rId2"/>
          <a:stretch>
            <a:fillRect/>
          </a:stretch>
        </p:blipFill>
        <p:spPr>
          <a:xfrm>
            <a:off x="1618698" y="1209226"/>
            <a:ext cx="5731510" cy="3305175"/>
          </a:xfrm>
          <a:prstGeom prst="rect">
            <a:avLst/>
          </a:prstGeom>
        </p:spPr>
      </p:pic>
    </p:spTree>
    <p:extLst>
      <p:ext uri="{BB962C8B-B14F-4D97-AF65-F5344CB8AC3E}">
        <p14:creationId xmlns:p14="http://schemas.microsoft.com/office/powerpoint/2010/main" val="271164654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385598" y="366413"/>
            <a:ext cx="8197710" cy="692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algn="just">
              <a:lnSpc>
                <a:spcPct val="150000"/>
              </a:lnSpc>
              <a:spcAft>
                <a:spcPts val="600"/>
              </a:spcAft>
            </a:pPr>
            <a:r>
              <a:rPr lang="en-US" sz="1350" b="1" dirty="0">
                <a:latin typeface="Times New Roman" panose="02020603050405020304" pitchFamily="18" charset="0"/>
                <a:ea typeface="Calibri" panose="020F0502020204030204" pitchFamily="34" charset="0"/>
                <a:cs typeface="Times New Roman" panose="02020603050405020304" pitchFamily="18" charset="0"/>
              </a:rPr>
              <a:t>Prediction:</a:t>
            </a:r>
            <a:r>
              <a:rPr lang="en-US" sz="1350" dirty="0">
                <a:latin typeface="Times New Roman" panose="02020603050405020304" pitchFamily="18" charset="0"/>
                <a:ea typeface="Calibri" panose="020F0502020204030204" pitchFamily="34" charset="0"/>
                <a:cs typeface="Times New Roman" panose="02020603050405020304" pitchFamily="18" charset="0"/>
              </a:rPr>
              <a:t> </a:t>
            </a:r>
            <a:r>
              <a:rPr lang="en-US" sz="1350" dirty="0">
                <a:latin typeface="Times New Roman" panose="02020603050405020304" pitchFamily="18" charset="0"/>
                <a:ea typeface="Calibri" panose="020F0502020204030204" pitchFamily="34" charset="0"/>
              </a:rPr>
              <a:t>This is the prediction page here user have to provide values of features and our model is predict the final output.</a:t>
            </a:r>
            <a:endParaRPr lang="en-IN" sz="1350" dirty="0">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3"/>
          <p:cNvSpPr>
            <a:spLocks noChangeArrowheads="1"/>
          </p:cNvSpPr>
          <p:nvPr/>
        </p:nvSpPr>
        <p:spPr bwMode="auto">
          <a:xfrm>
            <a:off x="4744963" y="4664718"/>
            <a:ext cx="65" cy="2308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algn="ctr" defTabSz="685800" eaLnBrk="0" fontAlgn="base" hangingPunct="0">
              <a:spcBef>
                <a:spcPct val="0"/>
              </a:spcBef>
              <a:spcAft>
                <a:spcPct val="0"/>
              </a:spcAft>
              <a:buClrTx/>
            </a:pPr>
            <a:endParaRPr lang="en-US" sz="1500" dirty="0">
              <a:solidFill>
                <a:schemeClr val="tx1"/>
              </a:solidFill>
              <a:latin typeface="Arial" panose="020B0604020202020204" pitchFamily="34" charset="0"/>
            </a:endParaRPr>
          </a:p>
        </p:txBody>
      </p:sp>
      <p:pic>
        <p:nvPicPr>
          <p:cNvPr id="5" name="Picture 4"/>
          <p:cNvPicPr/>
          <p:nvPr/>
        </p:nvPicPr>
        <p:blipFill>
          <a:blip r:embed="rId2"/>
          <a:stretch>
            <a:fillRect/>
          </a:stretch>
        </p:blipFill>
        <p:spPr>
          <a:xfrm>
            <a:off x="1618698" y="1058910"/>
            <a:ext cx="5731510" cy="3197140"/>
          </a:xfrm>
          <a:prstGeom prst="rect">
            <a:avLst/>
          </a:prstGeom>
        </p:spPr>
      </p:pic>
    </p:spTree>
    <p:extLst>
      <p:ext uri="{BB962C8B-B14F-4D97-AF65-F5344CB8AC3E}">
        <p14:creationId xmlns:p14="http://schemas.microsoft.com/office/powerpoint/2010/main" val="185221193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423050" y="567846"/>
            <a:ext cx="7878798" cy="710700"/>
          </a:xfrm>
          <a:prstGeom prst="rect">
            <a:avLst/>
          </a:prstGeom>
          <a:ln>
            <a:noFill/>
          </a:ln>
        </p:spPr>
        <p:txBody>
          <a:bodyPr spcFirstLastPara="1" wrap="square" lIns="91425" tIns="91425" rIns="91425" bIns="91425" anchor="t" anchorCtr="0">
            <a:noAutofit/>
          </a:bodyPr>
          <a:lstStyle/>
          <a:p>
            <a:pPr lvl="0"/>
            <a:r>
              <a:rPr lang="en-IN" altLang="en-US" sz="2400" b="1" dirty="0">
                <a:solidFill>
                  <a:schemeClr val="tx1"/>
                </a:solidFill>
                <a:latin typeface="Times New Roman" panose="02020603050405020304" pitchFamily="18" charset="0"/>
                <a:ea typeface="Poppins" panose="00000500000000000000"/>
                <a:cs typeface="Times New Roman" panose="02020603050405020304" pitchFamily="18" charset="0"/>
                <a:sym typeface="Poppins" panose="00000500000000000000"/>
              </a:rPr>
              <a:t>Future Scope</a:t>
            </a:r>
          </a:p>
        </p:txBody>
      </p:sp>
      <p:sp>
        <p:nvSpPr>
          <p:cNvPr id="5" name="Rectangle 3"/>
          <p:cNvSpPr>
            <a:spLocks noChangeArrowheads="1"/>
          </p:cNvSpPr>
          <p:nvPr/>
        </p:nvSpPr>
        <p:spPr bwMode="auto">
          <a:xfrm>
            <a:off x="546539" y="1306132"/>
            <a:ext cx="8040413" cy="3166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r>
              <a:rPr lang="en-IN" sz="1400" dirty="0">
                <a:latin typeface="Times New Roman" panose="02020603050405020304" pitchFamily="18" charset="0"/>
                <a:cs typeface="Times New Roman" panose="02020603050405020304" pitchFamily="18" charset="0"/>
              </a:rPr>
              <a:t>While the current federated learning (FL) framework for 6G beamforming prediction demonstrates strong potential in privacy-preserving AI deployment, several key enhancements can elevate the system’s applicability, trustworthiness, and scalability in real-world next-generation wireless networks. To begin with, future versions will implement true FL by enabling multi-device simulation or live edge-client participation, moving beyond the current single-node parameter aggregation. This will allow real-time model training across heterogeneous edge devices, more accurately reflecting the decentralized nature of 6G environments.</a:t>
            </a:r>
          </a:p>
          <a:p>
            <a:r>
              <a:rPr lang="en-IN" sz="1400" dirty="0">
                <a:latin typeface="Times New Roman" panose="02020603050405020304" pitchFamily="18" charset="0"/>
                <a:cs typeface="Times New Roman" panose="02020603050405020304" pitchFamily="18" charset="0"/>
              </a:rPr>
              <a:t>To further ensure privacy and security, secure aggregation protocols will be incorporated so that the server can compute global model updates without accessing individual client weights. In parallel, differential privacy will be employed to prevent potential reconstruction of client data from shared gradients, ensuring formal privacy guarantees. To ensure auditability and integrity of model contributions, blockchain technology will be introduced, creating immutable logs of client participation and update histories through smart contracts.</a:t>
            </a:r>
          </a:p>
          <a:p>
            <a:pPr algn="just">
              <a:lnSpc>
                <a:spcPct val="200000"/>
              </a:lnSpc>
            </a:pPr>
            <a:endParaRPr lang="en-IN" sz="1100" dirty="0">
              <a:latin typeface="Times New Roman" panose="02020603050405020304" pitchFamily="18" charset="0"/>
              <a:cs typeface="Times New Roman" panose="02020603050405020304" pitchFamily="18" charset="0"/>
            </a:endParaRPr>
          </a:p>
          <a:p>
            <a:pPr algn="just">
              <a:lnSpc>
                <a:spcPct val="200000"/>
              </a:lnSpc>
            </a:pPr>
            <a:endParaRPr lang="en-IN" sz="1400" dirty="0">
              <a:latin typeface="Times New Roman" panose="02020603050405020304" pitchFamily="18" charset="0"/>
              <a:cs typeface="Times New Roman" panose="02020603050405020304" pitchFamily="18" charset="0"/>
            </a:endParaRPr>
          </a:p>
        </p:txBody>
      </p:sp>
      <p:sp>
        <p:nvSpPr>
          <p:cNvPr id="339" name="Google Shape;894;p34"/>
          <p:cNvSpPr txBox="1"/>
          <p:nvPr/>
        </p:nvSpPr>
        <p:spPr>
          <a:xfrm>
            <a:off x="7814813" y="862111"/>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IN" altLang="en-US" sz="1800" b="1" dirty="0">
              <a:solidFill>
                <a:schemeClr val="accent4"/>
              </a:solidFill>
            </a:endParaRPr>
          </a:p>
        </p:txBody>
      </p:sp>
      <p:sp>
        <p:nvSpPr>
          <p:cNvPr id="3" name="Rectangle 2"/>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054398-E43F-4174-9C6A-9840F804FD9A}"/>
              </a:ext>
            </a:extLst>
          </p:cNvPr>
          <p:cNvSpPr>
            <a:spLocks noGrp="1"/>
          </p:cNvSpPr>
          <p:nvPr>
            <p:ph idx="1"/>
          </p:nvPr>
        </p:nvSpPr>
        <p:spPr>
          <a:xfrm>
            <a:off x="800100" y="502276"/>
            <a:ext cx="7543800" cy="4024004"/>
          </a:xfrm>
        </p:spPr>
        <p:txBody>
          <a:bodyPr/>
          <a:lstStyle/>
          <a:p>
            <a:r>
              <a:rPr lang="en-IN" sz="1400" dirty="0">
                <a:latin typeface="Times New Roman" panose="02020603050405020304" pitchFamily="18" charset="0"/>
                <a:cs typeface="Times New Roman" panose="02020603050405020304" pitchFamily="18" charset="0"/>
              </a:rPr>
              <a:t>For transparency and trust, explainable AI tools such as SHAP and LIME will be integrated to visualize feature contributions, helping users understand how factors like latency, antenna count, and throughput impact prediction outcomes. Moreover, to enable on-the-go predictions in mobile and embedded contexts, a lightweight mobile-friendly interface will be designed for field use in edge-enabled devices.</a:t>
            </a:r>
          </a:p>
          <a:p>
            <a:r>
              <a:rPr lang="en-IN" sz="1400" dirty="0">
                <a:latin typeface="Times New Roman" panose="02020603050405020304" pitchFamily="18" charset="0"/>
                <a:cs typeface="Times New Roman" panose="02020603050405020304" pitchFamily="18" charset="0"/>
              </a:rPr>
              <a:t>To accommodate evolving data, online learning capabilities will be added so that models can be updated incrementally without retraining from scratch. Multi-modal data support will also be explored, combining beamforming datasets with contextual network metrics, environmental inputs, or user </a:t>
            </a:r>
            <a:r>
              <a:rPr lang="en-IN" sz="1400" dirty="0" err="1">
                <a:latin typeface="Times New Roman" panose="02020603050405020304" pitchFamily="18" charset="0"/>
                <a:cs typeface="Times New Roman" panose="02020603050405020304" pitchFamily="18" charset="0"/>
              </a:rPr>
              <a:t>behavior</a:t>
            </a:r>
            <a:r>
              <a:rPr lang="en-IN" sz="1400" dirty="0">
                <a:latin typeface="Times New Roman" panose="02020603050405020304" pitchFamily="18" charset="0"/>
                <a:cs typeface="Times New Roman" panose="02020603050405020304" pitchFamily="18" charset="0"/>
              </a:rPr>
              <a:t> data to improve prediction accuracy and contextual awareness. Finally, a comprehensive FL monitoring dashboard will be developed to track system-level metrics like training time, communication overhead, convergence rates, and fairness across clients, ensuring transparency and alignment with 6G and federated AI benchmarks.</a:t>
            </a:r>
          </a:p>
          <a:p>
            <a:endParaRPr lang="en-IN" sz="1400" dirty="0">
              <a:latin typeface="Times New Roman" panose="02020603050405020304" pitchFamily="18"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24214FDA-6218-D94C-1B27-C72748EF020A}"/>
              </a:ext>
            </a:extLst>
          </p:cNvPr>
          <p:cNvSpPr>
            <a:spLocks noGrp="1"/>
          </p:cNvSpPr>
          <p:nvPr>
            <p:ph type="sldNum" sz="quarter" idx="12"/>
          </p:nvPr>
        </p:nvSpPr>
        <p:spPr/>
        <p:txBody>
          <a:bodyPr/>
          <a:lstStyle/>
          <a:p>
            <a:fld id="{E97799C9-84D9-46D2-A11E-BCF8A720529D}" type="slidenum">
              <a:rPr lang="en-US" smtClean="0"/>
              <a:t>79</a:t>
            </a:fld>
            <a:endParaRPr lang="en-US" dirty="0"/>
          </a:p>
        </p:txBody>
      </p:sp>
    </p:spTree>
    <p:extLst>
      <p:ext uri="{BB962C8B-B14F-4D97-AF65-F5344CB8AC3E}">
        <p14:creationId xmlns:p14="http://schemas.microsoft.com/office/powerpoint/2010/main" val="37342594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346703" y="189877"/>
            <a:ext cx="7878798" cy="537779"/>
          </a:xfrm>
          <a:prstGeom prst="rect">
            <a:avLst/>
          </a:prstGeom>
          <a:ln>
            <a:noFill/>
          </a:ln>
        </p:spPr>
        <p:txBody>
          <a:bodyPr spcFirstLastPara="1" wrap="square" lIns="91425" tIns="91425" rIns="91425" bIns="91425" anchor="t" anchorCtr="0">
            <a:noAutofit/>
          </a:bodyPr>
          <a:lstStyle/>
          <a:p>
            <a:pPr lvl="0"/>
            <a:r>
              <a:rPr lang="en-IN" altLang="en-US" sz="2400" b="1" dirty="0">
                <a:solidFill>
                  <a:schemeClr val="tx1"/>
                </a:solidFill>
                <a:latin typeface="Times New Roman" panose="02020603050405020304" pitchFamily="18" charset="0"/>
                <a:ea typeface="Poppins" panose="00000500000000000000"/>
                <a:cs typeface="Times New Roman" panose="02020603050405020304" pitchFamily="18" charset="0"/>
                <a:sym typeface="Poppins" panose="00000500000000000000"/>
              </a:rPr>
              <a:t>Conclusion</a:t>
            </a:r>
          </a:p>
        </p:txBody>
      </p:sp>
      <p:sp>
        <p:nvSpPr>
          <p:cNvPr id="5" name="Rectangle 3"/>
          <p:cNvSpPr>
            <a:spLocks noChangeArrowheads="1"/>
          </p:cNvSpPr>
          <p:nvPr/>
        </p:nvSpPr>
        <p:spPr bwMode="auto">
          <a:xfrm>
            <a:off x="757391" y="660332"/>
            <a:ext cx="7808540" cy="4293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r>
              <a:rPr lang="en-IN" sz="1400" dirty="0">
                <a:latin typeface="Times New Roman" panose="02020603050405020304" pitchFamily="18" charset="0"/>
                <a:cs typeface="Times New Roman" panose="02020603050405020304" pitchFamily="18" charset="0"/>
              </a:rPr>
              <a:t>This research introduces a privacy-preserving and decentralized machine learning framework for predicting 6G beamforming success using Federated Learning (FL). With the rise of ultra-reliable, low-latency communications in 6G networks—supporting applications like holographic telepresence and autonomous mobility—traditional cloud-based AI models fall short due to scalability bottlenecks, latency, and privacy risks. Our system addresses these limitations by simulating a federated learning environment where edge devices collaboratively train local models and share only encrypted model updates with a central server.</a:t>
            </a:r>
          </a:p>
          <a:p>
            <a:r>
              <a:rPr lang="en-IN" sz="1400" dirty="0">
                <a:latin typeface="Times New Roman" panose="02020603050405020304" pitchFamily="18" charset="0"/>
                <a:cs typeface="Times New Roman" panose="02020603050405020304" pitchFamily="18" charset="0"/>
              </a:rPr>
              <a:t>The system is prototyped using Python’s Flask web framework and integrates secure user authentication, dataset upload, model selection, and real-time prediction feedback. The backend supports six machine learning algorithms—Random Forest, </a:t>
            </a:r>
            <a:r>
              <a:rPr lang="en-IN" sz="1400" dirty="0" err="1">
                <a:latin typeface="Times New Roman" panose="02020603050405020304" pitchFamily="18" charset="0"/>
                <a:cs typeface="Times New Roman" panose="02020603050405020304" pitchFamily="18" charset="0"/>
              </a:rPr>
              <a:t>XGBoost</a:t>
            </a:r>
            <a:r>
              <a:rPr lang="en-IN" sz="1400" dirty="0">
                <a:latin typeface="Times New Roman" panose="02020603050405020304" pitchFamily="18" charset="0"/>
                <a:cs typeface="Times New Roman" panose="02020603050405020304" pitchFamily="18" charset="0"/>
              </a:rPr>
              <a:t>, FNN, CNN, MLP, and Decision Tree—allowing users to explore diverse </a:t>
            </a:r>
            <a:r>
              <a:rPr lang="en-IN" sz="1400" dirty="0" err="1">
                <a:latin typeface="Times New Roman" panose="02020603050405020304" pitchFamily="18" charset="0"/>
                <a:cs typeface="Times New Roman" panose="02020603050405020304" pitchFamily="18" charset="0"/>
              </a:rPr>
              <a:t>modeling</a:t>
            </a:r>
            <a:r>
              <a:rPr lang="en-IN" sz="1400" dirty="0">
                <a:latin typeface="Times New Roman" panose="02020603050405020304" pitchFamily="18" charset="0"/>
                <a:cs typeface="Times New Roman" panose="02020603050405020304" pitchFamily="18" charset="0"/>
              </a:rPr>
              <a:t> strategies. Accuracy scores for tree-based models reached 100% in simulation, confirming their robustness and suitability for beamforming classification tasks.</a:t>
            </a:r>
          </a:p>
          <a:p>
            <a:r>
              <a:rPr lang="en-IN" sz="1400" dirty="0">
                <a:latin typeface="Times New Roman" panose="02020603050405020304" pitchFamily="18" charset="0"/>
                <a:cs typeface="Times New Roman" panose="02020603050405020304" pitchFamily="18" charset="0"/>
              </a:rPr>
              <a:t>A key innovation lies in simulating FL rounds: instead of aggregating raw data, the system averages model parameters across clients, preserving local data privacy. This approach demonstrates significant communication savings and resistance to centralized vulnerabilities such as data reconstruction attacks. By prioritizing encrypted weight sharing, the system aligns with the principles of edge AI and privacy-preserving computation.</a:t>
            </a:r>
          </a:p>
          <a:p>
            <a:pPr lvl="0" algn="just" eaLnBrk="0" fontAlgn="base" hangingPunct="0">
              <a:lnSpc>
                <a:spcPct val="150000"/>
              </a:lnSpc>
              <a:spcBef>
                <a:spcPct val="0"/>
              </a:spcBef>
              <a:spcAft>
                <a:spcPct val="0"/>
              </a:spcAft>
            </a:pPr>
            <a:endParaRPr lang="en-US" altLang="en-US" sz="1100" dirty="0">
              <a:latin typeface="Times New Roman" panose="02020603050405020304" pitchFamily="18" charset="0"/>
              <a:cs typeface="Times New Roman" panose="02020603050405020304" pitchFamily="18" charset="0"/>
            </a:endParaRPr>
          </a:p>
          <a:p>
            <a:pPr lvl="0" algn="just" eaLnBrk="0" fontAlgn="base" hangingPunct="0">
              <a:lnSpc>
                <a:spcPct val="150000"/>
              </a:lnSpc>
              <a:spcBef>
                <a:spcPct val="0"/>
              </a:spcBef>
              <a:spcAft>
                <a:spcPct val="0"/>
              </a:spcAft>
            </a:pPr>
            <a:endParaRPr kumimoji="0" lang="en-US" altLang="en-US" sz="1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39" name="Google Shape;894;p34"/>
          <p:cNvSpPr txBox="1"/>
          <p:nvPr/>
        </p:nvSpPr>
        <p:spPr>
          <a:xfrm>
            <a:off x="7814813" y="862111"/>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3" name="Rectangle 2"/>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81</a:t>
            </a:fld>
            <a:endParaRPr lang="en-US" dirty="0"/>
          </a:p>
        </p:txBody>
      </p:sp>
      <p:sp>
        <p:nvSpPr>
          <p:cNvPr id="4" name="Rectangle 1"/>
          <p:cNvSpPr>
            <a:spLocks noChangeArrowheads="1"/>
          </p:cNvSpPr>
          <p:nvPr/>
        </p:nvSpPr>
        <p:spPr bwMode="auto">
          <a:xfrm>
            <a:off x="415948" y="1340192"/>
            <a:ext cx="8318149"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1400" dirty="0">
                <a:latin typeface="Times New Roman" panose="02020603050405020304" pitchFamily="18" charset="0"/>
                <a:cs typeface="Times New Roman" panose="02020603050405020304" pitchFamily="18" charset="0"/>
              </a:rPr>
              <a:t>• McMahan, B., Moore, E., Ramage, D., Hampson, S., &amp; y </a:t>
            </a:r>
            <a:r>
              <a:rPr lang="en-IN" sz="1400" dirty="0" err="1">
                <a:latin typeface="Times New Roman" panose="02020603050405020304" pitchFamily="18" charset="0"/>
                <a:cs typeface="Times New Roman" panose="02020603050405020304" pitchFamily="18" charset="0"/>
              </a:rPr>
              <a:t>Arcas</a:t>
            </a:r>
            <a:r>
              <a:rPr lang="en-IN" sz="1400" dirty="0">
                <a:latin typeface="Times New Roman" panose="02020603050405020304" pitchFamily="18" charset="0"/>
                <a:cs typeface="Times New Roman" panose="02020603050405020304" pitchFamily="18" charset="0"/>
              </a:rPr>
              <a:t>, B. A. (2017). </a:t>
            </a:r>
            <a:r>
              <a:rPr lang="en-IN" sz="1400" i="1" dirty="0">
                <a:latin typeface="Times New Roman" panose="02020603050405020304" pitchFamily="18" charset="0"/>
                <a:cs typeface="Times New Roman" panose="02020603050405020304" pitchFamily="18" charset="0"/>
              </a:rPr>
              <a:t>Communication-Efficient Learning of Deep Networks from Decentralized Data</a:t>
            </a:r>
            <a:r>
              <a:rPr lang="en-IN" sz="1400" dirty="0">
                <a:latin typeface="Times New Roman" panose="02020603050405020304" pitchFamily="18" charset="0"/>
                <a:cs typeface="Times New Roman" panose="02020603050405020304" pitchFamily="18" charset="0"/>
              </a:rPr>
              <a:t>. Proceedings of the 20th International Conference on Artificial Intelligence and Statistics (AISTATS), PMLR. </a:t>
            </a:r>
            <a:r>
              <a:rPr lang="en-IN" sz="1400" u="sng" dirty="0">
                <a:latin typeface="Times New Roman" panose="02020603050405020304" pitchFamily="18" charset="0"/>
                <a:cs typeface="Times New Roman" panose="02020603050405020304" pitchFamily="18" charset="0"/>
                <a:hlinkClick r:id="rId2"/>
              </a:rPr>
              <a:t>https://arxiv.org/abs/1602.05629</a:t>
            </a:r>
            <a:endParaRPr lang="en-IN" sz="1400" dirty="0">
              <a:latin typeface="Times New Roman" panose="02020603050405020304" pitchFamily="18" charset="0"/>
              <a:cs typeface="Times New Roman" panose="02020603050405020304" pitchFamily="18" charset="0"/>
            </a:endParaRPr>
          </a:p>
          <a:p>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Kairouz</a:t>
            </a:r>
            <a:r>
              <a:rPr lang="en-IN" sz="1400" dirty="0">
                <a:latin typeface="Times New Roman" panose="02020603050405020304" pitchFamily="18" charset="0"/>
                <a:cs typeface="Times New Roman" panose="02020603050405020304" pitchFamily="18" charset="0"/>
              </a:rPr>
              <a:t>, P., McMahan, H. B., et al. (2021). </a:t>
            </a:r>
            <a:r>
              <a:rPr lang="en-IN" sz="1400" i="1" dirty="0">
                <a:latin typeface="Times New Roman" panose="02020603050405020304" pitchFamily="18" charset="0"/>
                <a:cs typeface="Times New Roman" panose="02020603050405020304" pitchFamily="18" charset="0"/>
              </a:rPr>
              <a:t>Advances and Open Problems in Federated Learning</a:t>
            </a:r>
            <a:r>
              <a:rPr lang="en-IN" sz="1400" dirty="0">
                <a:latin typeface="Times New Roman" panose="02020603050405020304" pitchFamily="18" charset="0"/>
                <a:cs typeface="Times New Roman" panose="02020603050405020304" pitchFamily="18" charset="0"/>
              </a:rPr>
              <a:t>. Foundations and Trends in Machine Learning, 14(1–2), 1–210. </a:t>
            </a:r>
            <a:r>
              <a:rPr lang="en-IN" sz="1400" u="sng" dirty="0">
                <a:latin typeface="Times New Roman" panose="02020603050405020304" pitchFamily="18" charset="0"/>
                <a:cs typeface="Times New Roman" panose="02020603050405020304" pitchFamily="18" charset="0"/>
                <a:hlinkClick r:id="rId3"/>
              </a:rPr>
              <a:t>https://doi.org/10.1561/2200000083</a:t>
            </a:r>
            <a:endParaRPr lang="en-IN" sz="1400" dirty="0">
              <a:latin typeface="Times New Roman" panose="02020603050405020304" pitchFamily="18" charset="0"/>
              <a:cs typeface="Times New Roman" panose="02020603050405020304" pitchFamily="18" charset="0"/>
            </a:endParaRPr>
          </a:p>
          <a:p>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 Zhu, H., Liu, Y., Zhou, Z., &amp; Zhang, Y. (2020). </a:t>
            </a:r>
            <a:r>
              <a:rPr lang="en-IN" sz="1400" i="1" dirty="0">
                <a:latin typeface="Times New Roman" panose="02020603050405020304" pitchFamily="18" charset="0"/>
                <a:cs typeface="Times New Roman" panose="02020603050405020304" pitchFamily="18" charset="0"/>
              </a:rPr>
              <a:t>Toward Efficient and Privacy-Preserving Federated Deep Learning</a:t>
            </a:r>
            <a:r>
              <a:rPr lang="en-IN" sz="1400" dirty="0">
                <a:latin typeface="Times New Roman" panose="02020603050405020304" pitchFamily="18" charset="0"/>
                <a:cs typeface="Times New Roman" panose="02020603050405020304" pitchFamily="18" charset="0"/>
              </a:rPr>
              <a:t>. IEEE Network, 34(5), 16–22. </a:t>
            </a:r>
            <a:r>
              <a:rPr lang="en-IN" sz="1400" u="sng" dirty="0">
                <a:latin typeface="Times New Roman" panose="02020603050405020304" pitchFamily="18" charset="0"/>
                <a:cs typeface="Times New Roman" panose="02020603050405020304" pitchFamily="18" charset="0"/>
                <a:hlinkClick r:id="rId4"/>
              </a:rPr>
              <a:t>https://doi.org/10.1109/MNET.001.1900664</a:t>
            </a:r>
            <a:endParaRPr lang="en-IN" sz="1400" dirty="0">
              <a:latin typeface="Times New Roman" panose="02020603050405020304" pitchFamily="18" charset="0"/>
              <a:cs typeface="Times New Roman" panose="02020603050405020304" pitchFamily="18" charset="0"/>
            </a:endParaRPr>
          </a:p>
          <a:p>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 Niknam, S., Sharma, P. K., Anpalagan, A., Choudhury, N., &amp; Pandey, A. (2020). </a:t>
            </a:r>
            <a:r>
              <a:rPr lang="en-IN" sz="1400" i="1" dirty="0">
                <a:latin typeface="Times New Roman" panose="02020603050405020304" pitchFamily="18" charset="0"/>
                <a:cs typeface="Times New Roman" panose="02020603050405020304" pitchFamily="18" charset="0"/>
              </a:rPr>
              <a:t>Federated Learning for Wireless Communications: Motivation, Opportunities, and Challenges</a:t>
            </a:r>
            <a:r>
              <a:rPr lang="en-IN" sz="1400" dirty="0">
                <a:latin typeface="Times New Roman" panose="02020603050405020304" pitchFamily="18" charset="0"/>
                <a:cs typeface="Times New Roman" panose="02020603050405020304" pitchFamily="18" charset="0"/>
              </a:rPr>
              <a:t>. IEEE Communications Magazine, 58(6), 46–51. </a:t>
            </a:r>
            <a:r>
              <a:rPr lang="en-IN" sz="1400" u="sng" dirty="0">
                <a:latin typeface="Times New Roman" panose="02020603050405020304" pitchFamily="18" charset="0"/>
                <a:cs typeface="Times New Roman" panose="02020603050405020304" pitchFamily="18" charset="0"/>
                <a:hlinkClick r:id="rId5"/>
              </a:rPr>
              <a:t>https://doi.org/10.1109/MCOM.001.1900831</a:t>
            </a:r>
            <a:endParaRPr lang="en-IN" sz="1400" dirty="0">
              <a:latin typeface="Times New Roman" panose="02020603050405020304" pitchFamily="18" charset="0"/>
              <a:cs typeface="Times New Roman" panose="02020603050405020304" pitchFamily="18" charset="0"/>
            </a:endParaRPr>
          </a:p>
        </p:txBody>
      </p:sp>
      <p:sp>
        <p:nvSpPr>
          <p:cNvPr id="5" name="Rectangle 4"/>
          <p:cNvSpPr/>
          <p:nvPr/>
        </p:nvSpPr>
        <p:spPr>
          <a:xfrm>
            <a:off x="3630240" y="520566"/>
            <a:ext cx="1736373" cy="507831"/>
          </a:xfrm>
          <a:prstGeom prst="rect">
            <a:avLst/>
          </a:prstGeom>
        </p:spPr>
        <p:txBody>
          <a:bodyPr wrap="none">
            <a:spAutoFit/>
          </a:bodyPr>
          <a:lstStyle/>
          <a:p>
            <a:pPr algn="just">
              <a:lnSpc>
                <a:spcPct val="150000"/>
              </a:lnSpc>
              <a:spcAft>
                <a:spcPts val="800"/>
              </a:spcAft>
            </a:pPr>
            <a:r>
              <a:rPr lang="en-US" b="1" dirty="0">
                <a:latin typeface="Times New Roman" panose="02020603050405020304" pitchFamily="18" charset="0"/>
                <a:ea typeface="Calibri" panose="020F0502020204030204" pitchFamily="34" charset="0"/>
                <a:cs typeface="Times New Roman" panose="02020603050405020304" pitchFamily="18" charset="0"/>
              </a:rPr>
              <a:t>REFERENCES</a:t>
            </a:r>
            <a:endParaRPr lang="en-IN" sz="1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3863822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E8AE4-A74B-7642-5BAD-3619D72970DB}"/>
              </a:ext>
            </a:extLst>
          </p:cNvPr>
          <p:cNvSpPr>
            <a:spLocks noGrp="1"/>
          </p:cNvSpPr>
          <p:nvPr>
            <p:ph type="title"/>
          </p:nvPr>
        </p:nvSpPr>
        <p:spPr/>
        <p:txBody>
          <a:bodyPr>
            <a:normAutofit fontScale="90000"/>
          </a:bodyPr>
          <a:lstStyle/>
          <a:p>
            <a:r>
              <a:rPr lang="en-US" b="1" dirty="0">
                <a:latin typeface="Times New Roman" panose="02020603050405020304" pitchFamily="18" charset="0"/>
                <a:ea typeface="Calibri" panose="020F0502020204030204" pitchFamily="34" charset="0"/>
                <a:cs typeface="Times New Roman" panose="02020603050405020304" pitchFamily="18" charset="0"/>
              </a:rPr>
              <a:t>REFERENCES</a:t>
            </a:r>
            <a:br>
              <a:rPr lang="en-IN" sz="2000" dirty="0">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BAF6EB41-AC92-06FA-14FA-FD2116D1E20C}"/>
              </a:ext>
            </a:extLst>
          </p:cNvPr>
          <p:cNvSpPr>
            <a:spLocks noGrp="1"/>
          </p:cNvSpPr>
          <p:nvPr>
            <p:ph idx="1"/>
          </p:nvPr>
        </p:nvSpPr>
        <p:spPr/>
        <p:txBody>
          <a:bodyPr>
            <a:normAutofit/>
          </a:bodyPr>
          <a:lstStyle/>
          <a:p>
            <a:r>
              <a:rPr lang="en-IN" sz="1400" dirty="0">
                <a:latin typeface="Times New Roman" panose="02020603050405020304" pitchFamily="18" charset="0"/>
                <a:cs typeface="Times New Roman" panose="02020603050405020304" pitchFamily="18" charset="0"/>
              </a:rPr>
              <a:t>Zhang, K., Xiong, Z., </a:t>
            </a:r>
            <a:r>
              <a:rPr lang="en-IN" sz="1400" dirty="0" err="1">
                <a:latin typeface="Times New Roman" panose="02020603050405020304" pitchFamily="18" charset="0"/>
                <a:cs typeface="Times New Roman" panose="02020603050405020304" pitchFamily="18" charset="0"/>
              </a:rPr>
              <a:t>Niyato</a:t>
            </a:r>
            <a:r>
              <a:rPr lang="en-IN" sz="1400" dirty="0">
                <a:latin typeface="Times New Roman" panose="02020603050405020304" pitchFamily="18" charset="0"/>
                <a:cs typeface="Times New Roman" panose="02020603050405020304" pitchFamily="18" charset="0"/>
              </a:rPr>
              <a:t>, D., et al. (2020). </a:t>
            </a:r>
            <a:r>
              <a:rPr lang="en-IN" sz="1400" i="1" dirty="0">
                <a:latin typeface="Times New Roman" panose="02020603050405020304" pitchFamily="18" charset="0"/>
                <a:cs typeface="Times New Roman" panose="02020603050405020304" pitchFamily="18" charset="0"/>
              </a:rPr>
              <a:t>Federated Learning for Edge Intelligence: Applications, Challenges, and Future Directions</a:t>
            </a:r>
            <a:r>
              <a:rPr lang="en-IN" sz="1400" dirty="0">
                <a:latin typeface="Times New Roman" panose="02020603050405020304" pitchFamily="18" charset="0"/>
                <a:cs typeface="Times New Roman" panose="02020603050405020304" pitchFamily="18" charset="0"/>
              </a:rPr>
              <a:t>. IEEE Wireless Communications, 27(2), 22–28. </a:t>
            </a:r>
            <a:r>
              <a:rPr lang="en-IN" sz="1400" u="sng" dirty="0">
                <a:latin typeface="Times New Roman" panose="02020603050405020304" pitchFamily="18" charset="0"/>
                <a:cs typeface="Times New Roman" panose="02020603050405020304" pitchFamily="18" charset="0"/>
                <a:hlinkClick r:id="rId2"/>
              </a:rPr>
              <a:t>https://doi.org/10.1109/MWC.001.1900323</a:t>
            </a:r>
            <a:endParaRPr lang="en-IN" sz="1400" dirty="0">
              <a:latin typeface="Times New Roman" panose="02020603050405020304" pitchFamily="18" charset="0"/>
              <a:cs typeface="Times New Roman" panose="02020603050405020304" pitchFamily="18" charset="0"/>
            </a:endParaRPr>
          </a:p>
          <a:p>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 Li, T., Sahu, A. K., Talwalkar, A., &amp; Smith, V. (2020). </a:t>
            </a:r>
            <a:r>
              <a:rPr lang="en-IN" sz="1400" i="1" dirty="0">
                <a:latin typeface="Times New Roman" panose="02020603050405020304" pitchFamily="18" charset="0"/>
                <a:cs typeface="Times New Roman" panose="02020603050405020304" pitchFamily="18" charset="0"/>
              </a:rPr>
              <a:t>Federated Learning: Challenges, Methods, and Future Directions</a:t>
            </a:r>
            <a:r>
              <a:rPr lang="en-IN" sz="1400" dirty="0">
                <a:latin typeface="Times New Roman" panose="02020603050405020304" pitchFamily="18" charset="0"/>
                <a:cs typeface="Times New Roman" panose="02020603050405020304" pitchFamily="18" charset="0"/>
              </a:rPr>
              <a:t>. IEEE Signal Processing Magazine, 37(3), 50–60. </a:t>
            </a:r>
            <a:r>
              <a:rPr lang="en-IN" sz="1400" u="sng" dirty="0">
                <a:latin typeface="Times New Roman" panose="02020603050405020304" pitchFamily="18" charset="0"/>
                <a:cs typeface="Times New Roman" panose="02020603050405020304" pitchFamily="18" charset="0"/>
                <a:hlinkClick r:id="rId3"/>
              </a:rPr>
              <a:t>https://doi.org/10.1109/MSP.2020.2975749</a:t>
            </a:r>
            <a:endParaRPr lang="en-IN" sz="1400" dirty="0">
              <a:latin typeface="Times New Roman" panose="02020603050405020304" pitchFamily="18" charset="0"/>
              <a:cs typeface="Times New Roman" panose="02020603050405020304" pitchFamily="18" charset="0"/>
            </a:endParaRPr>
          </a:p>
          <a:p>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 Zhu, G., Wang, Y., &amp; Huang, K. (2020). </a:t>
            </a:r>
            <a:r>
              <a:rPr lang="en-IN" sz="1400" i="1" dirty="0">
                <a:latin typeface="Times New Roman" panose="02020603050405020304" pitchFamily="18" charset="0"/>
                <a:cs typeface="Times New Roman" panose="02020603050405020304" pitchFamily="18" charset="0"/>
              </a:rPr>
              <a:t>Broadband Analog Aggregation for Low-Latency Federated Edge Learning</a:t>
            </a:r>
            <a:r>
              <a:rPr lang="en-IN" sz="1400" dirty="0">
                <a:latin typeface="Times New Roman" panose="02020603050405020304" pitchFamily="18" charset="0"/>
                <a:cs typeface="Times New Roman" panose="02020603050405020304" pitchFamily="18" charset="0"/>
              </a:rPr>
              <a:t>. IEEE Transactions on Wireless Communications, 19(1), 491–506. </a:t>
            </a:r>
            <a:r>
              <a:rPr lang="en-IN" sz="1400" u="sng" dirty="0">
                <a:latin typeface="Times New Roman" panose="02020603050405020304" pitchFamily="18" charset="0"/>
                <a:cs typeface="Times New Roman" panose="02020603050405020304" pitchFamily="18" charset="0"/>
                <a:hlinkClick r:id="rId4"/>
              </a:rPr>
              <a:t>https://doi.org/10.1109/TWC.2019.2948977</a:t>
            </a:r>
            <a:endParaRPr lang="en-IN" sz="1400" dirty="0">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2280721-36B2-3729-6B40-C43B9819A813}"/>
              </a:ext>
            </a:extLst>
          </p:cNvPr>
          <p:cNvSpPr>
            <a:spLocks noGrp="1"/>
          </p:cNvSpPr>
          <p:nvPr>
            <p:ph type="sldNum" sz="quarter" idx="12"/>
          </p:nvPr>
        </p:nvSpPr>
        <p:spPr/>
        <p:txBody>
          <a:bodyPr/>
          <a:lstStyle/>
          <a:p>
            <a:fld id="{E97799C9-84D9-46D2-A11E-BCF8A720529D}" type="slidenum">
              <a:rPr lang="en-US" smtClean="0"/>
              <a:t>82</a:t>
            </a:fld>
            <a:endParaRPr lang="en-US" dirty="0"/>
          </a:p>
        </p:txBody>
      </p:sp>
    </p:spTree>
    <p:extLst>
      <p:ext uri="{BB962C8B-B14F-4D97-AF65-F5344CB8AC3E}">
        <p14:creationId xmlns:p14="http://schemas.microsoft.com/office/powerpoint/2010/main" val="177742274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1578"/>
        <p:cNvGrpSpPr/>
        <p:nvPr/>
      </p:nvGrpSpPr>
      <p:grpSpPr>
        <a:xfrm>
          <a:off x="0" y="0"/>
          <a:ext cx="0" cy="0"/>
          <a:chOff x="0" y="0"/>
          <a:chExt cx="0" cy="0"/>
        </a:xfrm>
      </p:grpSpPr>
      <p:sp>
        <p:nvSpPr>
          <p:cNvPr id="2" name="Title 1"/>
          <p:cNvSpPr>
            <a:spLocks noGrp="1"/>
          </p:cNvSpPr>
          <p:nvPr>
            <p:ph type="title"/>
          </p:nvPr>
        </p:nvSpPr>
        <p:spPr>
          <a:xfrm>
            <a:off x="691515" y="1630680"/>
            <a:ext cx="8031480" cy="2084705"/>
          </a:xfrm>
        </p:spPr>
        <p:txBody>
          <a:bodyPr/>
          <a:lstStyle/>
          <a:p>
            <a:pPr algn="ctr"/>
            <a:r>
              <a:rPr lang="en-IN" altLang="en-US" sz="8000" dirty="0">
                <a:solidFill>
                  <a:schemeClr val="tx1"/>
                </a:solidFill>
              </a:rPr>
              <a:t>THANK YOU</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26B02"/>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6728D11B-929E-4324-91B0-4A4DA4CAC3D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Savon</Template>
  <TotalTime>1776</TotalTime>
  <Words>8750</Words>
  <Application>Microsoft Office PowerPoint</Application>
  <PresentationFormat>On-screen Show (16:9)</PresentationFormat>
  <Paragraphs>407</Paragraphs>
  <Slides>83</Slides>
  <Notes>38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83</vt:i4>
      </vt:variant>
    </vt:vector>
  </HeadingPairs>
  <TitlesOfParts>
    <vt:vector size="92" baseType="lpstr">
      <vt:lpstr>Times New Roman</vt:lpstr>
      <vt:lpstr>Century Gothic</vt:lpstr>
      <vt:lpstr>Wingdings</vt:lpstr>
      <vt:lpstr>Poppins Black</vt:lpstr>
      <vt:lpstr>Calibri</vt:lpstr>
      <vt:lpstr>Poppins</vt:lpstr>
      <vt:lpstr>Bebas Neue</vt:lpstr>
      <vt:lpstr>Arial</vt:lpstr>
      <vt:lpstr>Savon</vt:lpstr>
      <vt:lpstr>PowerPoint Presentation</vt:lpstr>
      <vt:lpstr>Contents of the presentation</vt:lpstr>
      <vt:lpstr>Project Description</vt:lpstr>
      <vt:lpstr>Project Description</vt:lpstr>
      <vt:lpstr>Problem Statement</vt:lpstr>
      <vt:lpstr>Objective of the Project</vt:lpstr>
      <vt:lpstr>Scope</vt:lpstr>
      <vt:lpstr>Literature Survey</vt:lpstr>
      <vt:lpstr>PowerPoint Presentation</vt:lpstr>
      <vt:lpstr>PowerPoint Presentation</vt:lpstr>
      <vt:lpstr>PowerPoint Presentation</vt:lpstr>
      <vt:lpstr>PowerPoint Presentation</vt:lpstr>
      <vt:lpstr>Exisiting System</vt:lpstr>
      <vt:lpstr>Disadvantages</vt:lpstr>
      <vt:lpstr>Proposed System</vt:lpstr>
      <vt:lpstr>Advantages</vt:lpstr>
      <vt:lpstr>PROJECT FLOW</vt:lpstr>
      <vt:lpstr>Resource Requirements</vt:lpstr>
      <vt:lpstr>Architecture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Research Gap analysis</vt:lpstr>
      <vt:lpstr>PowerPoint Presentation</vt:lpstr>
      <vt:lpstr>PowerPoint Presentation</vt:lpstr>
      <vt:lpstr>PowerPoint Presentation</vt:lpstr>
      <vt:lpstr>PowerPoint Presentation</vt:lpstr>
      <vt:lpstr>PowerPoint Presentation</vt:lpstr>
      <vt:lpstr>Implementation</vt:lpstr>
      <vt:lpstr>PowerPoint Presentation</vt:lpstr>
      <vt:lpstr>PowerPoint Presentation</vt:lpstr>
      <vt:lpstr>PowerPoint Presentation</vt:lpstr>
      <vt:lpstr>Exploratory Data Analysis </vt:lpstr>
      <vt:lpstr>Exploratory Data Analysis </vt:lpstr>
      <vt:lpstr>PowerPoint Presentation</vt:lpstr>
      <vt:lpstr>PowerPoint Presentation</vt:lpstr>
      <vt:lpstr>PowerPoint Presentation</vt:lpstr>
      <vt:lpstr>PowerPoint Presentation</vt:lpstr>
      <vt:lpstr>Model training steps</vt:lpstr>
      <vt:lpstr>PowerPoint Presentation</vt:lpstr>
      <vt:lpstr>PowerPoint Presentation</vt:lpstr>
      <vt:lpstr>PowerPoint Presentation</vt:lpstr>
      <vt:lpstr>Algorithm Definition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Future Scope</vt:lpstr>
      <vt:lpstr>PowerPoint Presentation</vt:lpstr>
      <vt:lpstr>Conclusion</vt:lpstr>
      <vt:lpstr>PowerPoint Presentation</vt:lpstr>
      <vt:lpstr>REFERENCES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Tips to Prepare for an Exam</dc:title>
  <dc:creator>Nagam Chenchulakshmi</dc:creator>
  <cp:lastModifiedBy>Ranjani M.</cp:lastModifiedBy>
  <cp:revision>233</cp:revision>
  <dcterms:created xsi:type="dcterms:W3CDTF">2024-08-17T15:37:17Z</dcterms:created>
  <dcterms:modified xsi:type="dcterms:W3CDTF">2025-11-18T05:04:06Z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A3CB773200E643D59878B61E75C48E52_12</vt:lpwstr>
  </property>
  <property fmtid="{D5CDD505-2E9C-101B-9397-08002B2CF9AE}" pid="3" name="KSOProductBuildVer">
    <vt:lpwstr>1033-12.2.0.17119</vt:lpwstr>
  </property>
</Properties>
</file>