
<file path=[Content_Types].xml><?xml version="1.0" encoding="utf-8"?>
<Types xmlns="http://schemas.openxmlformats.org/package/2006/content-types">
  <Default Extension="bmp" ContentType="image/bmp"/>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230" r:id="rId1"/>
  </p:sldMasterIdLst>
  <p:notesMasterIdLst>
    <p:notesMasterId r:id="rId45"/>
  </p:notesMasterIdLst>
  <p:sldIdLst>
    <p:sldId id="256" r:id="rId2"/>
    <p:sldId id="257" r:id="rId3"/>
    <p:sldId id="258" r:id="rId4"/>
    <p:sldId id="290" r:id="rId5"/>
    <p:sldId id="289" r:id="rId6"/>
    <p:sldId id="259" r:id="rId7"/>
    <p:sldId id="261" r:id="rId8"/>
    <p:sldId id="423" r:id="rId9"/>
    <p:sldId id="426" r:id="rId10"/>
    <p:sldId id="497" r:id="rId11"/>
    <p:sldId id="265" r:id="rId12"/>
    <p:sldId id="496" r:id="rId13"/>
    <p:sldId id="264" r:id="rId14"/>
    <p:sldId id="477" r:id="rId15"/>
    <p:sldId id="478" r:id="rId16"/>
    <p:sldId id="476" r:id="rId17"/>
    <p:sldId id="504" r:id="rId18"/>
    <p:sldId id="262" r:id="rId19"/>
    <p:sldId id="292" r:id="rId20"/>
    <p:sldId id="263" r:id="rId21"/>
    <p:sldId id="436" r:id="rId22"/>
    <p:sldId id="473" r:id="rId23"/>
    <p:sldId id="474" r:id="rId24"/>
    <p:sldId id="475" r:id="rId25"/>
    <p:sldId id="505" r:id="rId26"/>
    <p:sldId id="266" r:id="rId27"/>
    <p:sldId id="441" r:id="rId28"/>
    <p:sldId id="480" r:id="rId29"/>
    <p:sldId id="510" r:id="rId30"/>
    <p:sldId id="293" r:id="rId31"/>
    <p:sldId id="481" r:id="rId32"/>
    <p:sldId id="315" r:id="rId33"/>
    <p:sldId id="442" r:id="rId34"/>
    <p:sldId id="511" r:id="rId35"/>
    <p:sldId id="512" r:id="rId36"/>
    <p:sldId id="295" r:id="rId37"/>
    <p:sldId id="443" r:id="rId38"/>
    <p:sldId id="444" r:id="rId39"/>
    <p:sldId id="513" r:id="rId40"/>
    <p:sldId id="390" r:id="rId41"/>
    <p:sldId id="514" r:id="rId42"/>
    <p:sldId id="472" r:id="rId43"/>
    <p:sldId id="272" r:id="rId44"/>
  </p:sldIdLst>
  <p:sldSz cx="9144000" cy="5143500" type="screen16x9"/>
  <p:notesSz cx="6858000" cy="9144000"/>
  <p:embeddedFontLst>
    <p:embeddedFont>
      <p:font typeface="Bebas Neue" panose="020B0606020202050201" pitchFamily="34" charset="0"/>
      <p:regular r:id="rId46"/>
    </p:embeddedFont>
    <p:embeddedFont>
      <p:font typeface="Century Gothic" panose="020B0502020202020204" pitchFamily="34" charset="0"/>
      <p:regular r:id="rId47"/>
      <p:bold r:id="rId48"/>
      <p:italic r:id="rId49"/>
      <p:boldItalic r:id="rId50"/>
    </p:embeddedFont>
    <p:embeddedFont>
      <p:font typeface="Poppins" panose="00000500000000000000" pitchFamily="2" charset="0"/>
      <p:regular r:id="rId51"/>
      <p:bold r:id="rId52"/>
      <p:italic r:id="rId53"/>
      <p:boldItalic r:id="rId54"/>
    </p:embeddedFont>
    <p:embeddedFont>
      <p:font typeface="Poppins Black" panose="00000A00000000000000" pitchFamily="2" charset="0"/>
      <p:bold r:id="rId55"/>
      <p:boldItalic r:id="rId5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603" autoAdjust="0"/>
    <p:restoredTop sz="94343" autoAdjust="0"/>
  </p:normalViewPr>
  <p:slideViewPr>
    <p:cSldViewPr snapToGrid="0">
      <p:cViewPr varScale="1">
        <p:scale>
          <a:sx n="148" d="100"/>
          <a:sy n="148" d="100"/>
        </p:scale>
        <p:origin x="132" y="144"/>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NUL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b28366aba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b28366aba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b28366aba4_0_1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83327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55783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9412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43645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30719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40220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75700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5319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0519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9144000" cy="51435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15" name="Rectangle 14"/>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3937635" y="950798"/>
            <a:ext cx="1268730" cy="483971"/>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1568447"/>
            <a:ext cx="6801440" cy="1943100"/>
          </a:xfrm>
        </p:spPr>
        <p:txBody>
          <a:bodyPr tIns="45720" bIns="45720"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171575" y="3511547"/>
            <a:ext cx="6803136" cy="342901"/>
          </a:xfrm>
        </p:spPr>
        <p:txBody>
          <a:bodyPr>
            <a:normAutofit/>
          </a:bodyPr>
          <a:lstStyle>
            <a:lvl1pPr marL="0" indent="0" algn="ctr">
              <a:spcBef>
                <a:spcPts val="0"/>
              </a:spcBef>
              <a:buNone/>
              <a:defRPr sz="1200" spc="60" baseline="0">
                <a:solidFill>
                  <a:schemeClr val="tx2"/>
                </a:solidFill>
              </a:defRPr>
            </a:lvl1pPr>
            <a:lvl2pPr marL="342900" indent="0" algn="ctr">
              <a:buNone/>
              <a:defRPr sz="1200"/>
            </a:lvl2pPr>
            <a:lvl3pPr marL="685800" indent="0" algn="ctr">
              <a:buNone/>
              <a:defRPr sz="12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20" name="Date Placeholder 19"/>
          <p:cNvSpPr>
            <a:spLocks noGrp="1"/>
          </p:cNvSpPr>
          <p:nvPr>
            <p:ph type="dt" sz="half" idx="10"/>
          </p:nvPr>
        </p:nvSpPr>
        <p:spPr>
          <a:xfrm>
            <a:off x="3989070" y="1005942"/>
            <a:ext cx="1165860" cy="395410"/>
          </a:xfrm>
        </p:spPr>
        <p:txBody>
          <a:bodyPr/>
          <a:lstStyle>
            <a:lvl1pPr algn="ctr">
              <a:defRPr sz="975" spc="0" baseline="0">
                <a:solidFill>
                  <a:srgbClr val="FFFFFF"/>
                </a:solidFill>
                <a:latin typeface="+mn-lt"/>
              </a:defRPr>
            </a:lvl1pPr>
          </a:lstStyle>
          <a:p>
            <a:fld id="{B61BEF0D-F0BB-DE4B-95CE-6DB70DBA9567}" type="datetimeFigureOut">
              <a:rPr lang="en-US" smtClean="0"/>
              <a:pPr/>
              <a:t>11/18/2025</a:t>
            </a:fld>
            <a:endParaRPr lang="en-US" dirty="0"/>
          </a:p>
        </p:txBody>
      </p:sp>
      <p:sp>
        <p:nvSpPr>
          <p:cNvPr id="21" name="Footer Placeholder 20"/>
          <p:cNvSpPr>
            <a:spLocks noGrp="1"/>
          </p:cNvSpPr>
          <p:nvPr>
            <p:ph type="ftr" sz="quarter" idx="11"/>
          </p:nvPr>
        </p:nvSpPr>
        <p:spPr>
          <a:xfrm>
            <a:off x="1090422" y="3909060"/>
            <a:ext cx="4429125" cy="171450"/>
          </a:xfrm>
        </p:spPr>
        <p:txBody>
          <a:bodyPr/>
          <a:lstStyle>
            <a:lvl1pPr algn="l">
              <a:defRPr>
                <a:solidFill>
                  <a:schemeClr val="tx2"/>
                </a:solidFill>
              </a:defRPr>
            </a:lvl1pPr>
          </a:lstStyle>
          <a:p>
            <a:endParaRPr lang="en-US" dirty="0"/>
          </a:p>
        </p:txBody>
      </p:sp>
      <p:sp>
        <p:nvSpPr>
          <p:cNvPr id="22" name="Slide Number Placeholder 21"/>
          <p:cNvSpPr>
            <a:spLocks noGrp="1"/>
          </p:cNvSpPr>
          <p:nvPr>
            <p:ph type="sldNum" sz="quarter" idx="12"/>
          </p:nvPr>
        </p:nvSpPr>
        <p:spPr>
          <a:xfrm>
            <a:off x="6455190" y="3909060"/>
            <a:ext cx="1583911"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336669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350"/>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52647F38-B617-4D2F-AE0A-013F0C4D2C57}" type="datetimeFigureOut">
              <a:rPr lang="en-US" smtClean="0"/>
              <a:t>11/18/2025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E97799C9-84D9-46D2-A11E-BCF8A720529D}" type="slidenum">
              <a:rPr lang="en-US" smtClean="0"/>
              <a:t>‹#›</a:t>
            </a:fld>
            <a:endParaRPr lang="en-US" dirty="0"/>
          </a:p>
        </p:txBody>
      </p:sp>
    </p:spTree>
    <p:extLst>
      <p:ext uri="{BB962C8B-B14F-4D97-AF65-F5344CB8AC3E}">
        <p14:creationId xmlns:p14="http://schemas.microsoft.com/office/powerpoint/2010/main" val="424588808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9144000" cy="51435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950797"/>
            <a:ext cx="7182197" cy="3230963"/>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085851" y="1058711"/>
            <a:ext cx="6972300" cy="3026078"/>
          </a:xfrm>
          <a:prstGeom prst="rect">
            <a:avLst/>
          </a:prstGeom>
          <a:solidFill>
            <a:schemeClr val="bg2"/>
          </a:solidFill>
          <a:ln w="9525" cap="sq" cmpd="sng" algn="ctr">
            <a:noFill/>
            <a:prstDash val="solid"/>
            <a:miter lim="800000"/>
          </a:ln>
          <a:effectLst/>
        </p:spPr>
      </p:sp>
      <p:sp>
        <p:nvSpPr>
          <p:cNvPr id="30" name="Rectangle 29"/>
          <p:cNvSpPr/>
          <p:nvPr/>
        </p:nvSpPr>
        <p:spPr>
          <a:xfrm>
            <a:off x="3851910" y="950798"/>
            <a:ext cx="1440180" cy="54864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937635" y="950798"/>
            <a:ext cx="1268730" cy="483971"/>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1570732"/>
            <a:ext cx="6803136" cy="1940814"/>
          </a:xfrm>
        </p:spPr>
        <p:txBody>
          <a:bodyPr anchor="ctr">
            <a:noAutofit/>
          </a:bodyPr>
          <a:lstStyle>
            <a:lvl1pPr algn="ctr">
              <a:lnSpc>
                <a:spcPct val="83000"/>
              </a:lnSpc>
              <a:defRPr lang="en-US" sz="5400" b="0" kern="1200" cap="all" spc="-75"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172718" y="3511547"/>
            <a:ext cx="6803136" cy="342900"/>
          </a:xfrm>
        </p:spPr>
        <p:txBody>
          <a:bodyPr anchor="t">
            <a:normAutofit/>
          </a:bodyPr>
          <a:lstStyle>
            <a:lvl1pPr marL="0" indent="0" algn="ctr">
              <a:buNone/>
              <a:tabLst>
                <a:tab pos="1975247" algn="l"/>
              </a:tabLst>
              <a:defRPr sz="1200">
                <a:solidFill>
                  <a:schemeClr val="tx2"/>
                </a:solidFill>
                <a:effectLst/>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3991356" y="1008377"/>
            <a:ext cx="1165860" cy="397764"/>
          </a:xfrm>
        </p:spPr>
        <p:txBody>
          <a:bodyPr/>
          <a:lstStyle>
            <a:lvl1pPr algn="ctr">
              <a:defRPr lang="en-US" sz="975" kern="1200" spc="0" baseline="0">
                <a:solidFill>
                  <a:srgbClr val="FFFFFF"/>
                </a:solidFill>
                <a:latin typeface="+mn-lt"/>
                <a:ea typeface="+mn-ea"/>
                <a:cs typeface="+mn-cs"/>
              </a:defRPr>
            </a:lvl1pPr>
          </a:lstStyle>
          <a:p>
            <a:fld id="{B61BEF0D-F0BB-DE4B-95CE-6DB70DBA9567}" type="datetimeFigureOut">
              <a:rPr lang="en-US" smtClean="0"/>
              <a:pPr/>
              <a:t>11/18/2025</a:t>
            </a:fld>
            <a:endParaRPr lang="en-US" dirty="0"/>
          </a:p>
        </p:txBody>
      </p:sp>
      <p:sp>
        <p:nvSpPr>
          <p:cNvPr id="5" name="Footer Placeholder 4"/>
          <p:cNvSpPr>
            <a:spLocks noGrp="1"/>
          </p:cNvSpPr>
          <p:nvPr>
            <p:ph type="ftr" sz="quarter" idx="11"/>
          </p:nvPr>
        </p:nvSpPr>
        <p:spPr>
          <a:xfrm>
            <a:off x="1090422" y="3909060"/>
            <a:ext cx="4430268" cy="171450"/>
          </a:xfrm>
        </p:spPr>
        <p:txBody>
          <a:bodyPr/>
          <a:lstStyle>
            <a:lvl1pPr algn="l">
              <a:defRPr>
                <a:solidFill>
                  <a:schemeClr val="tx2"/>
                </a:solidFill>
              </a:defRPr>
            </a:lvl1pPr>
          </a:lstStyle>
          <a:p>
            <a:endParaRPr lang="en-US" dirty="0"/>
          </a:p>
        </p:txBody>
      </p:sp>
      <p:sp>
        <p:nvSpPr>
          <p:cNvPr id="6" name="Slide Number Placeholder 5"/>
          <p:cNvSpPr>
            <a:spLocks noGrp="1"/>
          </p:cNvSpPr>
          <p:nvPr>
            <p:ph type="sldNum" sz="quarter" idx="12"/>
          </p:nvPr>
        </p:nvSpPr>
        <p:spPr>
          <a:xfrm>
            <a:off x="6453378" y="3909060"/>
            <a:ext cx="1584198" cy="171450"/>
          </a:xfr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2385622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0010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77740" y="1577340"/>
            <a:ext cx="3566160" cy="281178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05BFA754-D5C3-4E66-96A6-867B257F58DC}" type="datetimeFigureOut">
              <a:rPr lang="en-US" smtClean="0"/>
              <a:t>11/18/2025</a:t>
            </a:fld>
            <a:endParaRPr lang="en-US" dirty="0"/>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D84065D-F351-4B03-BD91-D8A6B8D4B362}" type="slidenum">
              <a:rPr lang="en-US" smtClean="0"/>
              <a:t>‹#›</a:t>
            </a:fld>
            <a:endParaRPr lang="en-US" dirty="0"/>
          </a:p>
        </p:txBody>
      </p:sp>
    </p:spTree>
    <p:extLst>
      <p:ext uri="{BB962C8B-B14F-4D97-AF65-F5344CB8AC3E}">
        <p14:creationId xmlns:p14="http://schemas.microsoft.com/office/powerpoint/2010/main" val="181321518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02386" y="1555751"/>
            <a:ext cx="3566160" cy="480060"/>
          </a:xfrm>
        </p:spPr>
        <p:txBody>
          <a:bodyPr anchor="ctr">
            <a:normAutofit/>
          </a:bodyPr>
          <a:lstStyle>
            <a:lvl1pPr marL="0" indent="0" algn="ctr">
              <a:spcBef>
                <a:spcPts val="0"/>
              </a:spcBef>
              <a:buNone/>
              <a:defRPr sz="1350" b="0">
                <a:solidFill>
                  <a:schemeClr val="tx2"/>
                </a:solidFill>
                <a:latin typeface="+mn-lt"/>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802386" y="2066924"/>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80026" y="1555751"/>
            <a:ext cx="3566160" cy="480060"/>
          </a:xfrm>
        </p:spPr>
        <p:txBody>
          <a:bodyPr anchor="ctr">
            <a:normAutofit/>
          </a:bodyPr>
          <a:lstStyle>
            <a:lvl1pPr marL="0" indent="0" algn="ctr">
              <a:spcBef>
                <a:spcPts val="0"/>
              </a:spcBef>
              <a:buNone/>
              <a:defRPr sz="1350" b="0">
                <a:solidFill>
                  <a:schemeClr val="tx2"/>
                </a:solidFill>
              </a:defRPr>
            </a:lvl1pPr>
            <a:lvl2pPr marL="342900" indent="0">
              <a:buNone/>
              <a:defRPr sz="135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780026" y="2067436"/>
            <a:ext cx="3566160" cy="240030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1160EA64-D806-43AC-9DF2-F8C432F32B4C}" type="datetimeFigureOut">
              <a:rPr lang="en-US" smtClean="0"/>
              <a:t>11/18/2025</a:t>
            </a:fld>
            <a:endParaRPr lang="en-US" dirty="0"/>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15163726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US" dirty="0"/>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3230613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US" dirty="0"/>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27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176020" y="178308"/>
            <a:ext cx="6474811"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278892" y="281178"/>
            <a:ext cx="6264783" cy="4581144"/>
          </a:xfrm>
          <a:prstGeom prst="rect">
            <a:avLst/>
          </a:prstGeom>
          <a:solidFill>
            <a:schemeClr val="bg2"/>
          </a:solidFill>
          <a:ln w="6350" cap="sq" cmpd="sng" algn="ctr">
            <a:noFill/>
            <a:prstDash val="solid"/>
            <a:miter lim="800000"/>
          </a:ln>
          <a:effectLst/>
        </p:spPr>
      </p:sp>
      <p:sp>
        <p:nvSpPr>
          <p:cNvPr id="15" name="Rectangle 14"/>
          <p:cNvSpPr/>
          <p:nvPr/>
        </p:nvSpPr>
        <p:spPr>
          <a:xfrm>
            <a:off x="6765290" y="178308"/>
            <a:ext cx="2194560" cy="478688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5544"/>
            <a:ext cx="1823085" cy="1234440"/>
          </a:xfrm>
        </p:spPr>
        <p:txBody>
          <a:bodyPr anchor="b">
            <a:normAutofit/>
          </a:bodyPr>
          <a:lstStyle>
            <a:lvl1pPr algn="l" defTabSz="685800" rtl="0" eaLnBrk="1" latinLnBrk="0" hangingPunct="1">
              <a:lnSpc>
                <a:spcPct val="90000"/>
              </a:lnSpc>
              <a:spcBef>
                <a:spcPct val="0"/>
              </a:spcBef>
              <a:buNone/>
              <a:defRPr lang="en-US" sz="21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592931" y="528638"/>
            <a:ext cx="5672138" cy="3857625"/>
          </a:xfrm>
        </p:spPr>
        <p:txBody>
          <a:bodyPr/>
          <a:lstStyle>
            <a:lvl1pPr>
              <a:defRPr sz="1425"/>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72300" y="1714500"/>
            <a:ext cx="1823085" cy="2628900"/>
          </a:xfrm>
        </p:spPr>
        <p:txBody>
          <a:bodyPr>
            <a:normAutofit/>
          </a:bodyPr>
          <a:lstStyle>
            <a:lvl1pPr marL="0" indent="0">
              <a:lnSpc>
                <a:spcPct val="110000"/>
              </a:lnSpc>
              <a:spcBef>
                <a:spcPts val="600"/>
              </a:spcBef>
              <a:buNone/>
              <a:defRPr sz="1050">
                <a:solidFill>
                  <a:schemeClr val="bg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6" name="Footer Placeholder 5"/>
          <p:cNvSpPr>
            <a:spLocks noGrp="1"/>
          </p:cNvSpPr>
          <p:nvPr>
            <p:ph type="ftr" sz="quarter" idx="11"/>
          </p:nvPr>
        </p:nvSpPr>
        <p:spPr>
          <a:xfrm>
            <a:off x="2579369" y="4660901"/>
            <a:ext cx="3888486" cy="192024"/>
          </a:xfrm>
        </p:spPr>
        <p:txBody>
          <a:bodyPr/>
          <a:lstStyle>
            <a:lvl1pPr algn="r">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D57F1E4F-1CFF-5643-939E-217C01CDF565}" type="slidenum">
              <a:rPr lang="en-US" smtClean="0"/>
              <a:pPr/>
              <a:t>‹#›</a:t>
            </a:fld>
            <a:endParaRPr lang="en-US" dirty="0"/>
          </a:p>
        </p:txBody>
      </p:sp>
      <p:sp>
        <p:nvSpPr>
          <p:cNvPr id="11" name="Rectangle 10"/>
          <p:cNvSpPr/>
          <p:nvPr/>
        </p:nvSpPr>
        <p:spPr>
          <a:xfrm>
            <a:off x="6868160" y="281178"/>
            <a:ext cx="1988820" cy="4581144"/>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9759090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8308"/>
            <a:ext cx="2194560" cy="4786884"/>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68160" y="281178"/>
            <a:ext cx="1988820" cy="4581144"/>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452628"/>
            <a:ext cx="1824228" cy="1234440"/>
          </a:xfrm>
        </p:spPr>
        <p:txBody>
          <a:bodyPr anchor="b">
            <a:noAutofit/>
          </a:bodyPr>
          <a:lstStyle>
            <a:lvl1pPr algn="l">
              <a:defRPr sz="21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449" y="178308"/>
            <a:ext cx="6450807" cy="4786884"/>
          </a:xfrm>
          <a:solidFill>
            <a:srgbClr val="808080"/>
          </a:solidFill>
          <a:ln>
            <a:noFill/>
          </a:ln>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972300" y="1714500"/>
            <a:ext cx="1824228" cy="2626614"/>
          </a:xfrm>
        </p:spPr>
        <p:txBody>
          <a:bodyPr>
            <a:normAutofit/>
          </a:bodyPr>
          <a:lstStyle>
            <a:lvl1pPr marL="0" indent="0" algn="l">
              <a:lnSpc>
                <a:spcPct val="110000"/>
              </a:lnSpc>
              <a:spcBef>
                <a:spcPts val="600"/>
              </a:spcBef>
              <a:buNone/>
              <a:defRPr sz="105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B61BEF0D-F0BB-DE4B-95CE-6DB70DBA9567}" type="datetimeFigureOut">
              <a:rPr lang="en-US" smtClean="0"/>
              <a:pPr/>
              <a:t>11/18/2025</a:t>
            </a:fld>
            <a:endParaRPr lang="en-US" dirty="0"/>
          </a:p>
        </p:txBody>
      </p:sp>
      <p:sp>
        <p:nvSpPr>
          <p:cNvPr id="6" name="Footer Placeholder 5"/>
          <p:cNvSpPr>
            <a:spLocks noGrp="1"/>
          </p:cNvSpPr>
          <p:nvPr>
            <p:ph type="ftr" sz="quarter" idx="11"/>
          </p:nvPr>
        </p:nvSpPr>
        <p:spPr/>
        <p:txBody>
          <a:bodyPr/>
          <a:lstStyle>
            <a:lvl1pPr marL="0" algn="r" defTabSz="685800" rtl="0" eaLnBrk="1" latinLnBrk="0" hangingPunct="1">
              <a:defRPr lang="en-US" sz="75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499620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939487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571500"/>
            <a:ext cx="1771650" cy="39433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571500"/>
            <a:ext cx="6057900" cy="39433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B61BEF0D-F0BB-DE4B-95CE-6DB70DBA9567}" type="datetimeFigureOut">
              <a:rPr lang="en-US" smtClean="0"/>
              <a:pPr/>
              <a:t>11/18/2025</a:t>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9221259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1_Title slide">
    <p:bg>
      <p:bgPr>
        <a:solidFill>
          <a:schemeClr val="lt2"/>
        </a:solidFill>
        <a:effectLst/>
      </p:bgPr>
    </p:bg>
    <p:spTree>
      <p:nvGrpSpPr>
        <p:cNvPr id="1" name="Shape 8"/>
        <p:cNvGrpSpPr/>
        <p:nvPr/>
      </p:nvGrpSpPr>
      <p:grpSpPr>
        <a:xfrm>
          <a:off x="0" y="0"/>
          <a:ext cx="0" cy="0"/>
          <a:chOff x="0" y="0"/>
          <a:chExt cx="0" cy="0"/>
        </a:xfrm>
      </p:grpSpPr>
      <p:sp>
        <p:nvSpPr>
          <p:cNvPr id="15" name="Google Shape;15;p2"/>
          <p:cNvSpPr txBox="1">
            <a:spLocks noGrp="1"/>
          </p:cNvSpPr>
          <p:nvPr>
            <p:ph type="ctrTitle"/>
          </p:nvPr>
        </p:nvSpPr>
        <p:spPr>
          <a:xfrm>
            <a:off x="844850" y="1490700"/>
            <a:ext cx="3795000" cy="21621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Tree>
    <p:extLst>
      <p:ext uri="{BB962C8B-B14F-4D97-AF65-F5344CB8AC3E}">
        <p14:creationId xmlns:p14="http://schemas.microsoft.com/office/powerpoint/2010/main" val="195853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lt2"/>
        </a:solidFill>
        <a:effectLst/>
      </p:bgPr>
    </p:bg>
    <p:spTree>
      <p:nvGrpSpPr>
        <p:cNvPr id="1" name="Shape 100"/>
        <p:cNvGrpSpPr/>
        <p:nvPr/>
      </p:nvGrpSpPr>
      <p:grpSpPr>
        <a:xfrm>
          <a:off x="0" y="0"/>
          <a:ext cx="0" cy="0"/>
          <a:chOff x="0" y="0"/>
          <a:chExt cx="0" cy="0"/>
        </a:xfrm>
      </p:grpSpPr>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extLst>
      <p:ext uri="{BB962C8B-B14F-4D97-AF65-F5344CB8AC3E}">
        <p14:creationId xmlns:p14="http://schemas.microsoft.com/office/powerpoint/2010/main" val="26432112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bg>
      <p:bgPr>
        <a:solidFill>
          <a:schemeClr val="lt2"/>
        </a:solidFill>
        <a:effectLst/>
      </p:bgPr>
    </p:bg>
    <p:spTree>
      <p:nvGrpSpPr>
        <p:cNvPr id="1" name="Shape 16"/>
        <p:cNvGrpSpPr/>
        <p:nvPr/>
      </p:nvGrpSpPr>
      <p:grpSpPr>
        <a:xfrm>
          <a:off x="0" y="0"/>
          <a:ext cx="0" cy="0"/>
          <a:chOff x="0" y="0"/>
          <a:chExt cx="0" cy="0"/>
        </a:xfrm>
      </p:grpSpPr>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9116296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2"/>
        </a:solidFill>
        <a:effectLst/>
      </p:bgPr>
    </p:bg>
    <p:spTree>
      <p:nvGrpSpPr>
        <p:cNvPr id="1" name="Shape 132"/>
        <p:cNvGrpSpPr/>
        <p:nvPr/>
      </p:nvGrpSpPr>
      <p:grpSpPr>
        <a:xfrm>
          <a:off x="0" y="0"/>
          <a:ext cx="0" cy="0"/>
          <a:chOff x="0" y="0"/>
          <a:chExt cx="0" cy="0"/>
        </a:xfrm>
      </p:grpSpPr>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3535999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1">
  <p:cSld name="Section header 1">
    <p:bg>
      <p:bgPr>
        <a:solidFill>
          <a:schemeClr val="lt2"/>
        </a:solidFill>
        <a:effectLst/>
      </p:bgPr>
    </p:bg>
    <p:spTree>
      <p:nvGrpSpPr>
        <p:cNvPr id="1" name="Shape 114"/>
        <p:cNvGrpSpPr/>
        <p:nvPr/>
      </p:nvGrpSpPr>
      <p:grpSpPr>
        <a:xfrm>
          <a:off x="0" y="0"/>
          <a:ext cx="0" cy="0"/>
          <a:chOff x="0" y="0"/>
          <a:chExt cx="0" cy="0"/>
        </a:xfrm>
      </p:grpSpPr>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448942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lt2"/>
        </a:solidFill>
        <a:effectLst/>
      </p:bgPr>
    </p:bg>
    <p:spTree>
      <p:nvGrpSpPr>
        <p:cNvPr id="1" name="Shape 152"/>
        <p:cNvGrpSpPr/>
        <p:nvPr/>
      </p:nvGrpSpPr>
      <p:grpSpPr>
        <a:xfrm>
          <a:off x="0" y="0"/>
          <a:ext cx="0" cy="0"/>
          <a:chOff x="0" y="0"/>
          <a:chExt cx="0" cy="0"/>
        </a:xfrm>
      </p:grpSpPr>
      <p:sp>
        <p:nvSpPr>
          <p:cNvPr id="159" name="Google Shape;159;p18"/>
          <p:cNvSpPr txBox="1">
            <a:spLocks noGrp="1"/>
          </p:cNvSpPr>
          <p:nvPr>
            <p:ph type="title"/>
          </p:nvPr>
        </p:nvSpPr>
        <p:spPr>
          <a:xfrm>
            <a:off x="715100" y="1612750"/>
            <a:ext cx="3401400" cy="189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60" name="Google Shape;160;p18"/>
          <p:cNvSpPr txBox="1">
            <a:spLocks noGrp="1"/>
          </p:cNvSpPr>
          <p:nvPr>
            <p:ph type="body" idx="1"/>
          </p:nvPr>
        </p:nvSpPr>
        <p:spPr>
          <a:xfrm>
            <a:off x="4572000" y="535000"/>
            <a:ext cx="3699300" cy="40734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5"/>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100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071238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2">
  <p:cSld name="Section header 2">
    <p:bg>
      <p:bgPr>
        <a:solidFill>
          <a:schemeClr val="lt2"/>
        </a:solidFill>
        <a:effectLst/>
      </p:bgPr>
    </p:bg>
    <p:spTree>
      <p:nvGrpSpPr>
        <p:cNvPr id="1" name="Shape 123"/>
        <p:cNvGrpSpPr/>
        <p:nvPr/>
      </p:nvGrpSpPr>
      <p:grpSpPr>
        <a:xfrm>
          <a:off x="0" y="0"/>
          <a:ext cx="0" cy="0"/>
          <a:chOff x="0" y="0"/>
          <a:chExt cx="0" cy="0"/>
        </a:xfrm>
      </p:grpSpPr>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2358725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lt2"/>
        </a:solidFill>
        <a:effectLst/>
      </p:bgPr>
    </p:bg>
    <p:spTree>
      <p:nvGrpSpPr>
        <p:cNvPr id="1" name="Shape 142"/>
        <p:cNvGrpSpPr/>
        <p:nvPr/>
      </p:nvGrpSpPr>
      <p:grpSpPr>
        <a:xfrm>
          <a:off x="0" y="0"/>
          <a:ext cx="0" cy="0"/>
          <a:chOff x="0" y="0"/>
          <a:chExt cx="0" cy="0"/>
        </a:xfrm>
      </p:grpSpPr>
      <p:sp>
        <p:nvSpPr>
          <p:cNvPr id="149" name="Google Shape;149;p17"/>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50" name="Google Shape;150;p17"/>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4"/>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41840280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lt2"/>
        </a:solidFill>
        <a:effectLst/>
      </p:bgPr>
    </p:bg>
    <p:spTree>
      <p:nvGrpSpPr>
        <p:cNvPr id="1" name="Shape 161"/>
        <p:cNvGrpSpPr/>
        <p:nvPr/>
      </p:nvGrpSpPr>
      <p:grpSpPr>
        <a:xfrm>
          <a:off x="0" y="0"/>
          <a:ext cx="0" cy="0"/>
          <a:chOff x="0" y="0"/>
          <a:chExt cx="0" cy="0"/>
        </a:xfrm>
      </p:grpSpPr>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extLst>
      <p:ext uri="{BB962C8B-B14F-4D97-AF65-F5344CB8AC3E}">
        <p14:creationId xmlns:p14="http://schemas.microsoft.com/office/powerpoint/2010/main" val="25177017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716700"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panose="020B0604020202020204"/>
              <a:buNone/>
              <a:defRPr>
                <a:solidFill>
                  <a:schemeClr val="lt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2pPr>
            <a:lvl3pPr lvl="2"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3pPr>
            <a:lvl4pPr lvl="3"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4pPr>
            <a:lvl5pPr lvl="4"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5pPr>
            <a:lvl6pPr lvl="5"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6pPr>
            <a:lvl7pPr lvl="6"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7pPr>
            <a:lvl8pPr lvl="7"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8pPr>
            <a:lvl9pPr lvl="8"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312467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76022" y="178308"/>
            <a:ext cx="8791956" cy="4786884"/>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278892" y="281178"/>
            <a:ext cx="8586216" cy="4581144"/>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800100" y="481946"/>
            <a:ext cx="7543800" cy="10287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00100" y="1577340"/>
            <a:ext cx="7543800" cy="29489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92098" y="4660901"/>
            <a:ext cx="2057400" cy="192024"/>
          </a:xfrm>
          <a:prstGeom prst="rect">
            <a:avLst/>
          </a:prstGeom>
        </p:spPr>
        <p:txBody>
          <a:bodyPr vert="horz" lIns="91440" tIns="45720" rIns="91440" bIns="45720" rtlCol="0" anchor="b"/>
          <a:lstStyle>
            <a:lvl1pPr algn="l">
              <a:defRPr sz="750">
                <a:solidFill>
                  <a:schemeClr val="bg2"/>
                </a:solidFill>
              </a:defRPr>
            </a:lvl1pPr>
          </a:lstStyle>
          <a:p>
            <a:fld id="{6C5516DA-9D86-4E1E-A623-C11F9F74EB59}" type="datetimeFigureOut">
              <a:rPr lang="en-US" smtClean="0"/>
              <a:t>11/18/2025</a:t>
            </a:fld>
            <a:endParaRPr lang="en-US" dirty="0"/>
          </a:p>
        </p:txBody>
      </p:sp>
      <p:sp>
        <p:nvSpPr>
          <p:cNvPr id="5" name="Footer Placeholder 4"/>
          <p:cNvSpPr>
            <a:spLocks noGrp="1"/>
          </p:cNvSpPr>
          <p:nvPr>
            <p:ph type="ftr" sz="quarter" idx="3"/>
          </p:nvPr>
        </p:nvSpPr>
        <p:spPr>
          <a:xfrm>
            <a:off x="2617470" y="4660901"/>
            <a:ext cx="3909060" cy="192024"/>
          </a:xfrm>
          <a:prstGeom prst="rect">
            <a:avLst/>
          </a:prstGeom>
        </p:spPr>
        <p:txBody>
          <a:bodyPr vert="horz" lIns="91440" tIns="45720" rIns="91440" bIns="45720" rtlCol="0" anchor="b"/>
          <a:lstStyle>
            <a:lvl1pPr algn="ctr">
              <a:defRPr sz="750">
                <a:solidFill>
                  <a:schemeClr val="bg2"/>
                </a:solidFill>
              </a:defRPr>
            </a:lvl1pPr>
          </a:lstStyle>
          <a:p>
            <a:endParaRPr lang="en-US" dirty="0"/>
          </a:p>
        </p:txBody>
      </p:sp>
      <p:sp>
        <p:nvSpPr>
          <p:cNvPr id="6" name="Slide Number Placeholder 5"/>
          <p:cNvSpPr>
            <a:spLocks noGrp="1"/>
          </p:cNvSpPr>
          <p:nvPr>
            <p:ph type="sldNum" sz="quarter" idx="4"/>
          </p:nvPr>
        </p:nvSpPr>
        <p:spPr>
          <a:xfrm>
            <a:off x="7761401" y="4660901"/>
            <a:ext cx="1097280" cy="192024"/>
          </a:xfrm>
          <a:prstGeom prst="rect">
            <a:avLst/>
          </a:prstGeom>
        </p:spPr>
        <p:txBody>
          <a:bodyPr vert="horz" lIns="91440" tIns="45720" rIns="91440" bIns="45720" rtlCol="0" anchor="b"/>
          <a:lstStyle>
            <a:lvl1pPr algn="r">
              <a:defRPr sz="750">
                <a:solidFill>
                  <a:schemeClr val="bg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89127636"/>
      </p:ext>
    </p:extLst>
  </p:cSld>
  <p:clrMap bg1="dk1" tx1="lt1" bg2="dk2" tx2="lt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 id="2147484242" r:id="rId12"/>
    <p:sldLayoutId id="2147484243" r:id="rId13"/>
    <p:sldLayoutId id="2147484244" r:id="rId14"/>
    <p:sldLayoutId id="2147484245" r:id="rId15"/>
    <p:sldLayoutId id="2147484246" r:id="rId16"/>
    <p:sldLayoutId id="2147484247" r:id="rId17"/>
    <p:sldLayoutId id="2147484248" r:id="rId18"/>
    <p:sldLayoutId id="2147484249" r:id="rId19"/>
    <p:sldLayoutId id="2147484250" r:id="rId20"/>
    <p:sldLayoutId id="2147484251" r:id="rId21"/>
  </p:sldLayoutIdLst>
  <p:hf hdr="0" ftr="0" dt="0"/>
  <p:txStyles>
    <p:titleStyle>
      <a:lvl1pPr algn="l" defTabSz="685800" rtl="0" eaLnBrk="1" latinLnBrk="0" hangingPunct="1">
        <a:lnSpc>
          <a:spcPct val="90000"/>
        </a:lnSpc>
        <a:spcBef>
          <a:spcPct val="0"/>
        </a:spcBef>
        <a:buNone/>
        <a:defRPr lang="en-US" sz="3600" kern="1200" cap="none" spc="0" baseline="0" dirty="0">
          <a:solidFill>
            <a:schemeClr val="tx1"/>
          </a:solidFill>
          <a:effectLst/>
          <a:latin typeface="+mj-lt"/>
          <a:ea typeface="+mn-ea"/>
          <a:cs typeface="+mn-cs"/>
        </a:defRPr>
      </a:lvl1pPr>
    </p:titleStyle>
    <p:bodyStyle>
      <a:lvl1pPr marL="137160" indent="-137160" algn="l" defTabSz="685800" rtl="0" eaLnBrk="1" latinLnBrk="0" hangingPunct="1">
        <a:lnSpc>
          <a:spcPct val="100000"/>
        </a:lnSpc>
        <a:spcBef>
          <a:spcPts val="675"/>
        </a:spcBef>
        <a:spcAft>
          <a:spcPts val="0"/>
        </a:spcAft>
        <a:buClr>
          <a:schemeClr val="tx2">
            <a:lumMod val="60000"/>
            <a:lumOff val="40000"/>
          </a:schemeClr>
        </a:buClr>
        <a:buFont typeface="Arial" pitchFamily="34" charset="0"/>
        <a:buChar char="•"/>
        <a:defRPr sz="1350" kern="1200">
          <a:solidFill>
            <a:schemeClr val="tx1"/>
          </a:solidFill>
          <a:latin typeface="+mn-lt"/>
          <a:ea typeface="+mn-ea"/>
          <a:cs typeface="+mn-cs"/>
        </a:defRPr>
      </a:lvl1pPr>
      <a:lvl2pPr marL="34290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200" kern="1200">
          <a:solidFill>
            <a:schemeClr val="tx1"/>
          </a:solidFill>
          <a:latin typeface="+mn-lt"/>
          <a:ea typeface="+mn-ea"/>
          <a:cs typeface="+mn-cs"/>
        </a:defRPr>
      </a:lvl2pPr>
      <a:lvl3pPr marL="54864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3pPr>
      <a:lvl4pPr marL="75438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4pPr>
      <a:lvl5pPr marL="960120" indent="-13716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tx1"/>
          </a:solidFill>
          <a:latin typeface="+mn-lt"/>
          <a:ea typeface="+mn-ea"/>
          <a:cs typeface="+mn-cs"/>
        </a:defRPr>
      </a:lvl5pPr>
      <a:lvl6pPr marL="120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6pPr>
      <a:lvl7pPr marL="142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7pPr>
      <a:lvl8pPr marL="1650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8pPr>
      <a:lvl9pPr marL="1875000" indent="-171450" algn="l" defTabSz="685800" rtl="0" eaLnBrk="1" latinLnBrk="0" hangingPunct="1">
        <a:lnSpc>
          <a:spcPct val="100000"/>
        </a:lnSpc>
        <a:spcBef>
          <a:spcPts val="375"/>
        </a:spcBef>
        <a:buClr>
          <a:schemeClr val="tx2">
            <a:lumMod val="60000"/>
            <a:lumOff val="40000"/>
          </a:schemeClr>
        </a:buClr>
        <a:buFont typeface="Arial" pitchFamily="34" charset="0"/>
        <a:buChar char="•"/>
        <a:defRPr sz="1050" kern="1200">
          <a:solidFill>
            <a:schemeClr val="bg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3" Type="http://schemas.openxmlformats.org/officeDocument/2006/relationships/hyperlink" Target="https://doi.org/10.1561/2200000083" TargetMode="External"/><Relationship Id="rId2" Type="http://schemas.openxmlformats.org/officeDocument/2006/relationships/hyperlink" Target="https://arxiv.org/abs/1602.05629" TargetMode="External"/><Relationship Id="rId1" Type="http://schemas.openxmlformats.org/officeDocument/2006/relationships/slideLayout" Target="../slideLayouts/slideLayout2.xml"/><Relationship Id="rId5" Type="http://schemas.openxmlformats.org/officeDocument/2006/relationships/hyperlink" Target="https://doi.org/10.1109/MCOM.001.1900831" TargetMode="External"/><Relationship Id="rId4" Type="http://schemas.openxmlformats.org/officeDocument/2006/relationships/hyperlink" Target="https://doi.org/10.1109/MNET.001.1900664"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doi.org/10.1109/JSAC.2019.2904348" TargetMode="External"/><Relationship Id="rId2" Type="http://schemas.openxmlformats.org/officeDocument/2006/relationships/hyperlink" Target="https://doi.org/10.1145/3298981" TargetMode="External"/><Relationship Id="rId1" Type="http://schemas.openxmlformats.org/officeDocument/2006/relationships/slideLayout" Target="../slideLayouts/slideLayout7.xml"/><Relationship Id="rId4" Type="http://schemas.openxmlformats.org/officeDocument/2006/relationships/hyperlink" Target="https://doi.org/10.1109/JIOT.2016.2579198"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368" name="Google Shape;368;p26"/>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6"/>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2307021" y="1372496"/>
            <a:ext cx="4572000" cy="1200329"/>
          </a:xfrm>
          <a:prstGeom prst="rect">
            <a:avLst/>
          </a:prstGeom>
        </p:spPr>
        <p:txBody>
          <a:bodyPr>
            <a:spAutoFit/>
          </a:bodyPr>
          <a:lstStyle/>
          <a:p>
            <a:pPr algn="ctr">
              <a:lnSpc>
                <a:spcPct val="200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Federated Learning for 6G Networks Navigating Privacy Benefits and Challenges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rPr>
              <a:t>Contents of the presentation</a:t>
            </a:r>
            <a:endParaRPr sz="2400" dirty="0">
              <a:solidFill>
                <a:schemeClr val="tx1"/>
              </a:solidFill>
            </a:endParaRPr>
          </a:p>
        </p:txBody>
      </p:sp>
      <p:sp>
        <p:nvSpPr>
          <p:cNvPr id="385" name="Google Shape;385;p27"/>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7"/>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TextBox 7"/>
          <p:cNvSpPr txBox="1"/>
          <p:nvPr/>
        </p:nvSpPr>
        <p:spPr>
          <a:xfrm>
            <a:off x="1645585" y="1245700"/>
            <a:ext cx="2544418" cy="3693319"/>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Existing and Proposed System</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Project flow</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Research Gap analysis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marL="342900" indent="-342900" algn="just">
              <a:lnSpc>
                <a:spcPct val="150000"/>
              </a:lnSpc>
              <a:buFont typeface="Wingdings" panose="05000000000000000000" pitchFamily="2" charset="2"/>
              <a:buChar char="ü"/>
            </a:pPr>
            <a:endParaRPr lang="en-IN" sz="12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4414920" y="1115782"/>
            <a:ext cx="3728172" cy="2308324"/>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1. Data Description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2. EDA Explanation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3. Preprocessing steps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Performance comparison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Future Scope</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Conclusion</a:t>
            </a:r>
          </a:p>
          <a:p>
            <a:pPr marL="342900" lvl="1" indent="-342900" algn="just">
              <a:lnSpc>
                <a:spcPct val="150000"/>
              </a:lnSpc>
              <a:buFont typeface="Wingdings" panose="05000000000000000000" pitchFamily="2" charset="2"/>
              <a:buChar char="ü"/>
            </a:pPr>
            <a:r>
              <a:rPr lang="en-US" sz="1200" dirty="0" err="1">
                <a:latin typeface="Times New Roman" panose="02020603050405020304" pitchFamily="18" charset="0"/>
                <a:cs typeface="Times New Roman" panose="02020603050405020304" pitchFamily="18" charset="0"/>
              </a:rPr>
              <a:t>refferences</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788934" y="371079"/>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59" name="Google Shape;659;p28"/>
          <p:cNvSpPr/>
          <p:nvPr/>
        </p:nvSpPr>
        <p:spPr>
          <a:xfrm>
            <a:off x="947688" y="36378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249916" y="987865"/>
            <a:ext cx="6893845" cy="3285323"/>
          </a:xfrm>
          <a:prstGeom prst="rect">
            <a:avLst/>
          </a:prstGeom>
          <a:noFill/>
        </p:spPr>
        <p:txBody>
          <a:bodyPr wrap="square" rtlCol="0">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The next generation of wireless communication, 6G, is expected to interconnect billions of ultra‑intelligent devices and deliver sub‑millisecond latency for immersive applications such as holographic telepresence and autonomous mobility. Traditional cloud‑centric AI pipelines cannot scale to this setting because continuous raw‑data transfer overloads backhaul links and exposes sensitive user information. To address this gap, our project implements a </a:t>
            </a:r>
            <a:r>
              <a:rPr lang="en-IN" sz="1400" b="1" dirty="0">
                <a:latin typeface="Times New Roman" panose="02020603050405020304" pitchFamily="18" charset="0"/>
                <a:cs typeface="Times New Roman" panose="02020603050405020304" pitchFamily="18" charset="0"/>
              </a:rPr>
              <a:t>federated‑learning (FL) framework</a:t>
            </a:r>
            <a:r>
              <a:rPr lang="en-IN" sz="1400" dirty="0">
                <a:latin typeface="Times New Roman" panose="02020603050405020304" pitchFamily="18" charset="0"/>
                <a:cs typeface="Times New Roman" panose="02020603050405020304" pitchFamily="18" charset="0"/>
              </a:rPr>
              <a:t> in which edge devices train models locally and share only encrypted weight updates with a coordinating server. We prototype the concept in a Flask web application that allows users to register, upload sample beamforming datasets, choose among six candidate algorithms (Random Forest, FNN, CNN, MLP,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Decision Tree), and receive real‑time prediction feedback on 6G beam‑forming success</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10551" y="411883"/>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Project Description</a:t>
            </a:r>
            <a:endParaRPr sz="2400"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148328" y="1455033"/>
            <a:ext cx="7438623" cy="2354491"/>
          </a:xfrm>
          <a:prstGeom prst="rect">
            <a:avLst/>
          </a:prstGeom>
          <a:noFill/>
        </p:spPr>
        <p:txBody>
          <a:bodyPr wrap="square" rtlCol="0">
            <a:spAutoFit/>
          </a:bodyPr>
          <a:lstStyle/>
          <a:p>
            <a:pPr algn="just"/>
            <a:r>
              <a:rPr lang="en-IN" sz="1400" dirty="0">
                <a:latin typeface="Times New Roman" panose="02020603050405020304" pitchFamily="18" charset="0"/>
                <a:cs typeface="Times New Roman" panose="02020603050405020304" pitchFamily="18" charset="0"/>
              </a:rPr>
              <a:t>The back‑end simulates an FL round by averaging locally derived model parameters, demonstrating up to </a:t>
            </a:r>
            <a:r>
              <a:rPr lang="en-IN" sz="1400" b="1" dirty="0">
                <a:latin typeface="Times New Roman" panose="02020603050405020304" pitchFamily="18" charset="0"/>
                <a:cs typeface="Times New Roman" panose="02020603050405020304" pitchFamily="18" charset="0"/>
              </a:rPr>
              <a:t>100 % accuracy</a:t>
            </a:r>
            <a:r>
              <a:rPr lang="en-IN" sz="1400" dirty="0">
                <a:latin typeface="Times New Roman" panose="02020603050405020304" pitchFamily="18" charset="0"/>
                <a:cs typeface="Times New Roman" panose="02020603050405020304" pitchFamily="18" charset="0"/>
              </a:rPr>
              <a:t> for tree‑based ensembles while preserving data sovereignty. We also quantify communication savings, latency reductions, and resistance to data‑reconstruction attacks compared with centralized training. Nonetheless, challenges emerge: </a:t>
            </a:r>
            <a:r>
              <a:rPr lang="en-IN" sz="1400" b="1" dirty="0">
                <a:latin typeface="Times New Roman" panose="02020603050405020304" pitchFamily="18" charset="0"/>
                <a:cs typeface="Times New Roman" panose="02020603050405020304" pitchFamily="18" charset="0"/>
              </a:rPr>
              <a:t>non‑IID data distributions, straggler devices, model poisoning,</a:t>
            </a:r>
            <a:r>
              <a:rPr lang="en-IN" sz="1400" dirty="0">
                <a:latin typeface="Times New Roman" panose="02020603050405020304" pitchFamily="18" charset="0"/>
                <a:cs typeface="Times New Roman" panose="02020603050405020304" pitchFamily="18" charset="0"/>
              </a:rPr>
              <a:t> and the need for fine‑grained incentive mechanisms. Our findings suggest that integrating differential privacy, secure aggregation, and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‑based audit trails will be crucial for trustworthy, large‑scale FL deployment in 6G ecosystems.</a:t>
            </a:r>
          </a:p>
          <a:p>
            <a:pPr algn="just"/>
            <a:r>
              <a:rPr lang="en-IN" sz="1400" b="1" dirty="0">
                <a:latin typeface="Times New Roman" panose="02020603050405020304" pitchFamily="18" charset="0"/>
                <a:cs typeface="Times New Roman" panose="02020603050405020304" pitchFamily="18" charset="0"/>
              </a:rPr>
              <a:t>Keywords:</a:t>
            </a:r>
            <a:r>
              <a:rPr lang="en-IN" sz="1400" dirty="0">
                <a:latin typeface="Times New Roman" panose="02020603050405020304" pitchFamily="18" charset="0"/>
                <a:cs typeface="Times New Roman" panose="02020603050405020304" pitchFamily="18" charset="0"/>
              </a:rPr>
              <a:t> 6G, Federated Learning, Edge AI, Privacy‑Preserving Training, Beamforming Prediction, Secure Aggregation</a:t>
            </a:r>
          </a:p>
          <a:p>
            <a:pPr algn="just">
              <a:lnSpc>
                <a:spcPct val="150000"/>
              </a:lnSpc>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10551" y="411883"/>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Problem Statement</a:t>
            </a:r>
            <a:endParaRPr sz="2400"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263149" y="1307100"/>
            <a:ext cx="7166147" cy="3108543"/>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With the rise of </a:t>
            </a:r>
            <a:r>
              <a:rPr lang="en-US" sz="1400" b="1" dirty="0">
                <a:latin typeface="Times New Roman" panose="02020603050405020304" pitchFamily="18" charset="0"/>
                <a:cs typeface="Times New Roman" panose="02020603050405020304" pitchFamily="18" charset="0"/>
              </a:rPr>
              <a:t>6G communication systems</a:t>
            </a:r>
            <a:r>
              <a:rPr lang="en-US" sz="1400" dirty="0">
                <a:latin typeface="Times New Roman" panose="02020603050405020304" pitchFamily="18" charset="0"/>
                <a:cs typeface="Times New Roman" panose="02020603050405020304" pitchFamily="18" charset="0"/>
              </a:rPr>
              <a:t>, there is a growing need for real-time intelligence at the network edge while ensuring data privacy, low latency, and minimal network congestion. Traditional centralized AI models require large-scale raw data transfer to cloud servers, creating </a:t>
            </a:r>
            <a:r>
              <a:rPr lang="en-US" sz="1400" b="1" dirty="0">
                <a:latin typeface="Times New Roman" panose="02020603050405020304" pitchFamily="18" charset="0"/>
                <a:cs typeface="Times New Roman" panose="02020603050405020304" pitchFamily="18" charset="0"/>
              </a:rPr>
              <a:t>privacy risks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increased latency</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network bottlenecks</a:t>
            </a:r>
            <a:r>
              <a:rPr lang="en-US" sz="1400" dirty="0">
                <a:latin typeface="Times New Roman" panose="02020603050405020304" pitchFamily="18" charset="0"/>
                <a:cs typeface="Times New Roman" panose="02020603050405020304" pitchFamily="18" charset="0"/>
              </a:rPr>
              <a:t>, especially in ultra-dense and delay-sensitive 6G scenarios. Additionally, sending sensitive data like beamforming parameters across networks poses serious compliance and ethical challenges. These factors render centralized architectures unsuitable for the demands of 6G. The problem lies in developing an </a:t>
            </a:r>
            <a:r>
              <a:rPr lang="en-US" sz="1400" b="1" dirty="0">
                <a:latin typeface="Times New Roman" panose="02020603050405020304" pitchFamily="18" charset="0"/>
                <a:cs typeface="Times New Roman" panose="02020603050405020304" pitchFamily="18" charset="0"/>
              </a:rPr>
              <a:t>AI-based solution</a:t>
            </a:r>
            <a:r>
              <a:rPr lang="en-US" sz="1400" dirty="0">
                <a:latin typeface="Times New Roman" panose="02020603050405020304" pitchFamily="18" charset="0"/>
                <a:cs typeface="Times New Roman" panose="02020603050405020304" pitchFamily="18" charset="0"/>
              </a:rPr>
              <a:t> that maintains performance without compromising data ownership or overloading communication links. This project addresses this problem by designing a </a:t>
            </a:r>
            <a:r>
              <a:rPr lang="en-US" sz="1400" b="1" dirty="0">
                <a:latin typeface="Times New Roman" panose="02020603050405020304" pitchFamily="18" charset="0"/>
                <a:cs typeface="Times New Roman" panose="02020603050405020304" pitchFamily="18" charset="0"/>
              </a:rPr>
              <a:t>Federated Learning-based solution</a:t>
            </a:r>
            <a:r>
              <a:rPr lang="en-US" sz="1400" dirty="0">
                <a:latin typeface="Times New Roman" panose="02020603050405020304" pitchFamily="18" charset="0"/>
                <a:cs typeface="Times New Roman" panose="02020603050405020304" pitchFamily="18" charset="0"/>
              </a:rPr>
              <a:t> where model training occurs on-device, and only encrypted updates are shared with a central aggregator. This approach drastically reduces privacy exposure and network usage while maintaining high model accuracy, scalability, and adaptability in heterogeneous network environments.</a:t>
            </a:r>
          </a:p>
          <a:p>
            <a:pPr algn="just"/>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latin typeface="Times New Roman" panose="02020603050405020304" pitchFamily="18" charset="0"/>
                <a:cs typeface="Times New Roman" panose="02020603050405020304" pitchFamily="18" charset="0"/>
              </a:rPr>
              <a:t>Objective of the Project</a:t>
            </a:r>
            <a:endParaRPr sz="2400" dirty="0">
              <a:solidFill>
                <a:schemeClr val="tx1"/>
              </a:solidFill>
              <a:latin typeface="Times New Roman" panose="02020603050405020304" pitchFamily="18" charset="0"/>
              <a:cs typeface="Times New Roman" panose="02020603050405020304" pitchFamily="18" charset="0"/>
            </a:endParaRPr>
          </a:p>
        </p:txBody>
      </p:sp>
      <p:sp>
        <p:nvSpPr>
          <p:cNvPr id="3" name="Text Placeholder 2"/>
          <p:cNvSpPr>
            <a:spLocks noGrp="1" noChangeArrowheads="1"/>
          </p:cNvSpPr>
          <p:nvPr>
            <p:ph type="body" idx="1"/>
          </p:nvPr>
        </p:nvSpPr>
        <p:spPr bwMode="auto">
          <a:xfrm>
            <a:off x="1070598" y="1395153"/>
            <a:ext cx="7358402"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146050" indent="0" algn="just">
              <a:buNone/>
            </a:pPr>
            <a:r>
              <a:rPr lang="en-US" sz="1400" dirty="0">
                <a:solidFill>
                  <a:schemeClr val="tx1"/>
                </a:solidFill>
                <a:latin typeface="Times New Roman" panose="02020603050405020304" pitchFamily="18" charset="0"/>
                <a:cs typeface="Times New Roman" panose="02020603050405020304" pitchFamily="18" charset="0"/>
              </a:rPr>
              <a:t>The objective of this project is to design and implement a privacy-preserving, decentralized machine learning system tailored specifically for the demanding environment of 6G networks. With the help of Federated Learning (FL), the system enables multiple edge devices to collaboratively train machine learning models without sharing their raw data, thereby preserving user privacy and reducing network congestion. The project involves developing a secure and interactive web application using Flask, where users can register, upload beamforming datasets, select from multiple machine learning algorithms, and receive real-time prediction results. The backend simulates FL rounds by averaging encrypted model weight updates from virtual edge clients. Additionally, the project evaluates model performance, communication savings, and latency improvements when compared to traditional centralized AI models. It also aims to explore potential challenges such as non-IID data, straggler devices, and model poisoning attacks. Ultimately, the system demonstrates the feasibility and benefits of Federated Learning for future 6G-enabled intelligent infrastructure.</a:t>
            </a:r>
            <a:endParaRPr lang="en-IN" sz="1400" dirty="0">
              <a:solidFill>
                <a:schemeClr val="tx1"/>
              </a:solidFill>
              <a:latin typeface="Times New Roman" panose="02020603050405020304" pitchFamily="18" charset="0"/>
              <a:cs typeface="Times New Roman" panose="02020603050405020304" pitchFamily="18" charset="0"/>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90" name="Google Shape;690;p31"/>
          <p:cNvSpPr txBox="1">
            <a:spLocks noGrp="1"/>
          </p:cNvSpPr>
          <p:nvPr>
            <p:ph type="title"/>
          </p:nvPr>
        </p:nvSpPr>
        <p:spPr>
          <a:xfrm>
            <a:off x="2679370" y="388629"/>
            <a:ext cx="3448200" cy="63223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Scope</a:t>
            </a:r>
            <a:endParaRPr sz="2400" dirty="0">
              <a:latin typeface="Times New Roman" panose="02020603050405020304" pitchFamily="18" charset="0"/>
              <a:cs typeface="Times New Roman" panose="02020603050405020304" pitchFamily="18" charset="0"/>
            </a:endParaRPr>
          </a:p>
        </p:txBody>
      </p:sp>
      <p:sp>
        <p:nvSpPr>
          <p:cNvPr id="859" name="Google Shape;859;p31"/>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1095845" y="1307396"/>
            <a:ext cx="7141840" cy="289310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This project focuses on developing and validating a prototype FL system suitable for </a:t>
            </a:r>
            <a:r>
              <a:rPr lang="en-US" sz="1400" b="1" dirty="0">
                <a:latin typeface="Times New Roman" panose="02020603050405020304" pitchFamily="18" charset="0"/>
                <a:cs typeface="Times New Roman" panose="02020603050405020304" pitchFamily="18" charset="0"/>
              </a:rPr>
              <a:t>next-generation 6G networks</a:t>
            </a:r>
            <a:r>
              <a:rPr lang="en-US" sz="1400" dirty="0">
                <a:latin typeface="Times New Roman" panose="02020603050405020304" pitchFamily="18" charset="0"/>
                <a:cs typeface="Times New Roman" panose="02020603050405020304" pitchFamily="18" charset="0"/>
              </a:rPr>
              <a:t>, with an emphasis on </a:t>
            </a:r>
            <a:r>
              <a:rPr lang="en-US" sz="1400" b="1" dirty="0">
                <a:latin typeface="Times New Roman" panose="02020603050405020304" pitchFamily="18" charset="0"/>
                <a:cs typeface="Times New Roman" panose="02020603050405020304" pitchFamily="18" charset="0"/>
              </a:rPr>
              <a:t>privacy, performance, and scalability</a:t>
            </a:r>
            <a:r>
              <a:rPr lang="en-US" sz="1400" dirty="0">
                <a:latin typeface="Times New Roman" panose="02020603050405020304" pitchFamily="18" charset="0"/>
                <a:cs typeface="Times New Roman" panose="02020603050405020304" pitchFamily="18" charset="0"/>
              </a:rPr>
              <a:t>. The scope includes building a complete pipeline: user registration and authentication, dataset upload interface, machine learning model selection, and a backend capable of simulating federated model aggregation. Six algorithms—including Random Forest, Decision Tree, FNN, CNN, MLP, and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—are integrated for evaluation. The prototype will assess beamforming success predictions using edge-based model training while highlighting network load reductions and data security benefits. The system does not rely on real distributed edge hardware but simulates FL behavior to demonstrate core functionality. Key out-of-scope areas include real-time deployment on physical edge networks, hardware acceleration (e.g., GPU), and advanced encryption schemes like homomorphic encryption. However, future extensions can include </a:t>
            </a:r>
            <a:r>
              <a:rPr lang="en-US" sz="1400" dirty="0" err="1">
                <a:latin typeface="Times New Roman" panose="02020603050405020304" pitchFamily="18" charset="0"/>
                <a:cs typeface="Times New Roman" panose="02020603050405020304" pitchFamily="18" charset="0"/>
              </a:rPr>
              <a:t>blockchain</a:t>
            </a:r>
            <a:r>
              <a:rPr lang="en-US" sz="1400" dirty="0">
                <a:latin typeface="Times New Roman" panose="02020603050405020304" pitchFamily="18" charset="0"/>
                <a:cs typeface="Times New Roman" panose="02020603050405020304" pitchFamily="18" charset="0"/>
              </a:rPr>
              <a:t> integration and secure multiparty computation. This project lays a </a:t>
            </a:r>
            <a:r>
              <a:rPr lang="en-US" sz="1400" b="1" dirty="0">
                <a:latin typeface="Times New Roman" panose="02020603050405020304" pitchFamily="18" charset="0"/>
                <a:cs typeface="Times New Roman" panose="02020603050405020304" pitchFamily="18" charset="0"/>
              </a:rPr>
              <a:t>foundational framework</a:t>
            </a:r>
            <a:r>
              <a:rPr lang="en-US" sz="1400" dirty="0">
                <a:latin typeface="Times New Roman" panose="02020603050405020304" pitchFamily="18" charset="0"/>
                <a:cs typeface="Times New Roman" panose="02020603050405020304" pitchFamily="18" charset="0"/>
              </a:rPr>
              <a:t> for practical FL in 6G telecom applications.</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8584" y="96015"/>
            <a:ext cx="5067300" cy="609600"/>
          </a:xfrm>
        </p:spPr>
        <p:txBody>
          <a:bodyPr/>
          <a:lstStyle/>
          <a:p>
            <a:r>
              <a:rPr lang="en-GB" sz="2400" dirty="0">
                <a:latin typeface="Times New Roman" panose="02020603050405020304" pitchFamily="18" charset="0"/>
                <a:cs typeface="Times New Roman" panose="02020603050405020304" pitchFamily="18" charset="0"/>
              </a:rPr>
              <a:t>Literature Survey</a:t>
            </a:r>
            <a:endParaRPr lang="en-IN" sz="2400"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213547442"/>
              </p:ext>
            </p:extLst>
          </p:nvPr>
        </p:nvGraphicFramePr>
        <p:xfrm>
          <a:off x="621042" y="906463"/>
          <a:ext cx="7819696" cy="3400466"/>
        </p:xfrm>
        <a:graphic>
          <a:graphicData uri="http://schemas.openxmlformats.org/drawingml/2006/table">
            <a:tbl>
              <a:tblPr>
                <a:tableStyleId>{35758FB7-9AC5-4552-8A53-C91805E547FA}</a:tableStyleId>
              </a:tblPr>
              <a:tblGrid>
                <a:gridCol w="966020">
                  <a:extLst>
                    <a:ext uri="{9D8B030D-6E8A-4147-A177-3AD203B41FA5}">
                      <a16:colId xmlns:a16="http://schemas.microsoft.com/office/drawing/2014/main" val="568571942"/>
                    </a:ext>
                  </a:extLst>
                </a:gridCol>
                <a:gridCol w="1681655">
                  <a:extLst>
                    <a:ext uri="{9D8B030D-6E8A-4147-A177-3AD203B41FA5}">
                      <a16:colId xmlns:a16="http://schemas.microsoft.com/office/drawing/2014/main" val="3470350794"/>
                    </a:ext>
                  </a:extLst>
                </a:gridCol>
                <a:gridCol w="2301766">
                  <a:extLst>
                    <a:ext uri="{9D8B030D-6E8A-4147-A177-3AD203B41FA5}">
                      <a16:colId xmlns:a16="http://schemas.microsoft.com/office/drawing/2014/main" val="1186975500"/>
                    </a:ext>
                  </a:extLst>
                </a:gridCol>
                <a:gridCol w="2870255">
                  <a:extLst>
                    <a:ext uri="{9D8B030D-6E8A-4147-A177-3AD203B41FA5}">
                      <a16:colId xmlns:a16="http://schemas.microsoft.com/office/drawing/2014/main" val="809873316"/>
                    </a:ext>
                  </a:extLst>
                </a:gridCol>
              </a:tblGrid>
              <a:tr h="344230">
                <a:tc>
                  <a:txBody>
                    <a:bodyPr/>
                    <a:lstStyle/>
                    <a:p>
                      <a:r>
                        <a:rPr lang="en-IN" sz="1000" b="1"/>
                        <a:t>Year</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a:t>Author(s)</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a:t>Title</a:t>
                      </a:r>
                      <a:endParaRPr lang="en-IN" sz="1000" b="1">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b="1" dirty="0"/>
                        <a:t>Key Contributions</a:t>
                      </a:r>
                      <a:endParaRPr lang="en-IN" sz="1000" b="1" dirty="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893889367"/>
                  </a:ext>
                </a:extLst>
              </a:tr>
              <a:tr h="620509">
                <a:tc>
                  <a:txBody>
                    <a:bodyPr/>
                    <a:lstStyle/>
                    <a:p>
                      <a:r>
                        <a:rPr lang="en-IN" sz="1000"/>
                        <a:t>2023</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Xu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Blockchain-empowered Federated Learning for 6G</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Combines FL with blockchain for traceability and trust in 6G; emphasizes audit trails and secure updates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028779284"/>
                  </a:ext>
                </a:extLst>
              </a:tr>
              <a:tr h="537156">
                <a:tc>
                  <a:txBody>
                    <a:bodyPr/>
                    <a:lstStyle/>
                    <a:p>
                      <a:r>
                        <a:rPr lang="en-IN" sz="1000"/>
                        <a:t>2022</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Yang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Federated Learning for Edge Intelligence in 6G Networks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Overview of enabling FL in 6G, covers latency, non-IID issues, and model convergence</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3941848296"/>
                  </a:ext>
                </a:extLst>
              </a:tr>
              <a:tr h="370454">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Luong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dirty="0"/>
                        <a:t>Federated Learning in 6G: A Survey on Enabling Technologies</a:t>
                      </a:r>
                      <a:endParaRPr lang="en-US"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In-depth survey on FL challenges and architectures in 6G ecosystems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2222576387"/>
                  </a:ext>
                </a:extLst>
              </a:tr>
              <a:tr h="453805">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dirty="0"/>
                        <a:t>Wang et al.</a:t>
                      </a:r>
                      <a:endParaRPr lang="en-IN" sz="1000" dirty="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Adaptive Federated Learning in Resource Constrained Edge Systems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Proposes adaptive scheduling strategies to handle client heterogeneity and stragglers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1413878282"/>
                  </a:ext>
                </a:extLst>
              </a:tr>
              <a:tr h="537156">
                <a:tc>
                  <a:txBody>
                    <a:bodyPr/>
                    <a:lstStyle/>
                    <a:p>
                      <a:r>
                        <a:rPr lang="en-IN" sz="1000"/>
                        <a:t>2021</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a:t>Bonawitz et al.</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Practical Secure Aggregation for Privacy-Preserving ML</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Introduces secure aggregation protocols enabling privacy-preserving global model updates</a:t>
                      </a:r>
                      <a:endParaRPr lang="en-US" sz="100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3099838946"/>
                  </a:ext>
                </a:extLst>
              </a:tr>
              <a:tr h="537156">
                <a:tc>
                  <a:txBody>
                    <a:bodyPr/>
                    <a:lstStyle/>
                    <a:p>
                      <a:r>
                        <a:rPr lang="en-IN" sz="1000"/>
                        <a:t>2020</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IN" sz="1000"/>
                        <a:t>Zhang et al.</a:t>
                      </a:r>
                      <a:endParaRPr lang="en-IN"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a:t>Federated Learning for Edge Intelligence: Applications and Challenges</a:t>
                      </a:r>
                      <a:endParaRPr lang="en-US" sz="1000">
                        <a:latin typeface="Times New Roman" panose="02020603050405020304" pitchFamily="18" charset="0"/>
                        <a:cs typeface="Times New Roman" panose="02020603050405020304" pitchFamily="18" charset="0"/>
                      </a:endParaRPr>
                    </a:p>
                  </a:txBody>
                  <a:tcPr marL="17065" marR="17065" marT="8533" marB="8533" anchor="ctr"/>
                </a:tc>
                <a:tc>
                  <a:txBody>
                    <a:bodyPr/>
                    <a:lstStyle/>
                    <a:p>
                      <a:r>
                        <a:rPr lang="en-US" sz="1000" dirty="0"/>
                        <a:t>Highlights edge-based FL deployment, communication savings, and scalability</a:t>
                      </a:r>
                      <a:endParaRPr lang="en-US" sz="1000" dirty="0">
                        <a:latin typeface="Times New Roman" panose="02020603050405020304" pitchFamily="18" charset="0"/>
                        <a:cs typeface="Times New Roman" panose="02020603050405020304" pitchFamily="18" charset="0"/>
                      </a:endParaRPr>
                    </a:p>
                  </a:txBody>
                  <a:tcPr marL="17065" marR="17065" marT="8533" marB="8533" anchor="ctr"/>
                </a:tc>
                <a:extLst>
                  <a:ext uri="{0D108BD9-81ED-4DB2-BD59-A6C34878D82A}">
                    <a16:rowId xmlns:a16="http://schemas.microsoft.com/office/drawing/2014/main" val="2000812925"/>
                  </a:ext>
                </a:extLst>
              </a:tr>
            </a:tbl>
          </a:graphicData>
        </a:graphic>
      </p:graphicFrame>
      <p:sp>
        <p:nvSpPr>
          <p:cNvPr id="5" name="Rectangle 1"/>
          <p:cNvSpPr>
            <a:spLocks noChangeArrowheads="1"/>
          </p:cNvSpPr>
          <p:nvPr/>
        </p:nvSpPr>
        <p:spPr bwMode="auto">
          <a:xfrm>
            <a:off x="3868738" y="906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022066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86561710"/>
              </p:ext>
            </p:extLst>
          </p:nvPr>
        </p:nvGraphicFramePr>
        <p:xfrm>
          <a:off x="579933" y="622720"/>
          <a:ext cx="7788164" cy="3570906"/>
        </p:xfrm>
        <a:graphic>
          <a:graphicData uri="http://schemas.openxmlformats.org/drawingml/2006/table">
            <a:tbl>
              <a:tblPr>
                <a:tableStyleId>{35758FB7-9AC5-4552-8A53-C91805E547FA}</a:tableStyleId>
              </a:tblPr>
              <a:tblGrid>
                <a:gridCol w="1947041">
                  <a:extLst>
                    <a:ext uri="{9D8B030D-6E8A-4147-A177-3AD203B41FA5}">
                      <a16:colId xmlns:a16="http://schemas.microsoft.com/office/drawing/2014/main" val="3382685910"/>
                    </a:ext>
                  </a:extLst>
                </a:gridCol>
                <a:gridCol w="1477467">
                  <a:extLst>
                    <a:ext uri="{9D8B030D-6E8A-4147-A177-3AD203B41FA5}">
                      <a16:colId xmlns:a16="http://schemas.microsoft.com/office/drawing/2014/main" val="496245000"/>
                    </a:ext>
                  </a:extLst>
                </a:gridCol>
                <a:gridCol w="1849821">
                  <a:extLst>
                    <a:ext uri="{9D8B030D-6E8A-4147-A177-3AD203B41FA5}">
                      <a16:colId xmlns:a16="http://schemas.microsoft.com/office/drawing/2014/main" val="4250502192"/>
                    </a:ext>
                  </a:extLst>
                </a:gridCol>
                <a:gridCol w="2513835">
                  <a:extLst>
                    <a:ext uri="{9D8B030D-6E8A-4147-A177-3AD203B41FA5}">
                      <a16:colId xmlns:a16="http://schemas.microsoft.com/office/drawing/2014/main" val="730018630"/>
                    </a:ext>
                  </a:extLst>
                </a:gridCol>
              </a:tblGrid>
              <a:tr h="336895">
                <a:tc>
                  <a:txBody>
                    <a:bodyPr/>
                    <a:lstStyle/>
                    <a:p>
                      <a:r>
                        <a:rPr lang="en-IN" sz="1000" b="1" dirty="0">
                          <a:solidFill>
                            <a:schemeClr val="bg1"/>
                          </a:solidFill>
                        </a:rPr>
                        <a:t>Year</a:t>
                      </a:r>
                    </a:p>
                  </a:txBody>
                  <a:tcPr marL="17065" marR="17065" marT="8533" marB="8533" anchor="ctr"/>
                </a:tc>
                <a:tc>
                  <a:txBody>
                    <a:bodyPr/>
                    <a:lstStyle/>
                    <a:p>
                      <a:r>
                        <a:rPr lang="en-IN" sz="1000" b="1">
                          <a:solidFill>
                            <a:schemeClr val="bg1"/>
                          </a:solidFill>
                        </a:rPr>
                        <a:t>Author(s)</a:t>
                      </a:r>
                    </a:p>
                  </a:txBody>
                  <a:tcPr marL="17065" marR="17065" marT="8533" marB="8533" anchor="ctr"/>
                </a:tc>
                <a:tc>
                  <a:txBody>
                    <a:bodyPr/>
                    <a:lstStyle/>
                    <a:p>
                      <a:r>
                        <a:rPr lang="en-IN" sz="1000" b="1">
                          <a:solidFill>
                            <a:schemeClr val="bg1"/>
                          </a:solidFill>
                        </a:rPr>
                        <a:t>Title</a:t>
                      </a:r>
                    </a:p>
                  </a:txBody>
                  <a:tcPr marL="17065" marR="17065" marT="8533" marB="8533" anchor="ctr"/>
                </a:tc>
                <a:tc>
                  <a:txBody>
                    <a:bodyPr/>
                    <a:lstStyle/>
                    <a:p>
                      <a:r>
                        <a:rPr lang="en-IN" sz="1000" b="1" dirty="0">
                          <a:solidFill>
                            <a:schemeClr val="bg1"/>
                          </a:solidFill>
                        </a:rPr>
                        <a:t>Key Contributions</a:t>
                      </a:r>
                    </a:p>
                  </a:txBody>
                  <a:tcPr marL="17065" marR="17065" marT="8533" marB="8533" anchor="ctr"/>
                </a:tc>
                <a:extLst>
                  <a:ext uri="{0D108BD9-81ED-4DB2-BD59-A6C34878D82A}">
                    <a16:rowId xmlns:a16="http://schemas.microsoft.com/office/drawing/2014/main" val="2379384189"/>
                  </a:ext>
                </a:extLst>
              </a:tr>
              <a:tr h="528733">
                <a:tc>
                  <a:txBody>
                    <a:bodyPr/>
                    <a:lstStyle/>
                    <a:p>
                      <a:r>
                        <a:rPr lang="en-IN" sz="1000" dirty="0"/>
                        <a:t>2020</a:t>
                      </a:r>
                    </a:p>
                  </a:txBody>
                  <a:tcPr marL="17065" marR="17065" marT="8533" marB="8533" anchor="ctr"/>
                </a:tc>
                <a:tc>
                  <a:txBody>
                    <a:bodyPr/>
                    <a:lstStyle/>
                    <a:p>
                      <a:r>
                        <a:rPr lang="en-IN" sz="1000" dirty="0"/>
                        <a:t>Zhu et al.</a:t>
                      </a:r>
                    </a:p>
                  </a:txBody>
                  <a:tcPr marL="17065" marR="17065" marT="8533" marB="8533" anchor="ctr"/>
                </a:tc>
                <a:tc>
                  <a:txBody>
                    <a:bodyPr/>
                    <a:lstStyle/>
                    <a:p>
                      <a:r>
                        <a:rPr lang="en-US" sz="1000"/>
                        <a:t>Broadband Analog Aggregation for Low-Latency FL</a:t>
                      </a:r>
                    </a:p>
                  </a:txBody>
                  <a:tcPr marL="17065" marR="17065" marT="8533" marB="8533" anchor="ctr"/>
                </a:tc>
                <a:tc>
                  <a:txBody>
                    <a:bodyPr/>
                    <a:lstStyle/>
                    <a:p>
                      <a:r>
                        <a:rPr lang="en-IN" sz="1000" dirty="0"/>
                        <a:t>Describes </a:t>
                      </a:r>
                      <a:r>
                        <a:rPr lang="en-IN" sz="1000" dirty="0" err="1"/>
                        <a:t>analog</a:t>
                      </a:r>
                      <a:r>
                        <a:rPr lang="en-IN" sz="1000" dirty="0"/>
                        <a:t> model aggregation method to reduce FL latency—suitable for ultra-fast 6G environments</a:t>
                      </a:r>
                    </a:p>
                  </a:txBody>
                  <a:tcPr marL="17065" marR="17065" marT="8533" marB="8533" anchor="ctr"/>
                </a:tc>
                <a:extLst>
                  <a:ext uri="{0D108BD9-81ED-4DB2-BD59-A6C34878D82A}">
                    <a16:rowId xmlns:a16="http://schemas.microsoft.com/office/drawing/2014/main" val="4191495355"/>
                  </a:ext>
                </a:extLst>
              </a:tr>
              <a:tr h="528733">
                <a:tc>
                  <a:txBody>
                    <a:bodyPr/>
                    <a:lstStyle/>
                    <a:p>
                      <a:r>
                        <a:rPr lang="en-IN" sz="1000" dirty="0"/>
                        <a:t>2019</a:t>
                      </a:r>
                    </a:p>
                  </a:txBody>
                  <a:tcPr marL="17065" marR="17065" marT="8533" marB="8533" anchor="ctr"/>
                </a:tc>
                <a:tc>
                  <a:txBody>
                    <a:bodyPr/>
                    <a:lstStyle/>
                    <a:p>
                      <a:r>
                        <a:rPr lang="en-IN" sz="1000"/>
                        <a:t>Kairouz et al.</a:t>
                      </a:r>
                    </a:p>
                  </a:txBody>
                  <a:tcPr marL="17065" marR="17065" marT="8533" marB="8533" anchor="ctr"/>
                </a:tc>
                <a:tc>
                  <a:txBody>
                    <a:bodyPr/>
                    <a:lstStyle/>
                    <a:p>
                      <a:r>
                        <a:rPr lang="en-US" sz="1000"/>
                        <a:t>Advances and Open Problems in Federated Learning</a:t>
                      </a:r>
                    </a:p>
                  </a:txBody>
                  <a:tcPr marL="17065" marR="17065" marT="8533" marB="8533" anchor="ctr"/>
                </a:tc>
                <a:tc>
                  <a:txBody>
                    <a:bodyPr/>
                    <a:lstStyle/>
                    <a:p>
                      <a:r>
                        <a:rPr lang="en-US" sz="1000"/>
                        <a:t>Comprehensive roadmap on FL challenges including data privacy, poisoning, and scalability</a:t>
                      </a:r>
                    </a:p>
                  </a:txBody>
                  <a:tcPr marL="17065" marR="17065" marT="8533" marB="8533" anchor="ctr"/>
                </a:tc>
                <a:extLst>
                  <a:ext uri="{0D108BD9-81ED-4DB2-BD59-A6C34878D82A}">
                    <a16:rowId xmlns:a16="http://schemas.microsoft.com/office/drawing/2014/main" val="2814961437"/>
                  </a:ext>
                </a:extLst>
              </a:tr>
              <a:tr h="590346">
                <a:tc>
                  <a:txBody>
                    <a:bodyPr/>
                    <a:lstStyle/>
                    <a:p>
                      <a:r>
                        <a:rPr lang="en-IN" sz="1000" dirty="0"/>
                        <a:t>2019</a:t>
                      </a:r>
                    </a:p>
                  </a:txBody>
                  <a:tcPr marL="17065" marR="17065" marT="8533" marB="8533" anchor="ctr"/>
                </a:tc>
                <a:tc>
                  <a:txBody>
                    <a:bodyPr/>
                    <a:lstStyle/>
                    <a:p>
                      <a:r>
                        <a:rPr lang="en-IN" sz="1000"/>
                        <a:t>Abadi et al.</a:t>
                      </a:r>
                    </a:p>
                  </a:txBody>
                  <a:tcPr marL="17065" marR="17065" marT="8533" marB="8533" anchor="ctr"/>
                </a:tc>
                <a:tc>
                  <a:txBody>
                    <a:bodyPr/>
                    <a:lstStyle/>
                    <a:p>
                      <a:r>
                        <a:rPr lang="en-US" sz="1000"/>
                        <a:t>Deep Learning with Differential Privacy</a:t>
                      </a:r>
                    </a:p>
                  </a:txBody>
                  <a:tcPr marL="17065" marR="17065" marT="8533" marB="8533" anchor="ctr"/>
                </a:tc>
                <a:tc>
                  <a:txBody>
                    <a:bodyPr/>
                    <a:lstStyle/>
                    <a:p>
                      <a:r>
                        <a:rPr lang="en-US" sz="1000"/>
                        <a:t>Proposes a differential privacy mechanism to protect model updates in decentralized training</a:t>
                      </a:r>
                    </a:p>
                  </a:txBody>
                  <a:tcPr marL="17065" marR="17065" marT="8533" marB="8533" anchor="ctr"/>
                </a:tc>
                <a:extLst>
                  <a:ext uri="{0D108BD9-81ED-4DB2-BD59-A6C34878D82A}">
                    <a16:rowId xmlns:a16="http://schemas.microsoft.com/office/drawing/2014/main" val="3360184607"/>
                  </a:ext>
                </a:extLst>
              </a:tr>
              <a:tr h="528733">
                <a:tc>
                  <a:txBody>
                    <a:bodyPr/>
                    <a:lstStyle/>
                    <a:p>
                      <a:r>
                        <a:rPr lang="en-IN" sz="1000"/>
                        <a:t>2018</a:t>
                      </a:r>
                    </a:p>
                  </a:txBody>
                  <a:tcPr marL="17065" marR="17065" marT="8533" marB="8533" anchor="ctr"/>
                </a:tc>
                <a:tc>
                  <a:txBody>
                    <a:bodyPr/>
                    <a:lstStyle/>
                    <a:p>
                      <a:r>
                        <a:rPr lang="en-IN" sz="1000" dirty="0"/>
                        <a:t>Hard et al.</a:t>
                      </a:r>
                    </a:p>
                  </a:txBody>
                  <a:tcPr marL="17065" marR="17065" marT="8533" marB="8533" anchor="ctr"/>
                </a:tc>
                <a:tc>
                  <a:txBody>
                    <a:bodyPr/>
                    <a:lstStyle/>
                    <a:p>
                      <a:r>
                        <a:rPr lang="en-US" sz="1000"/>
                        <a:t>Federated Learning for Mobile Keyboard Prediction</a:t>
                      </a:r>
                    </a:p>
                  </a:txBody>
                  <a:tcPr marL="17065" marR="17065" marT="8533" marB="8533" anchor="ctr"/>
                </a:tc>
                <a:tc>
                  <a:txBody>
                    <a:bodyPr/>
                    <a:lstStyle/>
                    <a:p>
                      <a:r>
                        <a:rPr lang="en-US" sz="1000"/>
                        <a:t>Real-world application of FL in Gboard; explores asynchronous updates and privacy constraints</a:t>
                      </a:r>
                    </a:p>
                  </a:txBody>
                  <a:tcPr marL="17065" marR="17065" marT="8533" marB="8533" anchor="ctr"/>
                </a:tc>
                <a:extLst>
                  <a:ext uri="{0D108BD9-81ED-4DB2-BD59-A6C34878D82A}">
                    <a16:rowId xmlns:a16="http://schemas.microsoft.com/office/drawing/2014/main" val="1423286257"/>
                  </a:ext>
                </a:extLst>
              </a:tr>
              <a:tr h="528733">
                <a:tc>
                  <a:txBody>
                    <a:bodyPr/>
                    <a:lstStyle/>
                    <a:p>
                      <a:r>
                        <a:rPr lang="en-IN" sz="1000"/>
                        <a:t>2017</a:t>
                      </a:r>
                    </a:p>
                  </a:txBody>
                  <a:tcPr marL="17065" marR="17065" marT="8533" marB="8533" anchor="ctr"/>
                </a:tc>
                <a:tc>
                  <a:txBody>
                    <a:bodyPr/>
                    <a:lstStyle/>
                    <a:p>
                      <a:r>
                        <a:rPr lang="en-IN" sz="1000"/>
                        <a:t>McMahan et al.</a:t>
                      </a:r>
                    </a:p>
                  </a:txBody>
                  <a:tcPr marL="17065" marR="17065" marT="8533" marB="8533" anchor="ctr"/>
                </a:tc>
                <a:tc>
                  <a:txBody>
                    <a:bodyPr/>
                    <a:lstStyle/>
                    <a:p>
                      <a:r>
                        <a:rPr lang="en-US" sz="1000"/>
                        <a:t>Communication-Efficient Learning of Deep Networks from Decentralized Data</a:t>
                      </a:r>
                    </a:p>
                  </a:txBody>
                  <a:tcPr marL="17065" marR="17065" marT="8533" marB="8533" anchor="ctr"/>
                </a:tc>
                <a:tc>
                  <a:txBody>
                    <a:bodyPr/>
                    <a:lstStyle/>
                    <a:p>
                      <a:r>
                        <a:rPr lang="en-US" sz="1000"/>
                        <a:t>Introduces Federated Averaging (FedAvg) algorithm; foundational work in FL</a:t>
                      </a:r>
                    </a:p>
                  </a:txBody>
                  <a:tcPr marL="17065" marR="17065" marT="8533" marB="8533" anchor="ctr"/>
                </a:tc>
                <a:extLst>
                  <a:ext uri="{0D108BD9-81ED-4DB2-BD59-A6C34878D82A}">
                    <a16:rowId xmlns:a16="http://schemas.microsoft.com/office/drawing/2014/main" val="2961542751"/>
                  </a:ext>
                </a:extLst>
              </a:tr>
              <a:tr h="528733">
                <a:tc>
                  <a:txBody>
                    <a:bodyPr/>
                    <a:lstStyle/>
                    <a:p>
                      <a:r>
                        <a:rPr lang="en-IN" sz="1000"/>
                        <a:t>2016</a:t>
                      </a:r>
                    </a:p>
                  </a:txBody>
                  <a:tcPr marL="17065" marR="17065" marT="8533" marB="8533" anchor="ctr"/>
                </a:tc>
                <a:tc>
                  <a:txBody>
                    <a:bodyPr/>
                    <a:lstStyle/>
                    <a:p>
                      <a:r>
                        <a:rPr lang="en-IN" sz="1000"/>
                        <a:t>Shi et al.</a:t>
                      </a:r>
                    </a:p>
                  </a:txBody>
                  <a:tcPr marL="17065" marR="17065" marT="8533" marB="8533" anchor="ctr"/>
                </a:tc>
                <a:tc>
                  <a:txBody>
                    <a:bodyPr/>
                    <a:lstStyle/>
                    <a:p>
                      <a:r>
                        <a:rPr lang="en-US" sz="1000"/>
                        <a:t>Edge Computing: Vision and Challenges</a:t>
                      </a:r>
                    </a:p>
                  </a:txBody>
                  <a:tcPr marL="17065" marR="17065" marT="8533" marB="8533" anchor="ctr"/>
                </a:tc>
                <a:tc>
                  <a:txBody>
                    <a:bodyPr/>
                    <a:lstStyle/>
                    <a:p>
                      <a:r>
                        <a:rPr lang="en-US" sz="1000" dirty="0"/>
                        <a:t>Defines edge computing and its impact on latency, bandwidth, and local intelligence</a:t>
                      </a:r>
                    </a:p>
                  </a:txBody>
                  <a:tcPr marL="17065" marR="17065" marT="8533" marB="8533" anchor="ctr"/>
                </a:tc>
                <a:extLst>
                  <a:ext uri="{0D108BD9-81ED-4DB2-BD59-A6C34878D82A}">
                    <a16:rowId xmlns:a16="http://schemas.microsoft.com/office/drawing/2014/main" val="2907580657"/>
                  </a:ext>
                </a:extLst>
              </a:tr>
            </a:tbl>
          </a:graphicData>
        </a:graphic>
      </p:graphicFrame>
      <p:sp>
        <p:nvSpPr>
          <p:cNvPr id="4" name="Rectangle 1"/>
          <p:cNvSpPr>
            <a:spLocks noChangeArrowheads="1"/>
          </p:cNvSpPr>
          <p:nvPr/>
        </p:nvSpPr>
        <p:spPr bwMode="auto">
          <a:xfrm>
            <a:off x="3868738" y="906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858185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956441" y="640244"/>
            <a:ext cx="7620001"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p>
          <a:p>
            <a:pPr marL="0" marR="0" lvl="0" indent="0" algn="just" defTabSz="914400" rtl="0" eaLnBrk="0" fontAlgn="base" latinLnBrk="0" hangingPunct="0">
              <a:lnSpc>
                <a:spcPct val="150000"/>
              </a:lnSpc>
              <a:spcBef>
                <a:spcPct val="0"/>
              </a:spcBef>
              <a:spcAft>
                <a:spcPct val="0"/>
              </a:spcAft>
              <a:buClrTx/>
              <a:buSzTx/>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The advent of 6G wireless communication is set to revolutionize connectivity by enabling ultra-low latency and massive device interconnectivity for applications like autonomous vehicles, holographic telepresence, and immersive augmented reality. However, traditional cloud-centric AI architectures are ill-suited for this paradigm due to their dependence on continuous raw data transfer, which introduces latency, increases bandwidth consumption, and raises serious concerns over data privacy and security. This project addresses these limitations by implementing a federated learning (FL) framework designed for 6G environments, where edge devices train models locally and only share encrypted weight updates with a central server, ensuring that sensitive data never leaves the source device.</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426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689912" y="603222"/>
            <a:ext cx="6674070" cy="376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p>
        </p:txBody>
      </p:sp>
      <p:sp>
        <p:nvSpPr>
          <p:cNvPr id="3" name="Rectangle 2"/>
          <p:cNvSpPr/>
          <p:nvPr/>
        </p:nvSpPr>
        <p:spPr>
          <a:xfrm>
            <a:off x="805525" y="1096700"/>
            <a:ext cx="7252138" cy="2315827"/>
          </a:xfrm>
          <a:prstGeom prst="rect">
            <a:avLst/>
          </a:prstGeom>
        </p:spPr>
        <p:txBody>
          <a:bodyPr wrap="square">
            <a:spAutoFit/>
          </a:bodyPr>
          <a:lstStyle/>
          <a:p>
            <a:pPr algn="just">
              <a:lnSpc>
                <a:spcPct val="150000"/>
              </a:lnSpc>
            </a:pPr>
            <a:r>
              <a:rPr lang="en-US" sz="1400" dirty="0">
                <a:latin typeface="Times New Roman" panose="02020603050405020304" pitchFamily="18" charset="0"/>
                <a:cs typeface="Times New Roman" panose="02020603050405020304" pitchFamily="18" charset="0"/>
              </a:rPr>
              <a:t>The significance of this work lies in its ability to deliver real-time predictions while preserving user data privacy, reducing communication overhead, and ensuring scalability across billions of heterogeneous edge devices. By developing a Flask-based web application, the project enables users to simulate FL behavior, upload beamforming datasets, and select from a range of ML algorithms including Random Forest,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and CNN to predict 6G beamforming success. Tree-based models achieved up to 100% accuracy, demonstrating the effectiveness of decentralized training in this context.</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61" name="Google Shape;1161;p35"/>
          <p:cNvSpPr/>
          <p:nvPr/>
        </p:nvSpPr>
        <p:spPr>
          <a:xfrm rot="10800000">
            <a:off x="356243" y="3823812"/>
            <a:ext cx="1852533" cy="985288"/>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2" name="Rectangle 1"/>
          <p:cNvSpPr>
            <a:spLocks noChangeArrowheads="1"/>
          </p:cNvSpPr>
          <p:nvPr/>
        </p:nvSpPr>
        <p:spPr bwMode="auto">
          <a:xfrm>
            <a:off x="1408386" y="791639"/>
            <a:ext cx="7147035"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Significant </a:t>
            </a:r>
          </a:p>
          <a:p>
            <a:pPr lvl="0" algn="just" defTabSz="914400" eaLnBrk="0" fontAlgn="base" hangingPunct="0">
              <a:lnSpc>
                <a:spcPct val="150000"/>
              </a:lnSpc>
              <a:spcBef>
                <a:spcPct val="0"/>
              </a:spcBef>
              <a:spcAft>
                <a:spcPct val="0"/>
              </a:spcAft>
            </a:pPr>
            <a:r>
              <a:rPr lang="en-US" sz="1400" dirty="0">
                <a:latin typeface="Times New Roman" panose="02020603050405020304" pitchFamily="18" charset="0"/>
                <a:cs typeface="Times New Roman" panose="02020603050405020304" pitchFamily="18" charset="0"/>
              </a:rPr>
              <a:t>Moreover, this system quantifies important performance metrics such as communication savings, inference latency, and resistance to model inversion attacks—establishing a benchmark for privacy-preserving AI in next-generation networks. It also highlights critical challenges like non-IID data, model poisoning, and straggler devices, and proposes future enhancements including differential privacy, secure aggregation, and </a:t>
            </a:r>
            <a:r>
              <a:rPr lang="en-US" sz="1400" dirty="0" err="1">
                <a:latin typeface="Times New Roman" panose="02020603050405020304" pitchFamily="18" charset="0"/>
                <a:cs typeface="Times New Roman" panose="02020603050405020304" pitchFamily="18" charset="0"/>
              </a:rPr>
              <a:t>blockchain</a:t>
            </a:r>
            <a:r>
              <a:rPr lang="en-US" sz="1400" dirty="0">
                <a:latin typeface="Times New Roman" panose="02020603050405020304" pitchFamily="18" charset="0"/>
                <a:cs typeface="Times New Roman" panose="02020603050405020304" pitchFamily="18" charset="0"/>
              </a:rPr>
              <a:t>-based audit trails. These contributions make this project not only a practical prototype but also a strategic stepping stone toward realizing secure, scalable, and trustworthy AI in 6G ecosystems. Its real-world relevance, technical innovation, and alignment with upcoming network standards underscore its significant impact on the future of intelligent edge computing.</a:t>
            </a: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6415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err="1">
                <a:latin typeface="Times New Roman" panose="02020603050405020304" pitchFamily="18" charset="0"/>
                <a:cs typeface="Times New Roman" panose="02020603050405020304" pitchFamily="18" charset="0"/>
              </a:rPr>
              <a:t>Exisiting</a:t>
            </a:r>
            <a:r>
              <a:rPr lang="en-GB" sz="2400" b="1" dirty="0">
                <a:latin typeface="Times New Roman" panose="02020603050405020304" pitchFamily="18" charset="0"/>
                <a:cs typeface="Times New Roman" panose="02020603050405020304" pitchFamily="18" charset="0"/>
              </a:rPr>
              <a:t>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95741" y="913475"/>
            <a:ext cx="7586035" cy="3931654"/>
          </a:xfrm>
          <a:prstGeom prst="rect">
            <a:avLst/>
          </a:prstGeom>
        </p:spPr>
        <p:txBody>
          <a:bodyPr wrap="square">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Traditional AI systems in wireless communication rely on centralized cloud-based training pipelines, where raw data from devices is continuously transmitted to central servers for processing. While this approach benefits from aggregated datasets, it presents several critical limitations in the context of 6G networks. The massive volume of real-time data from ultra-intelligent edge devices causes significant backhaul congestion and delays, making it unsuitable for latency-sensitive applications like autonomous mobility and holographic telepresence. Additionally, centralized data handling introduces substantial privacy risks, as sensitive user information is exposed during transmission and storage. These systems also struggle to adapt to the distributed nature of 6G and lack personalized, localized model updates. There is minimal support for privacy-preserving training or resistance to adversarial attacks such as model poisoning and data reconstruction. Consequently, existing solutions are not scalable, secure, or efficient enough for next-generation 6G deployment.</a:t>
            </a:r>
          </a:p>
          <a:p>
            <a:pPr algn="just">
              <a:lnSpc>
                <a:spcPct val="150000"/>
              </a:lnSpc>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574416"/>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Disadvantages</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77766" y="1402373"/>
            <a:ext cx="7365326" cy="3000821"/>
          </a:xfrm>
          <a:prstGeom prst="rect">
            <a:avLst/>
          </a:prstGeom>
        </p:spPr>
        <p:txBody>
          <a:bodyPr wrap="square">
            <a:spAutoFit/>
          </a:bodyPr>
          <a:lstStyle/>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High latency due to centralized data processing and long transmission paths</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Bandwidth overload from continuous raw data transfer</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Risk of data leakage and privacy breaches during transmission</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Lack of localized model personalization at the device level</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 No support for privacy-preserving training techniques like secure aggregation</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 Centralized models are vulnerable to adversarial threats like model poisoning</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Absence of auditability and trust via decentralized logs</a:t>
            </a:r>
          </a:p>
          <a:p>
            <a:pPr marL="28575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Poor scalability for billions of edge devices in a 6G environment</a:t>
            </a:r>
          </a:p>
          <a:p>
            <a:pPr marL="285750" lvl="0" indent="-285750" algn="just">
              <a:lnSpc>
                <a:spcPct val="150000"/>
              </a:lnSpc>
              <a:buSzPts val="1000"/>
              <a:buFont typeface="Wingdings" panose="05000000000000000000" pitchFamily="2" charset="2"/>
              <a:buChar char="Ø"/>
              <a:tabLst>
                <a:tab pos="457200" algn="l"/>
              </a:tabLst>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152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90703"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Proposed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599091" y="878468"/>
            <a:ext cx="8188669" cy="4254819"/>
          </a:xfrm>
          <a:prstGeom prst="rect">
            <a:avLst/>
          </a:prstGeom>
        </p:spPr>
        <p:txBody>
          <a:bodyPr wrap="square">
            <a:spAutoFit/>
          </a:bodyPr>
          <a:lstStyle/>
          <a:p>
            <a:pPr algn="just">
              <a:lnSpc>
                <a:spcPct val="150000"/>
              </a:lnSpc>
            </a:pPr>
            <a:r>
              <a:rPr lang="en-IN" sz="1400" dirty="0">
                <a:latin typeface="Times New Roman" panose="02020603050405020304" pitchFamily="18" charset="0"/>
                <a:cs typeface="Times New Roman" panose="02020603050405020304" pitchFamily="18" charset="0"/>
              </a:rPr>
              <a:t>The proposed system adopts a </a:t>
            </a:r>
            <a:r>
              <a:rPr lang="en-IN" sz="1400" b="1" dirty="0">
                <a:latin typeface="Times New Roman" panose="02020603050405020304" pitchFamily="18" charset="0"/>
                <a:cs typeface="Times New Roman" panose="02020603050405020304" pitchFamily="18" charset="0"/>
              </a:rPr>
              <a:t>Federated Learning (FL)</a:t>
            </a:r>
            <a:r>
              <a:rPr lang="en-IN" sz="1400" dirty="0">
                <a:latin typeface="Times New Roman" panose="02020603050405020304" pitchFamily="18" charset="0"/>
                <a:cs typeface="Times New Roman" panose="02020603050405020304" pitchFamily="18" charset="0"/>
              </a:rPr>
              <a:t> framework tailored for 6G wireless networks. It decentralizes model training by enabling edge devices to train locally on private beamforming datasets and send only encrypted model updates to a coordinating server. These updates are aggregated to form a global model without exposing raw data. The system is implemented as a Flask-based web application, allowing users to register, upload datasets, select from six ML algorithms (Random Forest, CNN, MLP, FNN,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Decision Tree), and receive beamforming success predictions in real-time. The back end simulates FL rounds through federated averaging, demonstrating up to 100% accuracy for tree-based models and providing secure, scalable learning without sacrificing data privacy. The system also benchmarks key benefits such as latency reduction, bandwidth savings, and resistance to gradient inversion attacks. Furthermore, the framework addresses FL challenges like non-IID data, straggler clients, and poisoning attacks, and explores future enhancements using differential privacy, secure aggregation, and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-based audit trails to ensure full trust and traceability in FL-based 6G deployments.</a:t>
            </a:r>
          </a:p>
          <a:p>
            <a:pPr algn="just">
              <a:lnSpc>
                <a:spcPct val="150000"/>
              </a:lnSpc>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6600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64275" y="338989"/>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Advantages</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56745" y="1180000"/>
            <a:ext cx="7788165" cy="2677656"/>
          </a:xfrm>
          <a:prstGeom prst="rect">
            <a:avLst/>
          </a:prstGeom>
        </p:spPr>
        <p:txBody>
          <a:bodyPr wrap="square">
            <a:spAutoFit/>
          </a:bodyPr>
          <a:lstStyle/>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Privacy-Preserving Learning</a:t>
            </a:r>
            <a:r>
              <a:rPr lang="en-IN" sz="1400" dirty="0">
                <a:latin typeface="Times New Roman" panose="02020603050405020304" pitchFamily="18" charset="0"/>
                <a:cs typeface="Times New Roman" panose="02020603050405020304" pitchFamily="18" charset="0"/>
              </a:rPr>
              <a:t>: Only encrypted model weights are shared—raw data remains local</a:t>
            </a:r>
          </a:p>
          <a:p>
            <a:pPr marL="285750" lvl="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Supports Multiple ML Models</a:t>
            </a:r>
            <a:r>
              <a:rPr lang="en-IN" sz="1400" dirty="0">
                <a:latin typeface="Times New Roman" panose="02020603050405020304" pitchFamily="18" charset="0"/>
                <a:cs typeface="Times New Roman" panose="02020603050405020304" pitchFamily="18" charset="0"/>
              </a:rPr>
              <a:t>: Flexible choice between tree-based, deep, and ensemble learning algorithms</a:t>
            </a:r>
          </a:p>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Low Latency and Bandwidth Use</a:t>
            </a:r>
            <a:r>
              <a:rPr lang="en-IN" sz="1400" dirty="0">
                <a:latin typeface="Times New Roman" panose="02020603050405020304" pitchFamily="18" charset="0"/>
                <a:cs typeface="Times New Roman" panose="02020603050405020304" pitchFamily="18" charset="0"/>
              </a:rPr>
              <a:t>: Minimizes backhaul congestion in ultra-dense 6G scenario</a:t>
            </a:r>
          </a:p>
          <a:p>
            <a:pPr marL="285750" lvl="0" indent="-285750" algn="just">
              <a:lnSpc>
                <a:spcPct val="150000"/>
              </a:lnSpc>
              <a:buSzPts val="1000"/>
              <a:buFont typeface="Wingdings" panose="05000000000000000000" pitchFamily="2" charset="2"/>
              <a:buChar char="Ø"/>
              <a:tabLst>
                <a:tab pos="457200" algn="l"/>
              </a:tabLst>
            </a:pP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Decentralized &amp; Scalable</a:t>
            </a:r>
            <a:r>
              <a:rPr lang="en-IN" sz="1400" dirty="0">
                <a:latin typeface="Times New Roman" panose="02020603050405020304" pitchFamily="18" charset="0"/>
                <a:cs typeface="Times New Roman" panose="02020603050405020304" pitchFamily="18" charset="0"/>
              </a:rPr>
              <a:t>: Trains across many edge devices without centralized bottlenecks</a:t>
            </a:r>
          </a:p>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Resilient to Attacks</a:t>
            </a:r>
            <a:r>
              <a:rPr lang="en-IN" sz="1400" dirty="0">
                <a:latin typeface="Times New Roman" panose="02020603050405020304" pitchFamily="18" charset="0"/>
                <a:cs typeface="Times New Roman" panose="02020603050405020304" pitchFamily="18" charset="0"/>
              </a:rPr>
              <a:t>: Reduces risk of data reconstruction and model poisoning</a:t>
            </a:r>
          </a:p>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Simulated FL Rounds</a:t>
            </a:r>
            <a:r>
              <a:rPr lang="en-IN" sz="1400" dirty="0">
                <a:latin typeface="Times New Roman" panose="02020603050405020304" pitchFamily="18" charset="0"/>
                <a:cs typeface="Times New Roman" panose="02020603050405020304" pitchFamily="18" charset="0"/>
              </a:rPr>
              <a:t>: Enables evaluation of federated averaging and communication cost trade-offs</a:t>
            </a:r>
          </a:p>
          <a:p>
            <a:pPr marL="285750" lvl="0" indent="-285750" algn="just">
              <a:lnSpc>
                <a:spcPct val="150000"/>
              </a:lnSpc>
              <a:buSzPts val="1000"/>
              <a:buFont typeface="Wingdings" panose="05000000000000000000" pitchFamily="2" charset="2"/>
              <a:buChar char="Ø"/>
              <a:tabLst>
                <a:tab pos="457200" algn="l"/>
              </a:tabLst>
            </a:pPr>
            <a:r>
              <a:rPr lang="en-IN" sz="1400" b="1" dirty="0">
                <a:latin typeface="Times New Roman" panose="02020603050405020304" pitchFamily="18" charset="0"/>
                <a:cs typeface="Times New Roman" panose="02020603050405020304" pitchFamily="18" charset="0"/>
              </a:rPr>
              <a:t>Auditable and Transparent</a:t>
            </a:r>
            <a:r>
              <a:rPr lang="en-IN" sz="1400" dirty="0">
                <a:latin typeface="Times New Roman" panose="02020603050405020304" pitchFamily="18" charset="0"/>
                <a:cs typeface="Times New Roman" panose="02020603050405020304" pitchFamily="18" charset="0"/>
              </a:rPr>
              <a:t>: Future-ready for integration with </a:t>
            </a:r>
            <a:r>
              <a:rPr lang="en-IN" sz="1400" dirty="0" err="1">
                <a:latin typeface="Times New Roman" panose="02020603050405020304" pitchFamily="18" charset="0"/>
                <a:cs typeface="Times New Roman" panose="02020603050405020304" pitchFamily="18" charset="0"/>
              </a:rPr>
              <a:t>blockchain</a:t>
            </a:r>
            <a:r>
              <a:rPr lang="en-IN" sz="1400" dirty="0">
                <a:latin typeface="Times New Roman" panose="02020603050405020304" pitchFamily="18" charset="0"/>
                <a:cs typeface="Times New Roman" panose="02020603050405020304" pitchFamily="18" charset="0"/>
              </a:rPr>
              <a:t> audit logs</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9419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22310" y="48386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sz="2400" b="1" dirty="0">
                <a:latin typeface="Times New Roman" panose="02020603050405020304" pitchFamily="18" charset="0"/>
                <a:cs typeface="Times New Roman" panose="02020603050405020304" pitchFamily="18" charset="0"/>
              </a:rPr>
              <a:t>PROJECT FLOW</a:t>
            </a: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 name="Picture 5"/>
          <p:cNvPicPr/>
          <p:nvPr/>
        </p:nvPicPr>
        <p:blipFill>
          <a:blip r:embed="rId3"/>
          <a:stretch>
            <a:fillRect/>
          </a:stretch>
        </p:blipFill>
        <p:spPr>
          <a:xfrm>
            <a:off x="2222706" y="1336987"/>
            <a:ext cx="4448175" cy="3240887"/>
          </a:xfrm>
          <a:prstGeom prst="rect">
            <a:avLst/>
          </a:prstGeom>
        </p:spPr>
      </p:pic>
    </p:spTree>
    <p:extLst>
      <p:ext uri="{BB962C8B-B14F-4D97-AF65-F5344CB8AC3E}">
        <p14:creationId xmlns:p14="http://schemas.microsoft.com/office/powerpoint/2010/main" val="792635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Hardware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a:latin typeface="Times New Roman" panose="02020603050405020304" pitchFamily="18" charset="0"/>
                <a:cs typeface="Times New Roman" panose="02020603050405020304" pitchFamily="18" charset="0"/>
              </a:rPr>
              <a:t>I5/Intel Processor, </a:t>
            </a:r>
            <a:r>
              <a:rPr lang="en-IN" sz="800" b="1" dirty="0">
                <a:latin typeface="Times New Roman" panose="02020603050405020304" pitchFamily="18" charset="0"/>
                <a:cs typeface="Times New Roman" panose="02020603050405020304" pitchFamily="18" charset="0"/>
              </a:rPr>
              <a:t>RAM:</a:t>
            </a:r>
            <a:r>
              <a:rPr lang="en-IN" sz="800" dirty="0">
                <a:latin typeface="Times New Roman" panose="02020603050405020304" pitchFamily="18" charset="0"/>
                <a:cs typeface="Times New Roman" panose="02020603050405020304" pitchFamily="18" charset="0"/>
              </a:rPr>
              <a:t> 8GB (min), </a:t>
            </a:r>
            <a:r>
              <a:rPr lang="en-IN" sz="800" b="1" dirty="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GB</a:t>
            </a:r>
            <a:r>
              <a:rPr lang="en-IN" sz="800" b="1" dirty="0">
                <a:latin typeface="Times New Roman" panose="02020603050405020304" pitchFamily="18" charset="0"/>
                <a:cs typeface="Times New Roman" panose="02020603050405020304" pitchFamily="18" charset="0"/>
              </a:rPr>
              <a:t>, Key Board:</a:t>
            </a:r>
            <a:r>
              <a:rPr lang="en-IN" sz="800" dirty="0">
                <a:latin typeface="Times New Roman" panose="02020603050405020304" pitchFamily="18" charset="0"/>
                <a:cs typeface="Times New Roman" panose="02020603050405020304" pitchFamily="18" charset="0"/>
              </a:rPr>
              <a:t> Standard Windows Keyboard, </a:t>
            </a:r>
            <a:r>
              <a:rPr lang="en-IN" sz="800" b="1" dirty="0">
                <a:latin typeface="Times New Roman" panose="02020603050405020304" pitchFamily="18" charset="0"/>
                <a:cs typeface="Times New Roman" panose="02020603050405020304" pitchFamily="18" charset="0"/>
              </a:rPr>
              <a:t>Mouse:</a:t>
            </a:r>
            <a:r>
              <a:rPr lang="en-IN" sz="800" dirty="0">
                <a:latin typeface="Times New Roman" panose="02020603050405020304" pitchFamily="18" charset="0"/>
                <a:cs typeface="Times New Roman" panose="02020603050405020304" pitchFamily="18" charset="0"/>
              </a:rPr>
              <a:t> Two or Three Button Mouse)</a:t>
            </a: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Resources</a:t>
            </a:r>
            <a:endParaRPr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Software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a:latin typeface="Times New Roman" panose="02020603050405020304" pitchFamily="18" charset="0"/>
                <a:cs typeface="Times New Roman" panose="02020603050405020304" pitchFamily="18" charset="0"/>
              </a:rPr>
              <a:t>(</a:t>
            </a:r>
            <a:r>
              <a:rPr lang="en-US" sz="800" b="1" dirty="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10, </a:t>
            </a:r>
            <a:r>
              <a:rPr lang="en-US" sz="800" b="1" dirty="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3.10.8, </a:t>
            </a:r>
            <a:r>
              <a:rPr lang="en-US" sz="800" b="1" dirty="0">
                <a:latin typeface="Times New Roman" panose="02020603050405020304" pitchFamily="18" charset="0"/>
                <a:cs typeface="Times New Roman" panose="02020603050405020304" pitchFamily="18" charset="0"/>
              </a:rPr>
              <a:t>IDE: </a:t>
            </a:r>
            <a:r>
              <a:rPr lang="en-US" sz="800" dirty="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230134"/>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Packages/Libraries</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Seaborn</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Speech Recognition</a:t>
            </a:r>
            <a:endParaRPr sz="8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
        <p:nvSpPr>
          <p:cNvPr id="22" name="Google Shape;894;p34"/>
          <p:cNvSpPr txBox="1"/>
          <p:nvPr/>
        </p:nvSpPr>
        <p:spPr>
          <a:xfrm>
            <a:off x="7740737" y="87503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122310" y="48386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Architecture</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p:cNvPicPr>
            <a:picLocks noChangeAspect="1"/>
          </p:cNvPicPr>
          <p:nvPr/>
        </p:nvPicPr>
        <p:blipFill>
          <a:blip r:embed="rId3"/>
          <a:stretch>
            <a:fillRect/>
          </a:stretch>
        </p:blipFill>
        <p:spPr>
          <a:xfrm>
            <a:off x="1455174" y="1191866"/>
            <a:ext cx="6215969" cy="343779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2" y="258417"/>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solidFill>
                  <a:schemeClr val="tx1"/>
                </a:solidFill>
                <a:latin typeface="Times New Roman" panose="02020603050405020304" pitchFamily="18" charset="0"/>
                <a:cs typeface="Times New Roman" panose="02020603050405020304" pitchFamily="18" charset="0"/>
              </a:rPr>
              <a:t>Research Gap analysis</a:t>
            </a:r>
          </a:p>
        </p:txBody>
      </p:sp>
      <p:sp>
        <p:nvSpPr>
          <p:cNvPr id="886" name="Google Shape;886;p33"/>
          <p:cNvSpPr txBox="1">
            <a:spLocks noGrp="1"/>
          </p:cNvSpPr>
          <p:nvPr>
            <p:ph type="body" idx="1"/>
          </p:nvPr>
        </p:nvSpPr>
        <p:spPr>
          <a:xfrm>
            <a:off x="483476" y="993913"/>
            <a:ext cx="8038307" cy="3584713"/>
          </a:xfrm>
          <a:prstGeom prst="rect">
            <a:avLst/>
          </a:prstGeom>
        </p:spPr>
        <p:txBody>
          <a:bodyPr spcFirstLastPara="1" wrap="square" lIns="91425" tIns="91425" rIns="91425" bIns="91425" anchor="t" anchorCtr="0">
            <a:noAutofit/>
          </a:bodyPr>
          <a:lstStyle/>
          <a:p>
            <a:pPr marL="431800" indent="-285750" algn="just">
              <a:buFont typeface="Wingdings" panose="05000000000000000000" pitchFamily="2" charset="2"/>
              <a:buChar char="Ø"/>
            </a:pPr>
            <a:r>
              <a:rPr lang="en-US" sz="1400" dirty="0">
                <a:solidFill>
                  <a:schemeClr val="tx1"/>
                </a:solidFill>
                <a:latin typeface="Times New Roman" panose="02020603050405020304" pitchFamily="18" charset="0"/>
                <a:cs typeface="Times New Roman" panose="02020603050405020304" pitchFamily="18" charset="0"/>
              </a:rPr>
              <a:t>Despite the growing body of research in 6G communication and federated learning (FL), several critical gaps remain that this project aims to address. Existing AI solutions for wireless environments are predominantly cloud-centric, requiring raw data to be transmitted to centralized servers. This architecture is not only bandwidth-intensive but also undermines user privacy, making it unfit for 6G use cases that demand ultra-low latency and data sovereignty. While FL has emerged as a promising alternative, most current implementations lack real-world prototyping, especially in the domain of 6G-specific tasks like beamforming prediction.</a:t>
            </a:r>
          </a:p>
          <a:p>
            <a:pPr algn="just">
              <a:buFont typeface="Wingdings" panose="05000000000000000000" pitchFamily="2" charset="2"/>
              <a:buChar char="Ø"/>
            </a:pPr>
            <a:endParaRPr lang="en-US" sz="1400" dirty="0">
              <a:solidFill>
                <a:schemeClr val="tx1"/>
              </a:solidFill>
              <a:latin typeface="Times New Roman" panose="02020603050405020304" pitchFamily="18" charset="0"/>
              <a:cs typeface="Times New Roman" panose="02020603050405020304" pitchFamily="18" charset="0"/>
            </a:endParaRPr>
          </a:p>
          <a:p>
            <a:pPr marL="431800" indent="-285750" algn="just">
              <a:buFont typeface="Wingdings" panose="05000000000000000000" pitchFamily="2" charset="2"/>
              <a:buChar char="Ø"/>
            </a:pPr>
            <a:r>
              <a:rPr lang="en-US" sz="1400" dirty="0">
                <a:solidFill>
                  <a:schemeClr val="tx1"/>
                </a:solidFill>
                <a:latin typeface="Times New Roman" panose="02020603050405020304" pitchFamily="18" charset="0"/>
                <a:cs typeface="Times New Roman" panose="02020603050405020304" pitchFamily="18" charset="0"/>
              </a:rPr>
              <a:t>A key gap lies in the </a:t>
            </a:r>
            <a:r>
              <a:rPr lang="en-US" sz="1400" b="1" dirty="0">
                <a:solidFill>
                  <a:schemeClr val="tx1"/>
                </a:solidFill>
                <a:latin typeface="Times New Roman" panose="02020603050405020304" pitchFamily="18" charset="0"/>
                <a:cs typeface="Times New Roman" panose="02020603050405020304" pitchFamily="18" charset="0"/>
              </a:rPr>
              <a:t>absence of practical, user-accessible FL simulation frameworks</a:t>
            </a:r>
            <a:r>
              <a:rPr lang="en-US" sz="1400" dirty="0">
                <a:solidFill>
                  <a:schemeClr val="tx1"/>
                </a:solidFill>
                <a:latin typeface="Times New Roman" panose="02020603050405020304" pitchFamily="18" charset="0"/>
                <a:cs typeface="Times New Roman" panose="02020603050405020304" pitchFamily="18" charset="0"/>
              </a:rPr>
              <a:t> that demonstrate the feasibility of real-time edge model training and decentralized inference. Most FL studies are either theoretical or limited to mobile keyboard prediction and healthcare use cases, with limited attention given to network-layer predictions such as beamforming.</a:t>
            </a:r>
          </a:p>
          <a:p>
            <a:pPr marL="146050" indent="0" algn="just">
              <a:lnSpc>
                <a:spcPct val="150000"/>
              </a:lnSpc>
              <a:buNone/>
            </a:pPr>
            <a:endParaRPr lang="en-US" sz="1400" b="1" dirty="0">
              <a:solidFill>
                <a:schemeClr val="tx1"/>
              </a:solidFill>
              <a:latin typeface="Times New Roman" panose="02020603050405020304" pitchFamily="18" charset="0"/>
              <a:cs typeface="Times New Roman" panose="02020603050405020304" pitchFamily="18" charset="0"/>
            </a:endParaRPr>
          </a:p>
        </p:txBody>
      </p:sp>
      <p:sp>
        <p:nvSpPr>
          <p:cNvPr id="6"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21</a:t>
            </a:fld>
            <a:endParaRPr lang="en-US" dirty="0"/>
          </a:p>
        </p:txBody>
      </p:sp>
      <p:sp>
        <p:nvSpPr>
          <p:cNvPr id="3" name="Rectangle 2"/>
          <p:cNvSpPr/>
          <p:nvPr/>
        </p:nvSpPr>
        <p:spPr>
          <a:xfrm>
            <a:off x="776646" y="732758"/>
            <a:ext cx="7684851" cy="3970318"/>
          </a:xfrm>
          <a:prstGeom prst="rect">
            <a:avLst/>
          </a:prstGeom>
        </p:spPr>
        <p:txBody>
          <a:bodyPr wrap="square">
            <a:spAutoFit/>
          </a:bodyPr>
          <a:lstStyle/>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Additionally, </a:t>
            </a:r>
            <a:r>
              <a:rPr lang="en-US" sz="1400" b="1" dirty="0">
                <a:latin typeface="Times New Roman" panose="02020603050405020304" pitchFamily="18" charset="0"/>
                <a:cs typeface="Times New Roman" panose="02020603050405020304" pitchFamily="18" charset="0"/>
              </a:rPr>
              <a:t>model accuracy under federated settings</a:t>
            </a:r>
            <a:r>
              <a:rPr lang="en-US" sz="1400" dirty="0">
                <a:latin typeface="Times New Roman" panose="02020603050405020304" pitchFamily="18" charset="0"/>
                <a:cs typeface="Times New Roman" panose="02020603050405020304" pitchFamily="18" charset="0"/>
              </a:rPr>
              <a:t>—especially for non-IID (non-independent and identically distributed) data—remains underexplored, making convergence and generalization difficult in real-world heterogeneous devices.</a:t>
            </a:r>
          </a:p>
          <a:p>
            <a:pPr algn="just"/>
            <a:endParaRPr lang="en-US" sz="1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Another major gap is the </a:t>
            </a:r>
            <a:r>
              <a:rPr lang="en-US" sz="1400" b="1" dirty="0">
                <a:latin typeface="Times New Roman" panose="02020603050405020304" pitchFamily="18" charset="0"/>
                <a:cs typeface="Times New Roman" panose="02020603050405020304" pitchFamily="18" charset="0"/>
              </a:rPr>
              <a:t>lack of privacy-preserving FL implementations that incorporate secure aggregation, differential privacy, or </a:t>
            </a:r>
            <a:r>
              <a:rPr lang="en-US" sz="1400" b="1" dirty="0" err="1">
                <a:latin typeface="Times New Roman" panose="02020603050405020304" pitchFamily="18" charset="0"/>
                <a:cs typeface="Times New Roman" panose="02020603050405020304" pitchFamily="18" charset="0"/>
              </a:rPr>
              <a:t>blockchain</a:t>
            </a:r>
            <a:r>
              <a:rPr lang="en-US" sz="1400" b="1" dirty="0">
                <a:latin typeface="Times New Roman" panose="02020603050405020304" pitchFamily="18" charset="0"/>
                <a:cs typeface="Times New Roman" panose="02020603050405020304" pitchFamily="18" charset="0"/>
              </a:rPr>
              <a:t>-based accountability</a:t>
            </a:r>
            <a:r>
              <a:rPr lang="en-US" sz="1400" dirty="0">
                <a:latin typeface="Times New Roman" panose="02020603050405020304" pitchFamily="18" charset="0"/>
                <a:cs typeface="Times New Roman" panose="02020603050405020304" pitchFamily="18" charset="0"/>
              </a:rPr>
              <a:t>. Although these techniques have been discussed conceptually, they are rarely integrated into experimental FL platforms. Moreover, </a:t>
            </a:r>
            <a:r>
              <a:rPr lang="en-US" sz="1400" b="1" dirty="0">
                <a:latin typeface="Times New Roman" panose="02020603050405020304" pitchFamily="18" charset="0"/>
                <a:cs typeface="Times New Roman" panose="02020603050405020304" pitchFamily="18" charset="0"/>
              </a:rPr>
              <a:t>performance trade-offs</a:t>
            </a:r>
            <a:r>
              <a:rPr lang="en-US" sz="1400" dirty="0">
                <a:latin typeface="Times New Roman" panose="02020603050405020304" pitchFamily="18" charset="0"/>
                <a:cs typeface="Times New Roman" panose="02020603050405020304" pitchFamily="18" charset="0"/>
              </a:rPr>
              <a:t>—including communication savings, latency reduction, and resistance to adversarial attacks—are seldom quantified side-by-side in prototype systems.</a:t>
            </a:r>
          </a:p>
          <a:p>
            <a:pPr marL="285750" indent="-285750" algn="just">
              <a:buFont typeface="Wingdings" panose="05000000000000000000" pitchFamily="2" charset="2"/>
              <a:buChar char="Ø"/>
            </a:pPr>
            <a:endParaRPr lang="en-US" sz="1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Lastly, the </a:t>
            </a:r>
            <a:r>
              <a:rPr lang="en-US" sz="1400" b="1" dirty="0">
                <a:latin typeface="Times New Roman" panose="02020603050405020304" pitchFamily="18" charset="0"/>
                <a:cs typeface="Times New Roman" panose="02020603050405020304" pitchFamily="18" charset="0"/>
              </a:rPr>
              <a:t>challenge of straggler clients, incentive mechanisms, and resource-aware scheduling</a:t>
            </a:r>
            <a:r>
              <a:rPr lang="en-US" sz="1400" dirty="0">
                <a:latin typeface="Times New Roman" panose="02020603050405020304" pitchFamily="18" charset="0"/>
                <a:cs typeface="Times New Roman" panose="02020603050405020304" pitchFamily="18" charset="0"/>
              </a:rPr>
              <a:t> in FL networks remains largely unaddressed in current literature. There is also a need for </a:t>
            </a:r>
            <a:r>
              <a:rPr lang="en-US" sz="1400" b="1" dirty="0">
                <a:latin typeface="Times New Roman" panose="02020603050405020304" pitchFamily="18" charset="0"/>
                <a:cs typeface="Times New Roman" panose="02020603050405020304" pitchFamily="18" charset="0"/>
              </a:rPr>
              <a:t>benchmark datasets and real-time feedback mechanisms</a:t>
            </a:r>
            <a:r>
              <a:rPr lang="en-US" sz="1400" dirty="0">
                <a:latin typeface="Times New Roman" panose="02020603050405020304" pitchFamily="18" charset="0"/>
                <a:cs typeface="Times New Roman" panose="02020603050405020304" pitchFamily="18" charset="0"/>
              </a:rPr>
              <a:t> tailored for 6G beamforming use cases.</a:t>
            </a: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This project fills these research gaps by building a prototype Flask application that simulates an FL round, integrates multiple models, supports user interaction, and sets the groundwork for privacy-enhancing and scalable FL in 6G environments.</a:t>
            </a:r>
          </a:p>
          <a:p>
            <a:pPr algn="just">
              <a:lnSpc>
                <a:spcPct val="200000"/>
              </a:lnSpc>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8116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22</a:t>
            </a:fld>
            <a:endParaRPr lang="en-US" dirty="0"/>
          </a:p>
        </p:txBody>
      </p:sp>
      <p:sp>
        <p:nvSpPr>
          <p:cNvPr id="3" name="Rectangle 2"/>
          <p:cNvSpPr/>
          <p:nvPr/>
        </p:nvSpPr>
        <p:spPr>
          <a:xfrm>
            <a:off x="419927" y="282953"/>
            <a:ext cx="1409360" cy="37683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Implementation</a:t>
            </a:r>
          </a:p>
        </p:txBody>
      </p:sp>
      <p:sp>
        <p:nvSpPr>
          <p:cNvPr id="4" name="Rectangle 3"/>
          <p:cNvSpPr/>
          <p:nvPr/>
        </p:nvSpPr>
        <p:spPr>
          <a:xfrm>
            <a:off x="419927" y="258893"/>
            <a:ext cx="8438754" cy="4884607"/>
          </a:xfrm>
          <a:prstGeom prst="rect">
            <a:avLst/>
          </a:prstGeom>
        </p:spPr>
        <p:txBody>
          <a:bodyPr wrap="square">
            <a:spAutoFit/>
          </a:bodyPr>
          <a:lstStyle/>
          <a:p>
            <a:pPr algn="just">
              <a:lnSpc>
                <a:spcPct val="107000"/>
              </a:lnSpc>
              <a:spcBef>
                <a:spcPts val="1200"/>
              </a:spcBef>
              <a:spcAft>
                <a:spcPts val="800"/>
              </a:spcAft>
            </a:pPr>
            <a:endParaRPr lang="en-US" sz="16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400" b="1" dirty="0">
                <a:latin typeface="Times New Roman" panose="02020603050405020304" pitchFamily="18" charset="0"/>
                <a:ea typeface="Calibri" panose="020F0502020204030204" pitchFamily="34" charset="0"/>
                <a:cs typeface="Times New Roman" panose="02020603050405020304" pitchFamily="18" charset="0"/>
              </a:rPr>
              <a:t>1. System:</a:t>
            </a:r>
          </a:p>
          <a:p>
            <a:pPr>
              <a:lnSpc>
                <a:spcPct val="150000"/>
              </a:lnSpc>
            </a:pPr>
            <a:r>
              <a:rPr lang="en-US" sz="1400" b="1" dirty="0">
                <a:latin typeface="Times New Roman" panose="02020603050405020304" pitchFamily="18" charset="0"/>
                <a:cs typeface="Times New Roman" panose="02020603050405020304" pitchFamily="18" charset="0"/>
              </a:rPr>
              <a:t>1.1 Data Upload and Acquisition Module</a:t>
            </a:r>
          </a:p>
          <a:p>
            <a:pPr>
              <a:lnSpc>
                <a:spcPct val="150000"/>
              </a:lnSpc>
            </a:pPr>
            <a:r>
              <a:rPr lang="en-US" sz="1400" dirty="0">
                <a:latin typeface="Times New Roman" panose="02020603050405020304" pitchFamily="18" charset="0"/>
                <a:cs typeface="Times New Roman" panose="02020603050405020304" pitchFamily="18" charset="0"/>
              </a:rPr>
              <a:t>Enables users to upload CSV files or manually enter beamforming features like mobility, latency, and gain. Pandas validates and displays uploaded data in a table for verification, supporting both batch and single-entry predictions.</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1.2 Data Validation and Preprocessing Module</a:t>
            </a:r>
          </a:p>
          <a:p>
            <a:pPr>
              <a:lnSpc>
                <a:spcPct val="150000"/>
              </a:lnSpc>
            </a:pPr>
            <a:r>
              <a:rPr lang="en-US" sz="1400" dirty="0">
                <a:latin typeface="Times New Roman" panose="02020603050405020304" pitchFamily="18" charset="0"/>
                <a:cs typeface="Times New Roman" panose="02020603050405020304" pitchFamily="18" charset="0"/>
              </a:rPr>
              <a:t>Ensures data quality by checking for missing, invalid, or out-of-range values. Converts valid inputs into model-compatible format, enhancing prediction accuracy and consistency.</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1.3 Model Selection and Evaluation Module</a:t>
            </a:r>
          </a:p>
          <a:p>
            <a:pPr>
              <a:lnSpc>
                <a:spcPct val="150000"/>
              </a:lnSpc>
            </a:pPr>
            <a:r>
              <a:rPr lang="en-US" sz="1400" dirty="0">
                <a:latin typeface="Times New Roman" panose="02020603050405020304" pitchFamily="18" charset="0"/>
                <a:cs typeface="Times New Roman" panose="02020603050405020304" pitchFamily="18" charset="0"/>
              </a:rPr>
              <a:t>Provides six model options (Random Forest, Decision Tree, Logistic Regression, KNN, Gradient Boosting,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with visible accuracy scores. Helps users select the best-performing model for their dataset</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56315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23</a:t>
            </a:fld>
            <a:endParaRPr lang="en-US" dirty="0"/>
          </a:p>
        </p:txBody>
      </p:sp>
      <p:sp>
        <p:nvSpPr>
          <p:cNvPr id="3" name="Rectangle 2"/>
          <p:cNvSpPr/>
          <p:nvPr/>
        </p:nvSpPr>
        <p:spPr>
          <a:xfrm>
            <a:off x="483477" y="620109"/>
            <a:ext cx="8187559" cy="3800720"/>
          </a:xfrm>
          <a:prstGeom prst="rect">
            <a:avLst/>
          </a:prstGeom>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Implementation:</a:t>
            </a:r>
          </a:p>
          <a:p>
            <a:pPr>
              <a:lnSpc>
                <a:spcPct val="150000"/>
              </a:lnSpc>
            </a:pPr>
            <a:r>
              <a:rPr lang="en-US" sz="1400" b="1" dirty="0">
                <a:latin typeface="Times New Roman" panose="02020603050405020304" pitchFamily="18" charset="0"/>
                <a:ea typeface="Calibri" panose="020F0502020204030204" pitchFamily="34" charset="0"/>
                <a:cs typeface="Times New Roman" panose="02020603050405020304" pitchFamily="18" charset="0"/>
              </a:rPr>
              <a:t>1.System:</a:t>
            </a:r>
          </a:p>
          <a:p>
            <a:pPr>
              <a:lnSpc>
                <a:spcPct val="150000"/>
              </a:lnSpc>
            </a:pPr>
            <a:endParaRPr lang="en-US" sz="1400" b="1"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1.4 Prediction and Inference Module</a:t>
            </a:r>
          </a:p>
          <a:p>
            <a:pPr>
              <a:lnSpc>
                <a:spcPct val="150000"/>
              </a:lnSpc>
            </a:pPr>
            <a:r>
              <a:rPr lang="en-US" sz="1400" dirty="0">
                <a:latin typeface="Times New Roman" panose="02020603050405020304" pitchFamily="18" charset="0"/>
                <a:cs typeface="Times New Roman" panose="02020603050405020304" pitchFamily="18" charset="0"/>
              </a:rPr>
              <a:t>Transforms input into an array and loads the selected model using </a:t>
            </a:r>
            <a:r>
              <a:rPr lang="en-US" sz="1400" dirty="0" err="1">
                <a:latin typeface="Times New Roman" panose="02020603050405020304" pitchFamily="18" charset="0"/>
                <a:cs typeface="Times New Roman" panose="02020603050405020304" pitchFamily="18" charset="0"/>
              </a:rPr>
              <a:t>joblib</a:t>
            </a:r>
            <a:r>
              <a:rPr lang="en-US" sz="1400" dirty="0">
                <a:latin typeface="Times New Roman" panose="02020603050405020304" pitchFamily="18" charset="0"/>
                <a:cs typeface="Times New Roman" panose="02020603050405020304" pitchFamily="18" charset="0"/>
              </a:rPr>
              <a:t>. Outputs real-time predictions as either "Success" or "Failure" for beamforming, shown instantly on the user interface.</a:t>
            </a:r>
          </a:p>
          <a:p>
            <a:pPr>
              <a:lnSpc>
                <a:spcPct val="150000"/>
              </a:lnSpc>
            </a:pPr>
            <a:endParaRPr lang="en-US" sz="1400" dirty="0">
              <a:latin typeface="Times New Roman" panose="02020603050405020304" pitchFamily="18" charset="0"/>
              <a:cs typeface="Times New Roman" panose="02020603050405020304" pitchFamily="18" charset="0"/>
            </a:endParaRPr>
          </a:p>
          <a:p>
            <a:pPr>
              <a:lnSpc>
                <a:spcPct val="150000"/>
              </a:lnSpc>
            </a:pPr>
            <a:r>
              <a:rPr lang="en-US" sz="1400" b="1" dirty="0">
                <a:latin typeface="Times New Roman" panose="02020603050405020304" pitchFamily="18" charset="0"/>
                <a:cs typeface="Times New Roman" panose="02020603050405020304" pitchFamily="18" charset="0"/>
              </a:rPr>
              <a:t>1.5 Model Assessment and Substitution Logic</a:t>
            </a:r>
          </a:p>
          <a:p>
            <a:pPr>
              <a:lnSpc>
                <a:spcPct val="150000"/>
              </a:lnSpc>
            </a:pPr>
            <a:r>
              <a:rPr lang="en-US" sz="1400" dirty="0">
                <a:latin typeface="Times New Roman" panose="02020603050405020304" pitchFamily="18" charset="0"/>
                <a:cs typeface="Times New Roman" panose="02020603050405020304" pitchFamily="18" charset="0"/>
              </a:rPr>
              <a:t>Planned enhancement to monitor model performance over time and auto-replace underperforming models, maintaining long-term accuracy and reliability.</a:t>
            </a:r>
          </a:p>
          <a:p>
            <a:pPr algn="just">
              <a:lnSpc>
                <a:spcPct val="107000"/>
              </a:lnSpc>
              <a:spcBef>
                <a:spcPts val="1200"/>
              </a:spcBef>
              <a:spcAft>
                <a:spcPts val="800"/>
              </a:spcAft>
            </a:pP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70402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24</a:t>
            </a:fld>
            <a:endParaRPr lang="en-US" dirty="0"/>
          </a:p>
        </p:txBody>
      </p:sp>
      <p:sp>
        <p:nvSpPr>
          <p:cNvPr id="4" name="Rectangle 1"/>
          <p:cNvSpPr>
            <a:spLocks noChangeArrowheads="1"/>
          </p:cNvSpPr>
          <p:nvPr/>
        </p:nvSpPr>
        <p:spPr bwMode="auto">
          <a:xfrm>
            <a:off x="483477" y="809296"/>
            <a:ext cx="7924799"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2.1 Registration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register by providing personal details. The system ensures unique emails and password confirmation before securely storing credentials in the MySQL database.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2.2 Login and Session Handling</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log in with valid credentials. A session is created to control access to protected routes like /home, ensuring only authenticated users can access predictions.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2.3 Data Upload and Entry</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upload CSV files or manually input feature data. Uploaded data is parsed and previewed for validation before further processing.</a:t>
            </a:r>
          </a:p>
        </p:txBody>
      </p:sp>
      <p:sp>
        <p:nvSpPr>
          <p:cNvPr id="5" name="Rectangle 4"/>
          <p:cNvSpPr/>
          <p:nvPr/>
        </p:nvSpPr>
        <p:spPr>
          <a:xfrm>
            <a:off x="396915" y="350927"/>
            <a:ext cx="1719381" cy="507831"/>
          </a:xfrm>
          <a:prstGeom prst="rect">
            <a:avLst/>
          </a:prstGeom>
        </p:spPr>
        <p:txBody>
          <a:bodyPr wrap="none">
            <a:spAutoFit/>
          </a:bodyPr>
          <a:lstStyle/>
          <a:p>
            <a:pPr marL="342900" lvl="0" indent="-342900" algn="just">
              <a:lnSpc>
                <a:spcPct val="150000"/>
              </a:lnSpc>
              <a:tabLst>
                <a:tab pos="457200" algn="l"/>
              </a:tabLst>
            </a:pPr>
            <a:r>
              <a:rPr lang="en-IN" b="1" dirty="0">
                <a:latin typeface="Times New Roman" panose="02020603050405020304" pitchFamily="18" charset="0"/>
                <a:ea typeface="Times New Roman" panose="02020603050405020304" pitchFamily="18" charset="0"/>
              </a:rPr>
              <a:t>2.User Modules</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45539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25</a:t>
            </a:fld>
            <a:endParaRPr lang="en-US" dirty="0"/>
          </a:p>
        </p:txBody>
      </p:sp>
      <p:sp>
        <p:nvSpPr>
          <p:cNvPr id="4" name="Rectangle 1"/>
          <p:cNvSpPr>
            <a:spLocks noChangeArrowheads="1"/>
          </p:cNvSpPr>
          <p:nvPr/>
        </p:nvSpPr>
        <p:spPr bwMode="auto">
          <a:xfrm>
            <a:off x="483477" y="1052413"/>
            <a:ext cx="7924799"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2.4 Model Selection and Comparison</a:t>
            </a:r>
          </a:p>
          <a:p>
            <a:pPr algn="just">
              <a:lnSpc>
                <a:spcPct val="150000"/>
              </a:lnSpc>
            </a:pPr>
            <a:r>
              <a:rPr lang="en-US" sz="1400" dirty="0">
                <a:latin typeface="Times New Roman" panose="02020603050405020304" pitchFamily="18" charset="0"/>
                <a:cs typeface="Times New Roman" panose="02020603050405020304" pitchFamily="18" charset="0"/>
              </a:rPr>
              <a:t>Users choose from available models and view their accuracy scores. This helps in selecting the most suitable model for predictions.</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b="1" dirty="0">
                <a:latin typeface="Times New Roman" panose="02020603050405020304" pitchFamily="18" charset="0"/>
                <a:cs typeface="Times New Roman" panose="02020603050405020304" pitchFamily="18" charset="0"/>
              </a:rPr>
              <a:t>2.5 Prediction Output Visualization</a:t>
            </a:r>
          </a:p>
          <a:p>
            <a:pPr algn="just">
              <a:lnSpc>
                <a:spcPct val="150000"/>
              </a:lnSpc>
            </a:pPr>
            <a:r>
              <a:rPr lang="en-US" sz="1400" dirty="0">
                <a:latin typeface="Times New Roman" panose="02020603050405020304" pitchFamily="18" charset="0"/>
                <a:cs typeface="Times New Roman" panose="02020603050405020304" pitchFamily="18" charset="0"/>
              </a:rPr>
              <a:t>Predictions are displayed clearly as “Success” or “Failure” on the front-end, allowing easy interpretation through a user-friendly interface.</a:t>
            </a:r>
          </a:p>
          <a:p>
            <a:pPr algn="just">
              <a:lnSpc>
                <a:spcPct val="150000"/>
              </a:lnSpc>
            </a:pPr>
            <a:endParaRPr lang="en-US" sz="1400" dirty="0">
              <a:latin typeface="Times New Roman" panose="02020603050405020304" pitchFamily="18" charset="0"/>
              <a:cs typeface="Times New Roman" panose="02020603050405020304" pitchFamily="18" charset="0"/>
            </a:endParaRPr>
          </a:p>
          <a:p>
            <a:pPr algn="just">
              <a:lnSpc>
                <a:spcPct val="150000"/>
              </a:lnSpc>
            </a:pPr>
            <a:r>
              <a:rPr lang="en-US" sz="1400" b="1" dirty="0">
                <a:latin typeface="Times New Roman" panose="02020603050405020304" pitchFamily="18" charset="0"/>
                <a:cs typeface="Times New Roman" panose="02020603050405020304" pitchFamily="18" charset="0"/>
              </a:rPr>
              <a:t>2.6 Logout and Session Termination</a:t>
            </a:r>
          </a:p>
          <a:p>
            <a:pPr algn="just">
              <a:lnSpc>
                <a:spcPct val="150000"/>
              </a:lnSpc>
            </a:pPr>
            <a:r>
              <a:rPr lang="en-US" sz="1400" dirty="0">
                <a:latin typeface="Times New Roman" panose="02020603050405020304" pitchFamily="18" charset="0"/>
                <a:cs typeface="Times New Roman" panose="02020603050405020304" pitchFamily="18" charset="0"/>
              </a:rPr>
              <a:t>Secure logout ends the session, ensuring user data remains protected and inaccessible to unauthorized users.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4"/>
          <p:cNvSpPr/>
          <p:nvPr/>
        </p:nvSpPr>
        <p:spPr>
          <a:xfrm>
            <a:off x="396915" y="350927"/>
            <a:ext cx="1719381" cy="507831"/>
          </a:xfrm>
          <a:prstGeom prst="rect">
            <a:avLst/>
          </a:prstGeom>
        </p:spPr>
        <p:txBody>
          <a:bodyPr wrap="none">
            <a:spAutoFit/>
          </a:bodyPr>
          <a:lstStyle/>
          <a:p>
            <a:pPr marL="342900" lvl="0" indent="-342900" algn="just">
              <a:lnSpc>
                <a:spcPct val="150000"/>
              </a:lnSpc>
              <a:tabLst>
                <a:tab pos="457200" algn="l"/>
              </a:tabLst>
            </a:pPr>
            <a:r>
              <a:rPr lang="en-IN" b="1" dirty="0">
                <a:latin typeface="Times New Roman" panose="02020603050405020304" pitchFamily="18" charset="0"/>
                <a:ea typeface="Times New Roman" panose="02020603050405020304" pitchFamily="18" charset="0"/>
              </a:rPr>
              <a:t>2.User Modules</a:t>
            </a: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380199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lvl="0"/>
            <a:r>
              <a:rPr lang="en-IN" sz="2400" b="1" dirty="0">
                <a:solidFill>
                  <a:schemeClr val="tx1"/>
                </a:solidFill>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9455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Explanation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Model Implementation</a:t>
            </a:r>
            <a:endParaRPr lang="en-IN" b="1" dirty="0">
              <a:latin typeface="Times New Roman" panose="02020603050405020304" pitchFamily="18" charset="0"/>
              <a:cs typeface="Times New Roman" panose="02020603050405020304" pitchFamily="18" charset="0"/>
            </a:endParaRPr>
          </a:p>
        </p:txBody>
      </p:sp>
      <p:sp>
        <p:nvSpPr>
          <p:cNvPr id="3" name="Rectangle 2"/>
          <p:cNvSpPr/>
          <p:nvPr/>
        </p:nvSpPr>
        <p:spPr>
          <a:xfrm>
            <a:off x="1906413" y="1105946"/>
            <a:ext cx="1537665" cy="458074"/>
          </a:xfrm>
          <a:prstGeom prst="rect">
            <a:avLst/>
          </a:prstGeom>
        </p:spPr>
        <p:txBody>
          <a:bodyPr wrap="none">
            <a:spAutoFit/>
          </a:bodyPr>
          <a:lstStyle/>
          <a:p>
            <a:pPr algn="just">
              <a:lnSpc>
                <a:spcPct val="150000"/>
              </a:lnSpc>
            </a:pPr>
            <a:r>
              <a:rPr lang="en-US" b="1" dirty="0">
                <a:latin typeface="Times New Roman" panose="02020603050405020304" pitchFamily="18" charset="0"/>
                <a:cs typeface="Times New Roman" panose="02020603050405020304" pitchFamily="18" charset="0"/>
              </a:rPr>
              <a:t>Data Analysis</a:t>
            </a:r>
          </a:p>
        </p:txBody>
      </p:sp>
      <p:sp>
        <p:nvSpPr>
          <p:cNvPr id="23"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27</a:t>
            </a:fld>
            <a:endParaRPr lang="en-US" dirty="0"/>
          </a:p>
        </p:txBody>
      </p:sp>
      <p:sp>
        <p:nvSpPr>
          <p:cNvPr id="5" name="Rectangle 1"/>
          <p:cNvSpPr>
            <a:spLocks noChangeArrowheads="1"/>
          </p:cNvSpPr>
          <p:nvPr/>
        </p:nvSpPr>
        <p:spPr bwMode="auto">
          <a:xfrm>
            <a:off x="525517" y="440550"/>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p:nvPr/>
        </p:nvSpPr>
        <p:spPr>
          <a:xfrm>
            <a:off x="525517" y="790649"/>
            <a:ext cx="7882758" cy="4185761"/>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Data Description</a:t>
            </a:r>
          </a:p>
          <a:p>
            <a:endParaRPr lang="en-US" sz="1400" b="1"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The dataset consists of several features related to wireless communication and network performance, focusing on mobility, antenna characteristics, beamforming, and other key metrics. Each row represents a sample of network conditions in an environment, with each sample containing a set of features along with an environment classification (Outdoor or not). Below are the columns and their descriptions:</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Mobility (m/s)</a:t>
            </a:r>
            <a:r>
              <a:rPr lang="en-US" sz="1400" dirty="0">
                <a:latin typeface="Times New Roman" panose="02020603050405020304" pitchFamily="18" charset="0"/>
                <a:cs typeface="Times New Roman" panose="02020603050405020304" pitchFamily="18" charset="0"/>
              </a:rPr>
              <a:t>:</a:t>
            </a:r>
          </a:p>
          <a:p>
            <a:pPr algn="just"/>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feature represents the speed of the mobile unit (in meters per second). Higher values indicate faster mobility, which can impact communication quality, signal strength, and network stability.</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2.745, 1.640, 2.077 (measured mobility in meters per second).</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Number of Antennas</a:t>
            </a:r>
            <a:r>
              <a:rPr lang="en-US" sz="1400" dirty="0">
                <a:latin typeface="Times New Roman" panose="02020603050405020304" pitchFamily="18" charset="0"/>
                <a:cs typeface="Times New Roman" panose="02020603050405020304" pitchFamily="18" charset="0"/>
              </a:rPr>
              <a:t>:</a:t>
            </a:r>
          </a:p>
          <a:p>
            <a:pPr algn="just"/>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indicates the number of antennas involved in the communication system. A higher number of antennas can potentially improve network performance by providing better coverage, signal quality, and capacity.</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512, 512, 256 (number of antennas used in each sample).</a:t>
            </a:r>
          </a:p>
          <a:p>
            <a:endParaRPr lang="en-US" sz="1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7354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424542" y="516544"/>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a:off x="424542" y="925638"/>
            <a:ext cx="8376756"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Beamforming Gain (dB)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Beamforming is a technique used in antenna arrays to focus the signal in specific directions. This feature measures the gain in decibels (dB), which indicates how effectively the antenna system focuses the signal.</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17.85, 15.40, 16.12 (beamforming gain in decibels).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Latency (</a:t>
            </a:r>
            <a:r>
              <a:rPr kumimoji="0" lang="en-US" alt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ms</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Latency refers to the delay in the network communication, typically measured in milliseconds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Low latency is crucial for time-sensitive applications.</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1.78, 1.35, 3.93 (network latency in milliseconds).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Throughput (Mbps)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feature represents the rate at which data is transmitted over the network, measured in Megabits per second (Mbps). Higher throughput indicates a more efficient network with better data transfer capabilities.</a:t>
            </a:r>
            <a:b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367.25, 539.60, 820.32 (network throughput in Mbps).</a:t>
            </a:r>
          </a:p>
        </p:txBody>
      </p:sp>
    </p:spTree>
    <p:extLst>
      <p:ext uri="{BB962C8B-B14F-4D97-AF65-F5344CB8AC3E}">
        <p14:creationId xmlns:p14="http://schemas.microsoft.com/office/powerpoint/2010/main" val="2642808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424542" y="516544"/>
            <a:ext cx="18053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Columns Description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p:cNvSpPr/>
          <p:nvPr/>
        </p:nvSpPr>
        <p:spPr>
          <a:xfrm>
            <a:off x="424542" y="1039764"/>
            <a:ext cx="8109858" cy="3539430"/>
          </a:xfrm>
          <a:prstGeom prst="rect">
            <a:avLst/>
          </a:prstGeom>
        </p:spPr>
        <p:txBody>
          <a:bodyPr wrap="square">
            <a:spAutoFit/>
          </a:bodyPr>
          <a:lstStyle/>
          <a:p>
            <a:pPr>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Beam Training Time (s)</a:t>
            </a:r>
            <a:r>
              <a:rPr lang="en-US" sz="1400" dirty="0">
                <a:latin typeface="Times New Roman" panose="02020603050405020304" pitchFamily="18" charset="0"/>
                <a:cs typeface="Times New Roman" panose="02020603050405020304" pitchFamily="18" charset="0"/>
              </a:rPr>
              <a:t>:</a:t>
            </a:r>
          </a:p>
          <a:p>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The time required for beamforming to be trained for optimal signal transmission. This value can influence how quickly a network adapts to mobility and signal changes.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0.033, 0.058, 0.141 (beamforming training time in seconds).</a:t>
            </a:r>
          </a:p>
          <a:p>
            <a:pPr>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400" b="1" dirty="0" err="1">
                <a:latin typeface="Times New Roman" panose="02020603050405020304" pitchFamily="18" charset="0"/>
                <a:cs typeface="Times New Roman" panose="02020603050405020304" pitchFamily="18" charset="0"/>
              </a:rPr>
              <a:t>Environment_Outdoor</a:t>
            </a:r>
            <a:r>
              <a:rPr lang="en-US" sz="1400" dirty="0">
                <a:latin typeface="Times New Roman" panose="02020603050405020304" pitchFamily="18" charset="0"/>
                <a:cs typeface="Times New Roman" panose="02020603050405020304" pitchFamily="18" charset="0"/>
              </a:rPr>
              <a:t>:</a:t>
            </a:r>
          </a:p>
          <a:p>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binary feature indicates whether the network operates in an outdoor environment (TRUE) or otherwise (FALSE). The environment type can affect signal propagation, interference, and network performance.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Example: FALSE, FALSE, FALSE (indicating all samples are not in an outdoor environment).</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This dataset is useful for understanding various factors that influence wireless communication performance, such as mobility, beamforming, and environmental conditions. The target variable (not explicitly listed here) could likely be related to performance metrics like network reliability or signal strength in a given environment.</a:t>
            </a:r>
          </a:p>
        </p:txBody>
      </p:sp>
    </p:spTree>
    <p:extLst>
      <p:ext uri="{BB962C8B-B14F-4D97-AF65-F5344CB8AC3E}">
        <p14:creationId xmlns:p14="http://schemas.microsoft.com/office/powerpoint/2010/main" val="423033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p>
        </p:txBody>
      </p:sp>
      <p:sp>
        <p:nvSpPr>
          <p:cNvPr id="4" name="Google Shape;892;p34"/>
          <p:cNvSpPr/>
          <p:nvPr/>
        </p:nvSpPr>
        <p:spPr>
          <a:xfrm>
            <a:off x="7628201" y="721556"/>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9" name="Rectangle 8"/>
          <p:cNvSpPr/>
          <p:nvPr/>
        </p:nvSpPr>
        <p:spPr>
          <a:xfrm>
            <a:off x="509691" y="1085692"/>
            <a:ext cx="5718232" cy="307777"/>
          </a:xfrm>
          <a:prstGeom prst="rect">
            <a:avLst/>
          </a:prstGeom>
        </p:spPr>
        <p:txBody>
          <a:bodyPr wrap="none">
            <a:spAutoFit/>
          </a:bodyPr>
          <a:lstStyle/>
          <a:p>
            <a:r>
              <a:rPr lang="en-US" sz="14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top 5 rows of the dataset here we see the how was the dataset values.</a:t>
            </a:r>
            <a:endParaRPr lang="en-IN" sz="1400" dirty="0"/>
          </a:p>
        </p:txBody>
      </p:sp>
      <p:pic>
        <p:nvPicPr>
          <p:cNvPr id="2" name="Picture 1"/>
          <p:cNvPicPr>
            <a:picLocks noChangeAspect="1"/>
          </p:cNvPicPr>
          <p:nvPr/>
        </p:nvPicPr>
        <p:blipFill>
          <a:blip r:embed="rId3"/>
          <a:stretch>
            <a:fillRect/>
          </a:stretch>
        </p:blipFill>
        <p:spPr>
          <a:xfrm>
            <a:off x="509691" y="1581011"/>
            <a:ext cx="8227909" cy="289954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35484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p>
        </p:txBody>
      </p:sp>
      <p:sp>
        <p:nvSpPr>
          <p:cNvPr id="4" name="Google Shape;892;p34"/>
          <p:cNvSpPr/>
          <p:nvPr/>
        </p:nvSpPr>
        <p:spPr>
          <a:xfrm>
            <a:off x="7628201" y="721556"/>
            <a:ext cx="884318" cy="895887"/>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10" name="Rectangle 9"/>
          <p:cNvSpPr/>
          <p:nvPr/>
        </p:nvSpPr>
        <p:spPr>
          <a:xfrm>
            <a:off x="509691" y="1013936"/>
            <a:ext cx="6844747" cy="307777"/>
          </a:xfrm>
          <a:prstGeom prst="rect">
            <a:avLst/>
          </a:prstGeom>
        </p:spPr>
        <p:txBody>
          <a:bodyPr wrap="square">
            <a:spAutoFit/>
          </a:bodyPr>
          <a:lstStyle/>
          <a:p>
            <a:r>
              <a:rPr lang="en-US" sz="14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Bottom 5 rows of the dataset here we see the how was the dataset values.</a:t>
            </a:r>
            <a:endParaRPr lang="en-IN" sz="1400" dirty="0"/>
          </a:p>
        </p:txBody>
      </p:sp>
      <p:pic>
        <p:nvPicPr>
          <p:cNvPr id="3" name="Picture 2"/>
          <p:cNvPicPr>
            <a:picLocks noChangeAspect="1"/>
          </p:cNvPicPr>
          <p:nvPr/>
        </p:nvPicPr>
        <p:blipFill>
          <a:blip r:embed="rId3"/>
          <a:stretch>
            <a:fillRect/>
          </a:stretch>
        </p:blipFill>
        <p:spPr>
          <a:xfrm>
            <a:off x="509691" y="1513493"/>
            <a:ext cx="8232203" cy="2954559"/>
          </a:xfrm>
          <a:prstGeom prst="rect">
            <a:avLst/>
          </a:prstGeom>
        </p:spPr>
      </p:pic>
    </p:spTree>
    <p:extLst>
      <p:ext uri="{BB962C8B-B14F-4D97-AF65-F5344CB8AC3E}">
        <p14:creationId xmlns:p14="http://schemas.microsoft.com/office/powerpoint/2010/main" val="2361364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5" name="Google Shape;894;p34"/>
          <p:cNvSpPr txBox="1"/>
          <p:nvPr/>
        </p:nvSpPr>
        <p:spPr>
          <a:xfrm>
            <a:off x="7803460" y="31959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7" name="Google Shape;1561;p39"/>
          <p:cNvSpPr txBox="1"/>
          <p:nvPr/>
        </p:nvSpPr>
        <p:spPr>
          <a:xfrm>
            <a:off x="0" y="335665"/>
            <a:ext cx="2399655" cy="5518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dk1"/>
              </a:buClr>
              <a:buSzPts val="35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marR="0" lvl="1"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marR="0" lvl="2"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marR="0" lvl="3"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marR="0" lvl="4"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marR="0" lvl="5"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marR="0" lvl="6"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marR="0" lvl="7"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marR="0" lvl="8" algn="ctr" rtl="0">
              <a:lnSpc>
                <a:spcPct val="115000"/>
              </a:lnSpc>
              <a:spcBef>
                <a:spcPts val="0"/>
              </a:spcBef>
              <a:spcAft>
                <a:spcPts val="0"/>
              </a:spcAft>
              <a:buClr>
                <a:schemeClr val="dk1"/>
              </a:buClr>
              <a:buSzPts val="3500"/>
              <a:buFont typeface="Poppins Black" panose="00000800000000000000"/>
              <a:buNone/>
              <a:defRPr sz="35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r>
              <a:rPr lang="en-IN" sz="18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Correlation</a:t>
            </a:r>
          </a:p>
        </p:txBody>
      </p:sp>
      <p:pic>
        <p:nvPicPr>
          <p:cNvPr id="3" name="Picture 2"/>
          <p:cNvPicPr>
            <a:picLocks noChangeAspect="1"/>
          </p:cNvPicPr>
          <p:nvPr/>
        </p:nvPicPr>
        <p:blipFill>
          <a:blip r:embed="rId3"/>
          <a:stretch>
            <a:fillRect/>
          </a:stretch>
        </p:blipFill>
        <p:spPr>
          <a:xfrm>
            <a:off x="1278194" y="887558"/>
            <a:ext cx="6150651" cy="337990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33</a:t>
            </a:fld>
            <a:endParaRPr lang="en-US" dirty="0"/>
          </a:p>
        </p:txBody>
      </p:sp>
      <p:sp>
        <p:nvSpPr>
          <p:cNvPr id="2" name="Rectangle 1"/>
          <p:cNvSpPr/>
          <p:nvPr/>
        </p:nvSpPr>
        <p:spPr>
          <a:xfrm>
            <a:off x="567560" y="519041"/>
            <a:ext cx="7914289" cy="4078039"/>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image presents a correlation matrix that shows the relationships between several numerical features related to wireless communication and network performance. The dataset includes variables such as </a:t>
            </a:r>
            <a:r>
              <a:rPr lang="en-US" sz="1400" b="1" dirty="0">
                <a:latin typeface="Times New Roman" panose="02020603050405020304" pitchFamily="18" charset="0"/>
                <a:cs typeface="Times New Roman" panose="02020603050405020304" pitchFamily="18" charset="0"/>
              </a:rPr>
              <a:t>Obstacle Density</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Mobility (m/s)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Frequency (GHz)</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Transmit Power (</a:t>
            </a:r>
            <a:r>
              <a:rPr lang="en-US" sz="1400" b="1" dirty="0" err="1">
                <a:latin typeface="Times New Roman" panose="02020603050405020304" pitchFamily="18" charset="0"/>
                <a:cs typeface="Times New Roman" panose="02020603050405020304" pitchFamily="18" charset="0"/>
              </a:rPr>
              <a:t>dBm</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Number of Antennas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Codebook Size</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Bandwidth (MHz)</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Interference Level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SIFT </a:t>
            </a:r>
            <a:r>
              <a:rPr lang="en-US" sz="1400" b="1"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Beamforming Gain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Latency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Throughput (Mbps)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Beam Training Time (s)</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SNR Improvement (dB)</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Processing Time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Memory Usage (MB)</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Optimized</a:t>
            </a:r>
            <a:r>
              <a:rPr lang="en-US" sz="1400" dirty="0">
                <a:latin typeface="Times New Roman" panose="02020603050405020304" pitchFamily="18" charset="0"/>
                <a:cs typeface="Times New Roman" panose="02020603050405020304" pitchFamily="18" charset="0"/>
              </a:rPr>
              <a:t>. The matrix helps in identifying the strength and direction of the relationships between these features, offering insights into how certain factors might influence one another in the context of wireless systems.</a:t>
            </a:r>
          </a:p>
          <a:p>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One notable insight is the very weak positive correlation between </a:t>
            </a:r>
            <a:r>
              <a:rPr lang="en-US" sz="1400" b="1" dirty="0">
                <a:latin typeface="Times New Roman" panose="02020603050405020304" pitchFamily="18" charset="0"/>
                <a:cs typeface="Times New Roman" panose="02020603050405020304" pitchFamily="18" charset="0"/>
              </a:rPr>
              <a:t>Mobility (m/s)</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Frequency (GHz)</a:t>
            </a:r>
            <a:r>
              <a:rPr lang="en-US" sz="1400" dirty="0">
                <a:latin typeface="Times New Roman" panose="02020603050405020304" pitchFamily="18" charset="0"/>
                <a:cs typeface="Times New Roman" panose="02020603050405020304" pitchFamily="18" charset="0"/>
              </a:rPr>
              <a:t> (0.03), which indicates that changes in mobility marginally impact the frequency usage, though the relationship is not strong enough to be considered significant. Similarly, </a:t>
            </a:r>
            <a:r>
              <a:rPr lang="en-US" sz="1400" b="1" dirty="0">
                <a:latin typeface="Times New Roman" panose="02020603050405020304" pitchFamily="18" charset="0"/>
                <a:cs typeface="Times New Roman" panose="02020603050405020304" pitchFamily="18" charset="0"/>
              </a:rPr>
              <a:t>Beamforming Gain (dB)</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SIFT </a:t>
            </a:r>
            <a:r>
              <a:rPr lang="en-US" sz="1400" b="1"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exhibit a moderate positive correlation of 0.10, suggesting that as the number of </a:t>
            </a:r>
            <a:r>
              <a:rPr lang="en-US" sz="1400" dirty="0" err="1">
                <a:latin typeface="Times New Roman" panose="02020603050405020304" pitchFamily="18" charset="0"/>
                <a:cs typeface="Times New Roman" panose="02020603050405020304" pitchFamily="18" charset="0"/>
              </a:rPr>
              <a:t>keypoints</a:t>
            </a:r>
            <a:r>
              <a:rPr lang="en-US" sz="1400" dirty="0">
                <a:latin typeface="Times New Roman" panose="02020603050405020304" pitchFamily="18" charset="0"/>
                <a:cs typeface="Times New Roman" panose="02020603050405020304" pitchFamily="18" charset="0"/>
              </a:rPr>
              <a:t> detected in a given network environment increases, the effectiveness of beamforming techniques could also improve slightly. This relationship may point toward how advanced image-processing or feature-detection techniques in the environment could play a role in the network’s ability to focus and direct signals more efficiently.</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33499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34</a:t>
            </a:fld>
            <a:endParaRPr lang="en-US" dirty="0"/>
          </a:p>
        </p:txBody>
      </p:sp>
      <p:sp>
        <p:nvSpPr>
          <p:cNvPr id="2" name="Rectangle 1"/>
          <p:cNvSpPr/>
          <p:nvPr/>
        </p:nvSpPr>
        <p:spPr>
          <a:xfrm>
            <a:off x="567560" y="814009"/>
            <a:ext cx="7914289" cy="3431709"/>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A key takeaway from the matrix is the negative correlation between </a:t>
            </a:r>
            <a:r>
              <a:rPr lang="en-US" sz="1400" b="1" dirty="0">
                <a:latin typeface="Times New Roman" panose="02020603050405020304" pitchFamily="18" charset="0"/>
                <a:cs typeface="Times New Roman" panose="02020603050405020304" pitchFamily="18" charset="0"/>
              </a:rPr>
              <a:t>Latency (</a:t>
            </a:r>
            <a:r>
              <a:rPr lang="en-US" sz="1400" b="1" dirty="0" err="1">
                <a:latin typeface="Times New Roman" panose="02020603050405020304" pitchFamily="18" charset="0"/>
                <a:cs typeface="Times New Roman" panose="02020603050405020304" pitchFamily="18" charset="0"/>
              </a:rPr>
              <a:t>ms</a:t>
            </a:r>
            <a:r>
              <a:rPr lang="en-US" sz="1400" b="1"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Throughput (Mbps)</a:t>
            </a:r>
            <a:r>
              <a:rPr lang="en-US" sz="1400" dirty="0">
                <a:latin typeface="Times New Roman" panose="02020603050405020304" pitchFamily="18" charset="0"/>
                <a:cs typeface="Times New Roman" panose="02020603050405020304" pitchFamily="18" charset="0"/>
              </a:rPr>
              <a:t> (-0.42), which highlights a common characteristic in networking systems: as latency increases, throughput tends to decrease. This makes sense, as higher latency often introduces delays in data transfer, impacting the overall speed or capacity of the network to handle traffic. The negative correlation underscores the importance of minimizing latency in ensuring that throughput remains high and efficient, particularly for time-sensitive applications or networks demanding high-speed data transfer.</a:t>
            </a:r>
          </a:p>
          <a:p>
            <a:pPr algn="just"/>
            <a:endParaRPr lang="en-US" sz="1400" dirty="0">
              <a:latin typeface="Times New Roman" panose="02020603050405020304" pitchFamily="18" charset="0"/>
              <a:cs typeface="Times New Roman" panose="02020603050405020304" pitchFamily="18" charset="0"/>
            </a:endParaRPr>
          </a:p>
          <a:p>
            <a:pPr algn="just"/>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exhibits a weak negative correlation with </a:t>
            </a:r>
            <a:r>
              <a:rPr lang="en-US" sz="1400" b="1" dirty="0">
                <a:latin typeface="Times New Roman" panose="02020603050405020304" pitchFamily="18" charset="0"/>
                <a:cs typeface="Times New Roman" panose="02020603050405020304" pitchFamily="18" charset="0"/>
              </a:rPr>
              <a:t>SNR Improvement (dB)</a:t>
            </a:r>
            <a:r>
              <a:rPr lang="en-US" sz="1400" dirty="0">
                <a:latin typeface="Times New Roman" panose="02020603050405020304" pitchFamily="18" charset="0"/>
                <a:cs typeface="Times New Roman" panose="02020603050405020304" pitchFamily="18" charset="0"/>
              </a:rPr>
              <a:t> (-0.06), suggesting that as energy consumption rises, the improvement in the signal-to-noise ratio (SNR) slightly decreases. This relationship is crucial for optimizing network systems, as it indicates that increasing energy consumption, likely from more power-intensive equipment or network processes, may have diminishing returns on improving signal clarity. For energy-efficient systems, it’s essential to strike a balance where signal strength is maximized without consuming excessive power, which could otherwise hinder overall system efficiency.</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376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217C01CDF565}" type="slidenum">
              <a:rPr lang="en-US" smtClean="0"/>
              <a:pPr/>
              <a:t>35</a:t>
            </a:fld>
            <a:endParaRPr lang="en-US" dirty="0"/>
          </a:p>
        </p:txBody>
      </p:sp>
      <p:sp>
        <p:nvSpPr>
          <p:cNvPr id="2" name="Rectangle 1"/>
          <p:cNvSpPr/>
          <p:nvPr/>
        </p:nvSpPr>
        <p:spPr>
          <a:xfrm>
            <a:off x="567560" y="814009"/>
            <a:ext cx="7914289" cy="3608488"/>
          </a:xfrm>
          <a:prstGeom prst="rect">
            <a:avLst/>
          </a:prstGeom>
        </p:spPr>
        <p:txBody>
          <a:bodyPr wrap="square">
            <a:spAutoFit/>
          </a:bodyPr>
          <a:lstStyle/>
          <a:p>
            <a:pPr algn="just"/>
            <a:r>
              <a:rPr lang="en-US" sz="1400" dirty="0">
                <a:latin typeface="Times New Roman" panose="02020603050405020304" pitchFamily="18" charset="0"/>
                <a:cs typeface="Times New Roman" panose="02020603050405020304" pitchFamily="18" charset="0"/>
              </a:rPr>
              <a:t>The </a:t>
            </a:r>
            <a:r>
              <a:rPr lang="en-US" sz="1400" b="1" dirty="0">
                <a:latin typeface="Times New Roman" panose="02020603050405020304" pitchFamily="18" charset="0"/>
                <a:cs typeface="Times New Roman" panose="02020603050405020304" pitchFamily="18" charset="0"/>
              </a:rPr>
              <a:t>Optimized</a:t>
            </a:r>
            <a:r>
              <a:rPr lang="en-US" sz="1400" dirty="0">
                <a:latin typeface="Times New Roman" panose="02020603050405020304" pitchFamily="18" charset="0"/>
                <a:cs typeface="Times New Roman" panose="02020603050405020304" pitchFamily="18" charset="0"/>
              </a:rPr>
              <a:t> feature, which likely indicates whether the system or network configuration has undergone optimization, shows weak correlations with several other variables. It demonstrates a minor negative correlation with </a:t>
            </a:r>
            <a:r>
              <a:rPr lang="en-US" sz="1400" b="1" dirty="0">
                <a:latin typeface="Times New Roman" panose="02020603050405020304" pitchFamily="18" charset="0"/>
                <a:cs typeface="Times New Roman" panose="02020603050405020304" pitchFamily="18" charset="0"/>
              </a:rPr>
              <a:t>Obstacle Density</a:t>
            </a:r>
            <a:r>
              <a:rPr lang="en-US" sz="1400" dirty="0">
                <a:latin typeface="Times New Roman" panose="02020603050405020304" pitchFamily="18" charset="0"/>
                <a:cs typeface="Times New Roman" panose="02020603050405020304" pitchFamily="18" charset="0"/>
              </a:rPr>
              <a:t> (-0.04) and </a:t>
            </a:r>
            <a:r>
              <a:rPr lang="en-US" sz="1400" b="1" dirty="0">
                <a:latin typeface="Times New Roman" panose="02020603050405020304" pitchFamily="18" charset="0"/>
                <a:cs typeface="Times New Roman" panose="02020603050405020304" pitchFamily="18" charset="0"/>
              </a:rPr>
              <a:t>Energy Consumption (kWh/Gb)</a:t>
            </a:r>
            <a:r>
              <a:rPr lang="en-US" sz="1400" dirty="0">
                <a:latin typeface="Times New Roman" panose="02020603050405020304" pitchFamily="18" charset="0"/>
                <a:cs typeface="Times New Roman" panose="02020603050405020304" pitchFamily="18" charset="0"/>
              </a:rPr>
              <a:t> (-0.02). These results suggest that optimization efforts may lead to slight improvements in energy efficiency and performance, potentially by reducing unnecessary power usage or better adapting to obstacles in the environment, leading to an overall more efficient system.</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This correlation matrix is highly valuable for understanding how different factors influence network performance. It highlights the importance of balancing features like mobility, latency, energy consumption, and beamforming capabilities in optimizing wireless systems. For system designers, the matrix provides clear guidance on which variables might require more attention during optimization efforts. The weak correlations also point to areas where the relationships are not strong enough to warrant a significant focus, helping to prioritize which features should be optimized for better performance. Overall, the matrix offers an essential tool for feature engineering, guiding future research and system optimization efforts in wireless communication networks.</a:t>
            </a:r>
          </a:p>
          <a:p>
            <a:pPr algn="just">
              <a:lnSpc>
                <a:spcPct val="150000"/>
              </a:lnSpc>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12971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99418"/>
            <a:ext cx="7713900" cy="710700"/>
          </a:xfrm>
          <a:prstGeom prst="rect">
            <a:avLst/>
          </a:prstGeom>
          <a:ln>
            <a:noFill/>
          </a:ln>
        </p:spPr>
        <p:txBody>
          <a:bodyPr spcFirstLastPara="1" wrap="square" lIns="91425" tIns="91425" rIns="91425" bIns="91425" anchor="t" anchorCtr="0">
            <a:noAutofit/>
          </a:bodyPr>
          <a:lstStyle/>
          <a:p>
            <a:pPr lvl="0"/>
            <a:r>
              <a:rPr lang="en-IN" sz="1400" b="1" dirty="0">
                <a:latin typeface="Times New Roman" panose="02020603050405020304" pitchFamily="18" charset="0"/>
                <a:ea typeface="Poppins" panose="00000500000000000000"/>
                <a:cs typeface="Times New Roman" panose="02020603050405020304" pitchFamily="18" charset="0"/>
                <a:sym typeface="Poppins" panose="00000500000000000000"/>
              </a:rPr>
              <a:t>Model training 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492429" y="983417"/>
            <a:ext cx="8083703"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 Dataset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Collect relevant data for model training, which could come from uploaded datasets (like CSV files). Ensure the data has the necessary features required by the model (e.g.,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Mobility</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Number of Antennas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SIFT </a:t>
            </a:r>
            <a:r>
              <a:rPr kumimoji="0" lang="en-US" alt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Keypoints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Beamforming Gain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Cleaning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Remove any missing, duplicate, or irrelevant data before feeding it into the model. This may involve checking for missing values, handling them appropriately (e.g., imputation or removal), and removing duplicate entries.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Engineering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Extract and prepare relevant features from the raw dataset. This includes scaling, normalization, encoding categorical variables, and handling any data imbalances (e.g., oversampling the minority class if necessary).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Splitting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Split the dataset into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sets. This can be done manually or using a package like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train_test_split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from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sklearn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typical split might be 70% for training, 15% for validation, and 15% for testing.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37</a:t>
            </a:fld>
            <a:endParaRPr lang="en-US" dirty="0"/>
          </a:p>
        </p:txBody>
      </p:sp>
      <p:sp>
        <p:nvSpPr>
          <p:cNvPr id="4" name="Rectangle 1"/>
          <p:cNvSpPr>
            <a:spLocks noChangeArrowheads="1"/>
          </p:cNvSpPr>
          <p:nvPr/>
        </p:nvSpPr>
        <p:spPr bwMode="auto">
          <a:xfrm>
            <a:off x="534875" y="606283"/>
            <a:ext cx="820600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Selection and Training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Initialization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Depending on the use case, select a machine learning algorithm for training. Common choices include: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ensemble methods)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Trees (DT)</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Feedforward Neural Networks (FNN)</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Convolutional Neural Networks (CNN)</a:t>
            </a: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Vector Machines (SVM)</a:t>
            </a:r>
          </a:p>
          <a:p>
            <a:pPr marL="457200" marR="0" lvl="1"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Training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Initialize the model (e.g.,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RandomForestClassifier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MLPClassifier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etc.), and train it on the preprocessed training data. This includes using the training dataset to adjust the model's parameters using algorithms like Gradient Descent or other optimization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techniques.For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example,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RandomForestClassifier.fit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X_train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y_train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training Random Forest.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Cross-Validation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Optionally, perform cross-validation using techniques like K-fold cross-validation to ensure the model generalizes well to unseen data and avoid overfitting.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26558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38</a:t>
            </a:fld>
            <a:endParaRPr lang="en-US" dirty="0"/>
          </a:p>
        </p:txBody>
      </p:sp>
      <p:sp>
        <p:nvSpPr>
          <p:cNvPr id="4" name="Rectangle 1"/>
          <p:cNvSpPr>
            <a:spLocks noChangeArrowheads="1"/>
          </p:cNvSpPr>
          <p:nvPr/>
        </p:nvSpPr>
        <p:spPr bwMode="auto">
          <a:xfrm rot="10800000" flipV="1">
            <a:off x="440157" y="706069"/>
            <a:ext cx="8143404"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Evaluation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and Metrics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After training the model, evaluate its performance on the validation dataset to ensure it is not overfitting or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underfitting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metrics like accuracy, precision, recall, F1-score, and confusion matrix to assess the model’s performance.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example,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accuracy_score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y_test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y_pred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confusion_matrix</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y_test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y_pred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evaluating performance.</a:t>
            </a:r>
          </a:p>
          <a:p>
            <a:pPr marL="457200" marR="0" lvl="1"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Hyperparameter</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Tuning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Adjust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hyperparameters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number of trees in Random Forest or learning rate in neural networks) to optimize the model's performance using techniques such as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GridSearchCV</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RandomizedSearchCV</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Saving</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Serialization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Once the model is trained and evaluated successfully, save it to disk using serialization methods such as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pickle. This allows the model to be loaded later for predictions without needing to retrain it.</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joblib.dump</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2576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39</a:t>
            </a:fld>
            <a:endParaRPr lang="en-US" dirty="0"/>
          </a:p>
        </p:txBody>
      </p:sp>
      <p:sp>
        <p:nvSpPr>
          <p:cNvPr id="4" name="Rectangle 1"/>
          <p:cNvSpPr>
            <a:spLocks noChangeArrowheads="1"/>
          </p:cNvSpPr>
          <p:nvPr/>
        </p:nvSpPr>
        <p:spPr bwMode="auto">
          <a:xfrm rot="10800000" flipV="1">
            <a:off x="347898" y="426577"/>
            <a:ext cx="814340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Evaluation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p:cNvSpPr>
            <a:spLocks noChangeArrowheads="1"/>
          </p:cNvSpPr>
          <p:nvPr/>
        </p:nvSpPr>
        <p:spPr bwMode="auto">
          <a:xfrm rot="10800000" flipV="1">
            <a:off x="347898" y="1008359"/>
            <a:ext cx="824549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Deployment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Integration in Flask App</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trained model is then integrated into the Flask application. The trained model file (e.g.,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stored in a directory where it can be accessed when making predictions.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Prediction Endpoint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/prediction route is where user input is accepted, passed to the model for prediction, and the result is returned. The model is loaded using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joblib.load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used to predict the user’s input.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model =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joblib.load</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model_name.joblib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then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model.predict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input_data</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making predictions.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Flow for Training Trigger</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Trigger Training (Optional)</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some cases, a specific route or command can be created for triggering model training. For instance, an admin user can request to retrain the model with new data by uploading a fresh dataset. This would start the entire training pipeline again from data collection to model evaluation.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 Create a /train route where an admin can upload a new dataset, triggering the training process.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1700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346703" y="413266"/>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Conclusion</a:t>
            </a:r>
          </a:p>
        </p:txBody>
      </p:sp>
      <p:sp>
        <p:nvSpPr>
          <p:cNvPr id="5" name="Rectangle 3"/>
          <p:cNvSpPr>
            <a:spLocks noChangeArrowheads="1"/>
          </p:cNvSpPr>
          <p:nvPr/>
        </p:nvSpPr>
        <p:spPr bwMode="auto">
          <a:xfrm>
            <a:off x="757391" y="807646"/>
            <a:ext cx="7808540" cy="3998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IN" sz="1400" dirty="0">
                <a:latin typeface="Times New Roman" panose="02020603050405020304" pitchFamily="18" charset="0"/>
                <a:cs typeface="Times New Roman" panose="02020603050405020304" pitchFamily="18" charset="0"/>
              </a:rPr>
              <a:t>This research introduces a privacy-preserving and decentralized machine learning framework for predicting 6G beamforming success using Federated Learning (FL). With the rise of ultra-reliable, low-latency communications in 6G networks—supporting applications like holographic telepresence and autonomous mobility—traditional cloud-based AI models fall short due to scalability bottlenecks, latency, and privacy risks. Our system addresses these limitations by simulating a federated learning environment where edge devices collaboratively train local models and share only encrypted model updates with a central server.</a:t>
            </a:r>
          </a:p>
          <a:p>
            <a:r>
              <a:rPr lang="en-IN" sz="1400" dirty="0">
                <a:latin typeface="Times New Roman" panose="02020603050405020304" pitchFamily="18" charset="0"/>
                <a:cs typeface="Times New Roman" panose="02020603050405020304" pitchFamily="18" charset="0"/>
              </a:rPr>
              <a:t>The system is prototyped using Python’s Flask web framework and integrates secure user authentication, dataset upload, model selection, and real-time prediction feedback. The backend supports six machine learning algorithms—Random Forest, </a:t>
            </a: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FNN, CNN, MLP, and Decision Tree—allowing users to explore diverse </a:t>
            </a:r>
            <a:r>
              <a:rPr lang="en-IN" sz="1400" dirty="0" err="1">
                <a:latin typeface="Times New Roman" panose="02020603050405020304" pitchFamily="18" charset="0"/>
                <a:cs typeface="Times New Roman" panose="02020603050405020304" pitchFamily="18" charset="0"/>
              </a:rPr>
              <a:t>modeling</a:t>
            </a:r>
            <a:r>
              <a:rPr lang="en-IN" sz="1400" dirty="0">
                <a:latin typeface="Times New Roman" panose="02020603050405020304" pitchFamily="18" charset="0"/>
                <a:cs typeface="Times New Roman" panose="02020603050405020304" pitchFamily="18" charset="0"/>
              </a:rPr>
              <a:t> strategies. Accuracy scores for tree-based models reached 100% in simulation, confirming their robustness and suitability for beamforming classification tasks.</a:t>
            </a:r>
          </a:p>
          <a:p>
            <a:r>
              <a:rPr lang="en-IN" sz="1400" dirty="0">
                <a:latin typeface="Times New Roman" panose="02020603050405020304" pitchFamily="18" charset="0"/>
                <a:cs typeface="Times New Roman" panose="02020603050405020304" pitchFamily="18" charset="0"/>
              </a:rPr>
              <a:t>A key innovation lies in simulating FL rounds: instead of aggregating raw data, the system averages model parameters across clients, preserving local data privacy. This approach demonstrates significant communication savings and resistance to centralized vulnerabilities such as data reconstruction attacks. By prioritizing encrypted weight sharing, the system aligns with the principles of edge AI and privacy-preserving computation.</a:t>
            </a:r>
          </a:p>
          <a:p>
            <a:pPr lvl="0" algn="just" eaLnBrk="0" fontAlgn="base" hangingPunct="0">
              <a:lnSpc>
                <a:spcPct val="150000"/>
              </a:lnSpc>
              <a:spcBef>
                <a:spcPct val="0"/>
              </a:spcBef>
              <a:spcAft>
                <a:spcPct val="0"/>
              </a:spcAft>
            </a:pPr>
            <a:endParaRPr kumimoji="0" lang="en-US" altLang="en-US" sz="11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4A082-388B-E105-AC6E-7ABE762FA8B7}"/>
              </a:ext>
            </a:extLst>
          </p:cNvPr>
          <p:cNvSpPr>
            <a:spLocks noGrp="1"/>
          </p:cNvSpPr>
          <p:nvPr>
            <p:ph type="title"/>
          </p:nvPr>
        </p:nvSpPr>
        <p:spPr/>
        <p:txBody>
          <a:bodyPr>
            <a:normAutofit fontScale="90000"/>
          </a:bodyPr>
          <a:lstStyle/>
          <a:p>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br>
              <a:rPr lang="en-IN" sz="2000" dirty="0">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27681067-2279-64BD-5584-08886DA48E25}"/>
              </a:ext>
            </a:extLst>
          </p:cNvPr>
          <p:cNvSpPr>
            <a:spLocks noGrp="1"/>
          </p:cNvSpPr>
          <p:nvPr>
            <p:ph idx="1"/>
          </p:nvPr>
        </p:nvSpPr>
        <p:spPr/>
        <p:txBody>
          <a:bodyPr/>
          <a:lstStyle/>
          <a:p>
            <a:r>
              <a:rPr lang="en-IN" sz="1200" dirty="0">
                <a:latin typeface="Times New Roman" panose="02020603050405020304" pitchFamily="18" charset="0"/>
                <a:cs typeface="Times New Roman" panose="02020603050405020304" pitchFamily="18" charset="0"/>
              </a:rPr>
              <a:t>• McMahan, B., Moore, E., Ramage, D., Hampson, S., &amp; y </a:t>
            </a:r>
            <a:r>
              <a:rPr lang="en-IN" sz="1200" dirty="0" err="1">
                <a:latin typeface="Times New Roman" panose="02020603050405020304" pitchFamily="18" charset="0"/>
                <a:cs typeface="Times New Roman" panose="02020603050405020304" pitchFamily="18" charset="0"/>
              </a:rPr>
              <a:t>Arcas</a:t>
            </a:r>
            <a:r>
              <a:rPr lang="en-IN" sz="1200" dirty="0">
                <a:latin typeface="Times New Roman" panose="02020603050405020304" pitchFamily="18" charset="0"/>
                <a:cs typeface="Times New Roman" panose="02020603050405020304" pitchFamily="18" charset="0"/>
              </a:rPr>
              <a:t>, B. A. (2017). </a:t>
            </a:r>
            <a:r>
              <a:rPr lang="en-IN" sz="1200" i="1" dirty="0">
                <a:latin typeface="Times New Roman" panose="02020603050405020304" pitchFamily="18" charset="0"/>
                <a:cs typeface="Times New Roman" panose="02020603050405020304" pitchFamily="18" charset="0"/>
              </a:rPr>
              <a:t>Communication-Efficient Learning of Deep Networks from Decentralized Data</a:t>
            </a:r>
            <a:r>
              <a:rPr lang="en-IN" sz="1200" dirty="0">
                <a:latin typeface="Times New Roman" panose="02020603050405020304" pitchFamily="18" charset="0"/>
                <a:cs typeface="Times New Roman" panose="02020603050405020304" pitchFamily="18" charset="0"/>
              </a:rPr>
              <a:t>. Proceedings of the 20th International Conference on Artificial Intelligence and Statistics (AISTATS), PMLR. </a:t>
            </a:r>
            <a:r>
              <a:rPr lang="en-IN" sz="1200" u="sng" dirty="0">
                <a:latin typeface="Times New Roman" panose="02020603050405020304" pitchFamily="18" charset="0"/>
                <a:cs typeface="Times New Roman" panose="02020603050405020304" pitchFamily="18" charset="0"/>
                <a:hlinkClick r:id="rId2"/>
              </a:rPr>
              <a:t>https://arxiv.org/abs/1602.05629</a:t>
            </a:r>
            <a:endParaRPr lang="en-IN" sz="1200" dirty="0">
              <a:latin typeface="Times New Roman" panose="02020603050405020304" pitchFamily="18" charset="0"/>
              <a:cs typeface="Times New Roman" panose="02020603050405020304" pitchFamily="18" charset="0"/>
            </a:endParaRPr>
          </a:p>
          <a:p>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Kairouz</a:t>
            </a:r>
            <a:r>
              <a:rPr lang="en-IN" sz="1200" dirty="0">
                <a:latin typeface="Times New Roman" panose="02020603050405020304" pitchFamily="18" charset="0"/>
                <a:cs typeface="Times New Roman" panose="02020603050405020304" pitchFamily="18" charset="0"/>
              </a:rPr>
              <a:t>, P., McMahan, H. B., et al. (2021). </a:t>
            </a:r>
            <a:r>
              <a:rPr lang="en-IN" sz="1200" i="1" dirty="0">
                <a:latin typeface="Times New Roman" panose="02020603050405020304" pitchFamily="18" charset="0"/>
                <a:cs typeface="Times New Roman" panose="02020603050405020304" pitchFamily="18" charset="0"/>
              </a:rPr>
              <a:t>Advances and Open Problems in Federated Learning</a:t>
            </a:r>
            <a:r>
              <a:rPr lang="en-IN" sz="1200" dirty="0">
                <a:latin typeface="Times New Roman" panose="02020603050405020304" pitchFamily="18" charset="0"/>
                <a:cs typeface="Times New Roman" panose="02020603050405020304" pitchFamily="18" charset="0"/>
              </a:rPr>
              <a:t>. Foundations and Trends in Machine Learning, 14(1–2), 1–210. </a:t>
            </a:r>
            <a:r>
              <a:rPr lang="en-IN" sz="1200" u="sng" dirty="0">
                <a:latin typeface="Times New Roman" panose="02020603050405020304" pitchFamily="18" charset="0"/>
                <a:cs typeface="Times New Roman" panose="02020603050405020304" pitchFamily="18" charset="0"/>
                <a:hlinkClick r:id="rId3"/>
              </a:rPr>
              <a:t>https://doi.org/10.1561/2200000083</a:t>
            </a:r>
            <a:endParaRPr lang="en-IN" sz="1200" dirty="0">
              <a:latin typeface="Times New Roman" panose="02020603050405020304" pitchFamily="18" charset="0"/>
              <a:cs typeface="Times New Roman" panose="02020603050405020304" pitchFamily="18" charset="0"/>
            </a:endParaRPr>
          </a:p>
          <a:p>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Zhu, H., Liu, Y., Zhou, Z., &amp; Zhang, Y. (2020). </a:t>
            </a:r>
            <a:r>
              <a:rPr lang="en-IN" sz="1200" i="1" dirty="0">
                <a:latin typeface="Times New Roman" panose="02020603050405020304" pitchFamily="18" charset="0"/>
                <a:cs typeface="Times New Roman" panose="02020603050405020304" pitchFamily="18" charset="0"/>
              </a:rPr>
              <a:t>Toward Efficient and Privacy-Preserving Federated Deep Learning</a:t>
            </a:r>
            <a:r>
              <a:rPr lang="en-IN" sz="1200" dirty="0">
                <a:latin typeface="Times New Roman" panose="02020603050405020304" pitchFamily="18" charset="0"/>
                <a:cs typeface="Times New Roman" panose="02020603050405020304" pitchFamily="18" charset="0"/>
              </a:rPr>
              <a:t>. IEEE Network, 34(5), 16–22. </a:t>
            </a:r>
            <a:r>
              <a:rPr lang="en-IN" sz="1200" u="sng" dirty="0">
                <a:latin typeface="Times New Roman" panose="02020603050405020304" pitchFamily="18" charset="0"/>
                <a:cs typeface="Times New Roman" panose="02020603050405020304" pitchFamily="18" charset="0"/>
                <a:hlinkClick r:id="rId4"/>
              </a:rPr>
              <a:t>https://doi.org/10.1109/MNET.001.1900664</a:t>
            </a:r>
            <a:endParaRPr lang="en-IN" sz="1200" dirty="0">
              <a:latin typeface="Times New Roman" panose="02020603050405020304" pitchFamily="18" charset="0"/>
              <a:cs typeface="Times New Roman" panose="02020603050405020304" pitchFamily="18" charset="0"/>
            </a:endParaRPr>
          </a:p>
          <a:p>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Niknam, S., Sharma, P. K., Anpalagan, A., Choudhury, N., &amp; Pandey, A. (2020). </a:t>
            </a:r>
            <a:r>
              <a:rPr lang="en-IN" sz="1200" i="1" dirty="0">
                <a:latin typeface="Times New Roman" panose="02020603050405020304" pitchFamily="18" charset="0"/>
                <a:cs typeface="Times New Roman" panose="02020603050405020304" pitchFamily="18" charset="0"/>
              </a:rPr>
              <a:t>Federated Learning for Wireless Communications: Motivation, Opportunities, and Challenges</a:t>
            </a:r>
            <a:r>
              <a:rPr lang="en-IN" sz="1200" dirty="0">
                <a:latin typeface="Times New Roman" panose="02020603050405020304" pitchFamily="18" charset="0"/>
                <a:cs typeface="Times New Roman" panose="02020603050405020304" pitchFamily="18" charset="0"/>
              </a:rPr>
              <a:t>. IEEE Communications Magazine, 58(6), 46–51. </a:t>
            </a:r>
            <a:r>
              <a:rPr lang="en-IN" sz="1200" u="sng" dirty="0">
                <a:latin typeface="Times New Roman" panose="02020603050405020304" pitchFamily="18" charset="0"/>
                <a:cs typeface="Times New Roman" panose="02020603050405020304" pitchFamily="18" charset="0"/>
                <a:hlinkClick r:id="rId5"/>
              </a:rPr>
              <a:t>https://doi.org/10.1109/MCOM.001.1900831</a:t>
            </a:r>
            <a:endParaRPr lang="en-IN" sz="12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DFF18A4A-33FE-E1F9-92DD-55A24805BA68}"/>
              </a:ext>
            </a:extLst>
          </p:cNvPr>
          <p:cNvSpPr>
            <a:spLocks noGrp="1"/>
          </p:cNvSpPr>
          <p:nvPr>
            <p:ph type="sldNum" sz="quarter" idx="12"/>
          </p:nvPr>
        </p:nvSpPr>
        <p:spPr/>
        <p:txBody>
          <a:bodyPr/>
          <a:lstStyle/>
          <a:p>
            <a:fld id="{E97799C9-84D9-46D2-A11E-BCF8A720529D}" type="slidenum">
              <a:rPr lang="en-US" smtClean="0"/>
              <a:t>41</a:t>
            </a:fld>
            <a:endParaRPr lang="en-US" dirty="0"/>
          </a:p>
        </p:txBody>
      </p:sp>
    </p:spTree>
    <p:extLst>
      <p:ext uri="{BB962C8B-B14F-4D97-AF65-F5344CB8AC3E}">
        <p14:creationId xmlns:p14="http://schemas.microsoft.com/office/powerpoint/2010/main" val="29739468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42</a:t>
            </a:fld>
            <a:endParaRPr lang="en-US" dirty="0"/>
          </a:p>
        </p:txBody>
      </p:sp>
      <p:sp>
        <p:nvSpPr>
          <p:cNvPr id="4" name="Rectangle 3"/>
          <p:cNvSpPr/>
          <p:nvPr/>
        </p:nvSpPr>
        <p:spPr>
          <a:xfrm>
            <a:off x="662152" y="1645173"/>
            <a:ext cx="7924800" cy="3323987"/>
          </a:xfrm>
          <a:prstGeom prst="rect">
            <a:avLst/>
          </a:prstGeom>
        </p:spPr>
        <p:txBody>
          <a:bodyPr wrap="square">
            <a:spAutoFit/>
          </a:bodyPr>
          <a:lstStyle/>
          <a:p>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Yang, Q., Liu, Y., Chen, T., &amp; Tong, Y. (2019). </a:t>
            </a:r>
            <a:r>
              <a:rPr lang="en-IN" sz="1400" i="1" dirty="0">
                <a:latin typeface="Times New Roman" panose="02020603050405020304" pitchFamily="18" charset="0"/>
                <a:cs typeface="Times New Roman" panose="02020603050405020304" pitchFamily="18" charset="0"/>
              </a:rPr>
              <a:t>Federated Machine Learning: Concept and Applications</a:t>
            </a:r>
            <a:r>
              <a:rPr lang="en-IN" sz="1400" dirty="0">
                <a:latin typeface="Times New Roman" panose="02020603050405020304" pitchFamily="18" charset="0"/>
                <a:cs typeface="Times New Roman" panose="02020603050405020304" pitchFamily="18" charset="0"/>
              </a:rPr>
              <a:t>. ACM Transactions on Intelligent Systems and Technology, 10(2), 12. </a:t>
            </a:r>
            <a:r>
              <a:rPr lang="en-IN" sz="1400" u="sng" dirty="0">
                <a:latin typeface="Times New Roman" panose="02020603050405020304" pitchFamily="18" charset="0"/>
                <a:cs typeface="Times New Roman" panose="02020603050405020304" pitchFamily="18" charset="0"/>
                <a:hlinkClick r:id="rId2"/>
              </a:rPr>
              <a:t>https://doi.org/10.1145/3298981</a:t>
            </a:r>
            <a:endParaRPr lang="en-IN" sz="1400" dirty="0">
              <a:latin typeface="Times New Roman" panose="02020603050405020304" pitchFamily="18" charset="0"/>
              <a:cs typeface="Times New Roman" panose="02020603050405020304" pitchFamily="18" charset="0"/>
            </a:endParaRPr>
          </a:p>
          <a:p>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Hard, A., Rao, K., Mathews, R., Ramaswamy, S., et al. (2018). </a:t>
            </a:r>
            <a:r>
              <a:rPr lang="en-IN" sz="1400" i="1" dirty="0">
                <a:latin typeface="Times New Roman" panose="02020603050405020304" pitchFamily="18" charset="0"/>
                <a:cs typeface="Times New Roman" panose="02020603050405020304" pitchFamily="18" charset="0"/>
              </a:rPr>
              <a:t>Federated Learning for Mobile Keyboard Prediction</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arXiv</a:t>
            </a:r>
            <a:r>
              <a:rPr lang="en-IN" sz="1400" dirty="0">
                <a:latin typeface="Times New Roman" panose="02020603050405020304" pitchFamily="18" charset="0"/>
                <a:cs typeface="Times New Roman" panose="02020603050405020304" pitchFamily="18" charset="0"/>
              </a:rPr>
              <a:t> preprint arXiv:1811.03604. </a:t>
            </a:r>
          </a:p>
          <a:p>
            <a:endParaRPr lang="en-US" altLang="en-US"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 Wang, S., Tuor, T., </a:t>
            </a:r>
            <a:r>
              <a:rPr lang="en-IN" sz="1400" dirty="0" err="1">
                <a:latin typeface="Times New Roman" panose="02020603050405020304" pitchFamily="18" charset="0"/>
                <a:cs typeface="Times New Roman" panose="02020603050405020304" pitchFamily="18" charset="0"/>
              </a:rPr>
              <a:t>Salonidis</a:t>
            </a:r>
            <a:r>
              <a:rPr lang="en-IN" sz="1400" dirty="0">
                <a:latin typeface="Times New Roman" panose="02020603050405020304" pitchFamily="18" charset="0"/>
                <a:cs typeface="Times New Roman" panose="02020603050405020304" pitchFamily="18" charset="0"/>
              </a:rPr>
              <a:t>, T., et al. (2019). </a:t>
            </a:r>
            <a:r>
              <a:rPr lang="en-IN" sz="1400" i="1" dirty="0">
                <a:latin typeface="Times New Roman" panose="02020603050405020304" pitchFamily="18" charset="0"/>
                <a:cs typeface="Times New Roman" panose="02020603050405020304" pitchFamily="18" charset="0"/>
              </a:rPr>
              <a:t>Adaptive Federated Learning in Resource Constrained Edge Computing Systems</a:t>
            </a:r>
            <a:r>
              <a:rPr lang="en-IN" sz="1400" dirty="0">
                <a:latin typeface="Times New Roman" panose="02020603050405020304" pitchFamily="18" charset="0"/>
                <a:cs typeface="Times New Roman" panose="02020603050405020304" pitchFamily="18" charset="0"/>
              </a:rPr>
              <a:t>. IEEE Journal on Selected Areas in Communications, 37(6), 1205–1221. </a:t>
            </a:r>
            <a:r>
              <a:rPr lang="en-IN" sz="1400" u="sng" dirty="0">
                <a:latin typeface="Times New Roman" panose="02020603050405020304" pitchFamily="18" charset="0"/>
                <a:cs typeface="Times New Roman" panose="02020603050405020304" pitchFamily="18" charset="0"/>
                <a:hlinkClick r:id="rId3"/>
              </a:rPr>
              <a:t>https://doi.org/10.1109/JSAC.2019.2904348</a:t>
            </a:r>
            <a:endParaRPr lang="en-IN" sz="1400" dirty="0">
              <a:latin typeface="Times New Roman" panose="02020603050405020304" pitchFamily="18" charset="0"/>
              <a:cs typeface="Times New Roman" panose="02020603050405020304" pitchFamily="18" charset="0"/>
            </a:endParaRPr>
          </a:p>
          <a:p>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Shi, W., Cao, J., Zhang, Q., Li, Y., &amp; Xu, L. (2016). </a:t>
            </a:r>
            <a:r>
              <a:rPr lang="en-IN" sz="1400" i="1" dirty="0">
                <a:latin typeface="Times New Roman" panose="02020603050405020304" pitchFamily="18" charset="0"/>
                <a:cs typeface="Times New Roman" panose="02020603050405020304" pitchFamily="18" charset="0"/>
              </a:rPr>
              <a:t>Edge Computing: Vision and Challenges</a:t>
            </a:r>
            <a:r>
              <a:rPr lang="en-IN" sz="1400" dirty="0">
                <a:latin typeface="Times New Roman" panose="02020603050405020304" pitchFamily="18" charset="0"/>
                <a:cs typeface="Times New Roman" panose="02020603050405020304" pitchFamily="18" charset="0"/>
              </a:rPr>
              <a:t>. IEEE Internet of Things Journal, 3(5), 637–646. </a:t>
            </a:r>
            <a:r>
              <a:rPr lang="en-IN" sz="1400" u="sng" dirty="0">
                <a:latin typeface="Times New Roman" panose="02020603050405020304" pitchFamily="18" charset="0"/>
                <a:cs typeface="Times New Roman" panose="02020603050405020304" pitchFamily="18" charset="0"/>
                <a:hlinkClick r:id="rId4"/>
              </a:rPr>
              <a:t>https://doi.org/10.1109/JIOT.2016.2579198</a:t>
            </a:r>
            <a:endParaRPr lang="en-IN"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p:txBody>
      </p:sp>
      <p:sp>
        <p:nvSpPr>
          <p:cNvPr id="5" name="Rectangle 4"/>
          <p:cNvSpPr/>
          <p:nvPr/>
        </p:nvSpPr>
        <p:spPr>
          <a:xfrm>
            <a:off x="3609220" y="804345"/>
            <a:ext cx="1736373" cy="507831"/>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99518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578"/>
        <p:cNvGrpSpPr/>
        <p:nvPr/>
      </p:nvGrpSpPr>
      <p:grpSpPr>
        <a:xfrm>
          <a:off x="0" y="0"/>
          <a:ext cx="0" cy="0"/>
          <a:chOff x="0" y="0"/>
          <a:chExt cx="0" cy="0"/>
        </a:xfrm>
      </p:grpSpPr>
      <p:sp>
        <p:nvSpPr>
          <p:cNvPr id="2" name="Title 1"/>
          <p:cNvSpPr>
            <a:spLocks noGrp="1"/>
          </p:cNvSpPr>
          <p:nvPr>
            <p:ph type="title"/>
          </p:nvPr>
        </p:nvSpPr>
        <p:spPr>
          <a:xfrm>
            <a:off x="691515" y="1630680"/>
            <a:ext cx="8031480" cy="2084705"/>
          </a:xfrm>
        </p:spPr>
        <p:txBody>
          <a:bodyPr/>
          <a:lstStyle/>
          <a:p>
            <a:pPr algn="ctr"/>
            <a:r>
              <a:rPr lang="en-IN" altLang="en-US" sz="8000" dirty="0">
                <a:solidFill>
                  <a:schemeClr val="tx1"/>
                </a:solidFill>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26B02"/>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Savon</Template>
  <TotalTime>1774</TotalTime>
  <Words>5440</Words>
  <Application>Microsoft Office PowerPoint</Application>
  <PresentationFormat>On-screen Show (16:9)</PresentationFormat>
  <Paragraphs>305</Paragraphs>
  <Slides>43</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Times New Roman</vt:lpstr>
      <vt:lpstr>Century Gothic</vt:lpstr>
      <vt:lpstr>Poppins Black</vt:lpstr>
      <vt:lpstr>Bebas Neue</vt:lpstr>
      <vt:lpstr>Poppins</vt:lpstr>
      <vt:lpstr>Wingdings</vt:lpstr>
      <vt:lpstr>Calibri</vt:lpstr>
      <vt:lpstr>Arial</vt:lpstr>
      <vt:lpstr>Savon</vt:lpstr>
      <vt:lpstr>PowerPoint Presentation</vt:lpstr>
      <vt:lpstr>Contents of the presentation</vt:lpstr>
      <vt:lpstr>Project Description</vt:lpstr>
      <vt:lpstr>Project Description</vt:lpstr>
      <vt:lpstr>Problem Statement</vt:lpstr>
      <vt:lpstr>Objective of the Project</vt:lpstr>
      <vt:lpstr>Scope</vt:lpstr>
      <vt:lpstr>Literature Survey</vt:lpstr>
      <vt:lpstr>PowerPoint Presentation</vt:lpstr>
      <vt:lpstr>PowerPoint Presentation</vt:lpstr>
      <vt:lpstr>PowerPoint Presentation</vt:lpstr>
      <vt:lpstr>PowerPoint Presentation</vt:lpstr>
      <vt:lpstr>Exisiting System</vt:lpstr>
      <vt:lpstr>Disadvantages</vt:lpstr>
      <vt:lpstr>Proposed System</vt:lpstr>
      <vt:lpstr>Advantages</vt:lpstr>
      <vt:lpstr>PROJECT FLOW</vt:lpstr>
      <vt:lpstr>Resource Requirements</vt:lpstr>
      <vt:lpstr>Architecture</vt:lpstr>
      <vt:lpstr>Research Gap analysis</vt:lpstr>
      <vt:lpstr>PowerPoint Presentation</vt:lpstr>
      <vt:lpstr>PowerPoint Presentation</vt:lpstr>
      <vt:lpstr>PowerPoint Presentation</vt:lpstr>
      <vt:lpstr>PowerPoint Presentation</vt:lpstr>
      <vt:lpstr>PowerPoint Presentation</vt:lpstr>
      <vt:lpstr>Implementation</vt:lpstr>
      <vt:lpstr>PowerPoint Presentation</vt:lpstr>
      <vt:lpstr>PowerPoint Presentation</vt:lpstr>
      <vt:lpstr>PowerPoint Presentation</vt:lpstr>
      <vt:lpstr>Exploratory Data Analysis </vt:lpstr>
      <vt:lpstr>Exploratory Data Analysis </vt:lpstr>
      <vt:lpstr>PowerPoint Presentation</vt:lpstr>
      <vt:lpstr>PowerPoint Presentation</vt:lpstr>
      <vt:lpstr>PowerPoint Presentation</vt:lpstr>
      <vt:lpstr>PowerPoint Presentation</vt:lpstr>
      <vt:lpstr>Model training steps</vt:lpstr>
      <vt:lpstr>PowerPoint Presentation</vt:lpstr>
      <vt:lpstr>PowerPoint Presentation</vt:lpstr>
      <vt:lpstr>PowerPoint Presentation</vt:lpstr>
      <vt:lpstr>Conclusion</vt:lpstr>
      <vt:lpstr>REFERENCES </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Ranjani M.</cp:lastModifiedBy>
  <cp:revision>235</cp:revision>
  <dcterms:created xsi:type="dcterms:W3CDTF">2024-08-17T15:37:17Z</dcterms:created>
  <dcterms:modified xsi:type="dcterms:W3CDTF">2025-11-18T05:04:31Z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